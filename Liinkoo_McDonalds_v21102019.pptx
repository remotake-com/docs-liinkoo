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7"/>
  </p:notesMasterIdLst>
  <p:sldIdLst>
    <p:sldId id="4678" r:id="rId2"/>
    <p:sldId id="257" r:id="rId3"/>
    <p:sldId id="4689" r:id="rId4"/>
    <p:sldId id="4677" r:id="rId5"/>
    <p:sldId id="4674" r:id="rId6"/>
    <p:sldId id="4682" r:id="rId7"/>
    <p:sldId id="4405" r:id="rId8"/>
    <p:sldId id="4683" r:id="rId9"/>
    <p:sldId id="4687" r:id="rId10"/>
    <p:sldId id="4688" r:id="rId11"/>
    <p:sldId id="4679" r:id="rId12"/>
    <p:sldId id="4673" r:id="rId13"/>
    <p:sldId id="4676" r:id="rId14"/>
    <p:sldId id="4680" r:id="rId15"/>
    <p:sldId id="468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17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C8EDF8"/>
    <a:srgbClr val="7BA1DF"/>
    <a:srgbClr val="F42B0A"/>
    <a:srgbClr val="F3F3F3"/>
    <a:srgbClr val="EAEAEA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79" autoAdjust="0"/>
  </p:normalViewPr>
  <p:slideViewPr>
    <p:cSldViewPr snapToGrid="0">
      <p:cViewPr>
        <p:scale>
          <a:sx n="70" d="100"/>
          <a:sy n="70" d="100"/>
        </p:scale>
        <p:origin x="-2154" y="-966"/>
      </p:cViewPr>
      <p:guideLst>
        <p:guide orient="horz" pos="2160"/>
        <p:guide pos="17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58E12-D5CD-4FEB-BB9B-740D8741091D}" type="datetimeFigureOut">
              <a:rPr lang="pt-BR" smtClean="0"/>
              <a:t>21/10/2019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D4607-2057-4C8F-8DBA-F327B43898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5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Chat: cliente entra desconectado, plataforma trava para cliente e operador com frequência, mesmo quando o cliente entra desconectado preciso tabular, </a:t>
            </a:r>
          </a:p>
          <a:p>
            <a:r>
              <a:rPr lang="pt-BR" dirty="0"/>
              <a:t>Operadores ficam ociosos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643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268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645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852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20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869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Chat: cliente entra desconectado, plataforma trava para cliente e operador com frequência, mesmo quando o cliente entra desconectado preciso tabular, </a:t>
            </a:r>
          </a:p>
          <a:p>
            <a:r>
              <a:rPr lang="pt-BR" dirty="0"/>
              <a:t>Operadores ficam ociosos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002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65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33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4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gradFill rotWithShape="1">
          <a:gsLst>
            <a:gs pos="10000">
              <a:schemeClr val="tx1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7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0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3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Related image">
            <a:extLst>
              <a:ext uri="{FF2B5EF4-FFF2-40B4-BE49-F238E27FC236}">
                <a16:creationId xmlns:a16="http://schemas.microsoft.com/office/drawing/2014/main" xmlns="" id="{4DFB8C75-2C4F-49A0-ACF3-691F91A870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14">
            <a:extLst>
              <a:ext uri="{FF2B5EF4-FFF2-40B4-BE49-F238E27FC236}">
                <a16:creationId xmlns:a16="http://schemas.microsoft.com/office/drawing/2014/main" xmlns="" id="{345801E5-559B-4855-82E5-8D2D2CCEB42F}"/>
              </a:ext>
            </a:extLst>
          </p:cNvPr>
          <p:cNvSpPr/>
          <p:nvPr userDrawn="1"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xmlns="" id="{C05BADF5-7EE5-4F29-B174-874272399353}"/>
              </a:ext>
            </a:extLst>
          </p:cNvPr>
          <p:cNvCxnSpPr>
            <a:cxnSpLocks/>
          </p:cNvCxnSpPr>
          <p:nvPr userDrawn="1"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" name="Imagem 11">
            <a:extLst>
              <a:ext uri="{FF2B5EF4-FFF2-40B4-BE49-F238E27FC236}">
                <a16:creationId xmlns:a16="http://schemas.microsoft.com/office/drawing/2014/main" xmlns="" id="{38F8C29E-2096-47E6-B50D-C3BEB03D1E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2005" y="6277330"/>
            <a:ext cx="1722806" cy="499262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1" y="6149818"/>
            <a:ext cx="1146050" cy="62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6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nheça o papel do servidor de dados">
            <a:extLst>
              <a:ext uri="{FF2B5EF4-FFF2-40B4-BE49-F238E27FC236}">
                <a16:creationId xmlns:a16="http://schemas.microsoft.com/office/drawing/2014/main" xmlns="" id="{276EB87D-1582-42AB-B72B-DEE229A2AF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2035" y="0"/>
            <a:ext cx="14447520" cy="706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556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no interior, laptop, computador, aberto&#10;&#10;Descrição gerada automaticamente">
            <a:extLst>
              <a:ext uri="{FF2B5EF4-FFF2-40B4-BE49-F238E27FC236}">
                <a16:creationId xmlns:a16="http://schemas.microsoft.com/office/drawing/2014/main" xmlns="" id="{7DA3707D-2C3F-4DF1-B4DC-3B4B96E355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638"/>
            <a:ext cx="12192000" cy="1015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1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xmlns="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17042"/>
            <a:ext cx="12179431" cy="812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DF90E069-83FD-46B5-8AFB-37C4339ABC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1861" y="314216"/>
            <a:ext cx="2623245" cy="760206"/>
          </a:xfrm>
          <a:prstGeom prst="rect">
            <a:avLst/>
          </a:prstGeom>
        </p:spPr>
      </p:pic>
      <p:pic>
        <p:nvPicPr>
          <p:cNvPr id="2056" name="Picture 8" descr="Image result for mcdonalds">
            <a:extLst>
              <a:ext uri="{FF2B5EF4-FFF2-40B4-BE49-F238E27FC236}">
                <a16:creationId xmlns:a16="http://schemas.microsoft.com/office/drawing/2014/main" xmlns="" id="{1464E124-CAFC-4328-9AD5-BF094A6B1B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198" y="5042589"/>
            <a:ext cx="1532573" cy="153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5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xmlns="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58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14">
            <a:extLst>
              <a:ext uri="{FF2B5EF4-FFF2-40B4-BE49-F238E27FC236}">
                <a16:creationId xmlns:a16="http://schemas.microsoft.com/office/drawing/2014/main" xmlns="" id="{779BF8EE-A8BA-4D40-8BA1-DFC96F917F61}"/>
              </a:ext>
            </a:extLst>
          </p:cNvPr>
          <p:cNvSpPr/>
          <p:nvPr userDrawn="1"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xmlns="" id="{10A977F0-328E-4829-BCCC-FBB3D790A468}"/>
              </a:ext>
            </a:extLst>
          </p:cNvPr>
          <p:cNvCxnSpPr>
            <a:cxnSpLocks/>
          </p:cNvCxnSpPr>
          <p:nvPr userDrawn="1"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06576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o de Título"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  <a:alpha val="61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xmlns="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6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6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58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504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49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86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01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565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5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0161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092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31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8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2DB2B22-2D13-DA42-981B-3A66370B0456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207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72" r:id="rId9"/>
    <p:sldLayoutId id="2147483692" r:id="rId10"/>
    <p:sldLayoutId id="214748369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11.png"/><Relationship Id="rId4" Type="http://schemas.microsoft.com/office/2007/relationships/hdphoto" Target="../media/hdphoto2.wdp"/><Relationship Id="rId9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3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2.png"/><Relationship Id="rId17" Type="http://schemas.microsoft.com/office/2007/relationships/hdphoto" Target="../media/hdphoto4.wdp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11" Type="http://schemas.microsoft.com/office/2007/relationships/hdphoto" Target="../media/hdphoto6.wdp"/><Relationship Id="rId5" Type="http://schemas.openxmlformats.org/officeDocument/2006/relationships/image" Target="../media/image28.png"/><Relationship Id="rId15" Type="http://schemas.microsoft.com/office/2007/relationships/hdphoto" Target="../media/hdphoto7.wdp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image" Target="../media/image20.png"/><Relationship Id="rId1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2.emf"/><Relationship Id="rId11" Type="http://schemas.openxmlformats.org/officeDocument/2006/relationships/image" Target="../media/image46.emf"/><Relationship Id="rId5" Type="http://schemas.openxmlformats.org/officeDocument/2006/relationships/image" Target="../media/image41.emf"/><Relationship Id="rId10" Type="http://schemas.openxmlformats.org/officeDocument/2006/relationships/image" Target="../media/image45.emf"/><Relationship Id="rId4" Type="http://schemas.openxmlformats.org/officeDocument/2006/relationships/image" Target="../media/image40.emf"/><Relationship Id="rId9" Type="http://schemas.openxmlformats.org/officeDocument/2006/relationships/image" Target="../media/image4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microsoft.com/office/2007/relationships/hdphoto" Target="../media/hdphoto5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0.png"/><Relationship Id="rId4" Type="http://schemas.openxmlformats.org/officeDocument/2006/relationships/image" Target="../media/image4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ágrima 4">
            <a:extLst>
              <a:ext uri="{FF2B5EF4-FFF2-40B4-BE49-F238E27FC236}">
                <a16:creationId xmlns:a16="http://schemas.microsoft.com/office/drawing/2014/main" xmlns="" id="{AB8CB157-9271-4C09-9D51-821C244DFE28}"/>
              </a:ext>
            </a:extLst>
          </p:cNvPr>
          <p:cNvSpPr/>
          <p:nvPr/>
        </p:nvSpPr>
        <p:spPr>
          <a:xfrm>
            <a:off x="6096001" y="-1267692"/>
            <a:ext cx="6908506" cy="6799812"/>
          </a:xfrm>
          <a:prstGeom prst="teardrop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pt-BR">
              <a:solidFill>
                <a:prstClr val="white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F37BB114-B973-4869-852C-24FBF98B02D4}"/>
              </a:ext>
            </a:extLst>
          </p:cNvPr>
          <p:cNvSpPr txBox="1"/>
          <p:nvPr/>
        </p:nvSpPr>
        <p:spPr>
          <a:xfrm>
            <a:off x="6183630" y="658697"/>
            <a:ext cx="601546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2400" b="1" dirty="0">
                <a:latin typeface="Trebuchet MS" panose="020B0603020202020204" pitchFamily="34" charset="0"/>
              </a:rPr>
              <a:t>Restaurantes Inteligentes </a:t>
            </a:r>
            <a:r>
              <a:rPr lang="pt-BR" sz="2400" b="1" dirty="0" err="1">
                <a:latin typeface="Trebuchet MS" panose="020B0603020202020204" pitchFamily="34" charset="0"/>
              </a:rPr>
              <a:t>McDonalds</a:t>
            </a:r>
            <a:endParaRPr lang="pt-BR" sz="2400" b="1" dirty="0">
              <a:latin typeface="Trebuchet MS" panose="020B0603020202020204" pitchFamily="34" charset="0"/>
            </a:endParaRPr>
          </a:p>
          <a:p>
            <a:pPr algn="ctr" defTabSz="457200"/>
            <a:endParaRPr lang="pt-BR" sz="1000" b="1" dirty="0">
              <a:latin typeface="Trebuchet MS" panose="020B0603020202020204" pitchFamily="34" charset="0"/>
            </a:endParaRPr>
          </a:p>
          <a:p>
            <a:pPr algn="ctr" defTabSz="457200"/>
            <a:r>
              <a:rPr lang="pt-BR" sz="2400" b="1" dirty="0">
                <a:latin typeface="Trebuchet MS" panose="020B0603020202020204" pitchFamily="34" charset="0"/>
              </a:rPr>
              <a:t>Gerenciamento Automático de Processos</a:t>
            </a:r>
          </a:p>
          <a:p>
            <a:pPr algn="ctr" defTabSz="457200"/>
            <a:endParaRPr lang="pt-BR" sz="2400" b="1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1BD0E3ED-3C47-4614-9E3F-761989D8B16D}"/>
              </a:ext>
            </a:extLst>
          </p:cNvPr>
          <p:cNvCxnSpPr/>
          <p:nvPr/>
        </p:nvCxnSpPr>
        <p:spPr>
          <a:xfrm>
            <a:off x="7308117" y="1924488"/>
            <a:ext cx="489097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8C712A0D-570A-4AF6-BB35-EEAA19CF799F}"/>
              </a:ext>
            </a:extLst>
          </p:cNvPr>
          <p:cNvSpPr txBox="1"/>
          <p:nvPr/>
        </p:nvSpPr>
        <p:spPr>
          <a:xfrm>
            <a:off x="6726245" y="2101339"/>
            <a:ext cx="5853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Outubro/2019</a:t>
            </a:r>
            <a:endParaRPr lang="pt-BR" sz="2000" b="1" i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3C3104D8-7C50-41C3-BBEE-9E8FEF1374B9}"/>
              </a:ext>
            </a:extLst>
          </p:cNvPr>
          <p:cNvSpPr txBox="1"/>
          <p:nvPr/>
        </p:nvSpPr>
        <p:spPr>
          <a:xfrm>
            <a:off x="6726245" y="3639221"/>
            <a:ext cx="5853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Eduardo Pexe</a:t>
            </a:r>
          </a:p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Javier Garcia</a:t>
            </a:r>
          </a:p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Willians Longo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EFF8C02B-7015-42EA-B611-FD9C0775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2" y="56176"/>
            <a:ext cx="3620797" cy="104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4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tx1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9C8B3718-7911-466E-90D7-6093ED8E38A1}"/>
              </a:ext>
            </a:extLst>
          </p:cNvPr>
          <p:cNvSpPr/>
          <p:nvPr/>
        </p:nvSpPr>
        <p:spPr>
          <a:xfrm>
            <a:off x="5527343" y="0"/>
            <a:ext cx="6664657" cy="6860516"/>
          </a:xfrm>
          <a:prstGeom prst="rect">
            <a:avLst/>
          </a:prstGeom>
          <a:solidFill>
            <a:srgbClr val="110C0C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8" name="Grupo 71">
            <a:extLst>
              <a:ext uri="{FF2B5EF4-FFF2-40B4-BE49-F238E27FC236}">
                <a16:creationId xmlns:a16="http://schemas.microsoft.com/office/drawing/2014/main" xmlns="" id="{5D8F9812-1DD3-47A4-82F7-3DB9A203AFA5}"/>
              </a:ext>
            </a:extLst>
          </p:cNvPr>
          <p:cNvGrpSpPr/>
          <p:nvPr/>
        </p:nvGrpSpPr>
        <p:grpSpPr>
          <a:xfrm>
            <a:off x="5559078" y="51723"/>
            <a:ext cx="6553319" cy="651423"/>
            <a:chOff x="3818964" y="2871625"/>
            <a:chExt cx="5042138" cy="651423"/>
          </a:xfrm>
          <a:solidFill>
            <a:srgbClr val="66FFFF"/>
          </a:solidFill>
        </p:grpSpPr>
        <p:sp>
          <p:nvSpPr>
            <p:cNvPr id="9" name="Arredondar Retângulo no Mesmo Canto Lateral 72">
              <a:extLst>
                <a:ext uri="{FF2B5EF4-FFF2-40B4-BE49-F238E27FC236}">
                  <a16:creationId xmlns:a16="http://schemas.microsoft.com/office/drawing/2014/main" xmlns="" id="{D87219C4-BF62-4D57-988D-EFD2A42BE47D}"/>
                </a:ext>
              </a:extLst>
            </p:cNvPr>
            <p:cNvSpPr/>
            <p:nvPr/>
          </p:nvSpPr>
          <p:spPr>
            <a:xfrm flipV="1">
              <a:off x="3818964" y="2871625"/>
              <a:ext cx="5042138" cy="651423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EA46D906-F092-48F7-9628-1687AA957A7D}"/>
                </a:ext>
              </a:extLst>
            </p:cNvPr>
            <p:cNvSpPr/>
            <p:nvPr/>
          </p:nvSpPr>
          <p:spPr>
            <a:xfrm>
              <a:off x="3843263" y="2899009"/>
              <a:ext cx="4925858" cy="58477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1218864">
                <a:defRPr/>
              </a:pPr>
              <a:r>
                <a:rPr lang="pt-BR" sz="3200" b="1" dirty="0" smtClean="0">
                  <a:solidFill>
                    <a:schemeClr val="accent1">
                      <a:lumMod val="50000"/>
                    </a:schemeClr>
                  </a:solidFill>
                  <a:latin typeface="Calibri" panose="020F0502020204030204"/>
                  <a:ea typeface="Open Sans Extrabold" pitchFamily="34" charset="0"/>
                  <a:cs typeface="Open Sans Extrabold" pitchFamily="34" charset="0"/>
                </a:rPr>
                <a:t>Missão Valores e Visão </a:t>
              </a:r>
              <a:endParaRPr lang="pt-BR" sz="32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Open Sans Extrabold" pitchFamily="34" charset="0"/>
                <a:cs typeface="Open Sans Extrabold" pitchFamily="34" charset="0"/>
              </a:endParaRP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E3FEAFD3-A99E-4B2A-B22F-8AB170B0B9BB}"/>
              </a:ext>
            </a:extLst>
          </p:cNvPr>
          <p:cNvSpPr txBox="1"/>
          <p:nvPr/>
        </p:nvSpPr>
        <p:spPr>
          <a:xfrm>
            <a:off x="5704764" y="1345839"/>
            <a:ext cx="6276847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Missão: - Proporcionar aos Clientes e Parceiros através de Processos Tecnológicos ganho de eficiência financeira.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 smtClean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Valores: - Compromisso,  Transparência, Empatia e Versatilidade.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 smtClean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Visão: - Ser Referencia em Soluções Inovadoras.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>
              <a:latin typeface="+mj-lt"/>
            </a:endParaRPr>
          </a:p>
        </p:txBody>
      </p:sp>
      <p:pic>
        <p:nvPicPr>
          <p:cNvPr id="15" name="Imagem 11">
            <a:extLst>
              <a:ext uri="{FF2B5EF4-FFF2-40B4-BE49-F238E27FC236}">
                <a16:creationId xmlns:a16="http://schemas.microsoft.com/office/drawing/2014/main" xmlns="" id="{44267804-7BCD-460C-B26B-04BA94C62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591" y="6279631"/>
            <a:ext cx="1722806" cy="49926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xmlns="" id="{EFF8C02B-7015-42EA-B611-FD9C0775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6" y="15232"/>
            <a:ext cx="3620797" cy="104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9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tx1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9C8B3718-7911-466E-90D7-6093ED8E38A1}"/>
              </a:ext>
            </a:extLst>
          </p:cNvPr>
          <p:cNvSpPr/>
          <p:nvPr/>
        </p:nvSpPr>
        <p:spPr>
          <a:xfrm>
            <a:off x="7620000" y="0"/>
            <a:ext cx="4572000" cy="6860516"/>
          </a:xfrm>
          <a:prstGeom prst="rect">
            <a:avLst/>
          </a:prstGeom>
          <a:solidFill>
            <a:srgbClr val="110C0C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8" name="Grupo 71">
            <a:extLst>
              <a:ext uri="{FF2B5EF4-FFF2-40B4-BE49-F238E27FC236}">
                <a16:creationId xmlns:a16="http://schemas.microsoft.com/office/drawing/2014/main" xmlns="" id="{5D8F9812-1DD3-47A4-82F7-3DB9A203AFA5}"/>
              </a:ext>
            </a:extLst>
          </p:cNvPr>
          <p:cNvGrpSpPr/>
          <p:nvPr/>
        </p:nvGrpSpPr>
        <p:grpSpPr>
          <a:xfrm>
            <a:off x="7699602" y="51723"/>
            <a:ext cx="4412795" cy="651423"/>
            <a:chOff x="3818964" y="2871625"/>
            <a:chExt cx="5042138" cy="651423"/>
          </a:xfrm>
          <a:solidFill>
            <a:srgbClr val="66FFFF"/>
          </a:solidFill>
        </p:grpSpPr>
        <p:sp>
          <p:nvSpPr>
            <p:cNvPr id="9" name="Arredondar Retângulo no Mesmo Canto Lateral 72">
              <a:extLst>
                <a:ext uri="{FF2B5EF4-FFF2-40B4-BE49-F238E27FC236}">
                  <a16:creationId xmlns:a16="http://schemas.microsoft.com/office/drawing/2014/main" xmlns="" id="{D87219C4-BF62-4D57-988D-EFD2A42BE47D}"/>
                </a:ext>
              </a:extLst>
            </p:cNvPr>
            <p:cNvSpPr/>
            <p:nvPr/>
          </p:nvSpPr>
          <p:spPr>
            <a:xfrm flipV="1">
              <a:off x="3818964" y="2871625"/>
              <a:ext cx="5042138" cy="651423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EA46D906-F092-48F7-9628-1687AA957A7D}"/>
                </a:ext>
              </a:extLst>
            </p:cNvPr>
            <p:cNvSpPr/>
            <p:nvPr/>
          </p:nvSpPr>
          <p:spPr>
            <a:xfrm>
              <a:off x="3843263" y="2899009"/>
              <a:ext cx="4925858" cy="58477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1218864">
                <a:defRPr/>
              </a:pPr>
              <a:r>
                <a:rPr lang="pt-BR" sz="3200" b="1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/>
                  <a:ea typeface="Open Sans Extrabold" pitchFamily="34" charset="0"/>
                  <a:cs typeface="Open Sans Extrabold" pitchFamily="34" charset="0"/>
                </a:rPr>
                <a:t>#AGENDA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E3FEAFD3-A99E-4B2A-B22F-8AB170B0B9BB}"/>
              </a:ext>
            </a:extLst>
          </p:cNvPr>
          <p:cNvSpPr txBox="1"/>
          <p:nvPr/>
        </p:nvSpPr>
        <p:spPr>
          <a:xfrm>
            <a:off x="7620000" y="1345839"/>
            <a:ext cx="449239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/>
              <a:t>Metodologia Processos </a:t>
            </a:r>
            <a:r>
              <a:rPr lang="pt-BR" b="1" i="1" dirty="0" err="1" smtClean="0"/>
              <a:t>Liinkoo</a:t>
            </a:r>
            <a:endParaRPr lang="pt-BR" b="1" i="1" dirty="0" smtClean="0"/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/>
              <a:t>Gerenciamento </a:t>
            </a:r>
            <a:r>
              <a:rPr lang="pt-BR" b="1" i="1" dirty="0"/>
              <a:t>Processos 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/>
              <a:t>Melhoria Contínua e Benefícios RPA</a:t>
            </a:r>
            <a:endParaRPr lang="pt-BR" b="1" i="1" dirty="0"/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Objetivo – Restaurante Inteligente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Perguntas </a:t>
            </a:r>
            <a:r>
              <a:rPr lang="pt-BR" b="1" i="1" dirty="0">
                <a:latin typeface="+mj-lt"/>
              </a:rPr>
              <a:t>e Respostas</a:t>
            </a:r>
          </a:p>
        </p:txBody>
      </p:sp>
      <p:pic>
        <p:nvPicPr>
          <p:cNvPr id="14" name="Picture 8" descr="Image result for mcdonalds">
            <a:extLst>
              <a:ext uri="{FF2B5EF4-FFF2-40B4-BE49-F238E27FC236}">
                <a16:creationId xmlns:a16="http://schemas.microsoft.com/office/drawing/2014/main" xmlns="" id="{8B18C505-2908-474B-A9F7-6FEEFDCE5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56" y="462328"/>
            <a:ext cx="1532573" cy="153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1">
            <a:extLst>
              <a:ext uri="{FF2B5EF4-FFF2-40B4-BE49-F238E27FC236}">
                <a16:creationId xmlns:a16="http://schemas.microsoft.com/office/drawing/2014/main" xmlns="" id="{44267804-7BCD-460C-B26B-04BA94C62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591" y="6279631"/>
            <a:ext cx="1722806" cy="4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7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1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14">
            <a:extLst>
              <a:ext uri="{FF2B5EF4-FFF2-40B4-BE49-F238E27FC236}">
                <a16:creationId xmlns:a16="http://schemas.microsoft.com/office/drawing/2014/main" xmlns="" id="{09440D31-60E2-4D29-8D68-2460A63CC719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xmlns="" id="{7E0E572F-A3E8-41E1-9018-9526F763BE93}"/>
              </a:ext>
            </a:extLst>
          </p:cNvPr>
          <p:cNvSpPr txBox="1"/>
          <p:nvPr/>
        </p:nvSpPr>
        <p:spPr>
          <a:xfrm>
            <a:off x="511317" y="167641"/>
            <a:ext cx="84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METODOLOGIA LIINKOO PARA GERENCIAMENTO DE PROCESSOS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xmlns="" id="{5C7F76D1-E103-49BB-8075-B19EBC8D9418}"/>
              </a:ext>
            </a:extLst>
          </p:cNvPr>
          <p:cNvGrpSpPr/>
          <p:nvPr/>
        </p:nvGrpSpPr>
        <p:grpSpPr>
          <a:xfrm>
            <a:off x="6096000" y="1246607"/>
            <a:ext cx="5098226" cy="4358811"/>
            <a:chOff x="287469" y="990959"/>
            <a:chExt cx="5098226" cy="4358811"/>
          </a:xfrm>
        </p:grpSpPr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xmlns="" id="{AA267E6B-BF0E-499D-A478-FEEB7D9D8A97}"/>
                </a:ext>
              </a:extLst>
            </p:cNvPr>
            <p:cNvGrpSpPr/>
            <p:nvPr/>
          </p:nvGrpSpPr>
          <p:grpSpPr>
            <a:xfrm>
              <a:off x="287469" y="2992386"/>
              <a:ext cx="703423" cy="703118"/>
              <a:chOff x="2334709" y="2355477"/>
              <a:chExt cx="785539" cy="787144"/>
            </a:xfrm>
          </p:grpSpPr>
          <p:grpSp>
            <p:nvGrpSpPr>
              <p:cNvPr id="117" name="Grupo 29">
                <a:extLst>
                  <a:ext uri="{FF2B5EF4-FFF2-40B4-BE49-F238E27FC236}">
                    <a16:creationId xmlns:a16="http://schemas.microsoft.com/office/drawing/2014/main" xmlns="" id="{F7BCAE61-5921-4F4D-B071-18BC1054ADFC}"/>
                  </a:ext>
                </a:extLst>
              </p:cNvPr>
              <p:cNvGrpSpPr/>
              <p:nvPr/>
            </p:nvGrpSpPr>
            <p:grpSpPr>
              <a:xfrm>
                <a:off x="233470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7" name="Retângulo de cantos arredondados 30">
                  <a:extLst>
                    <a:ext uri="{FF2B5EF4-FFF2-40B4-BE49-F238E27FC236}">
                      <a16:creationId xmlns:a16="http://schemas.microsoft.com/office/drawing/2014/main" xmlns="" id="{AB1E342F-078B-413E-8998-91742C13D5E2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tângulo de cantos arredondados 31">
                  <a:extLst>
                    <a:ext uri="{FF2B5EF4-FFF2-40B4-BE49-F238E27FC236}">
                      <a16:creationId xmlns:a16="http://schemas.microsoft.com/office/drawing/2014/main" xmlns="" id="{921A8153-52CA-4E37-8370-95602065D567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" name="Grupo 32">
                <a:extLst>
                  <a:ext uri="{FF2B5EF4-FFF2-40B4-BE49-F238E27FC236}">
                    <a16:creationId xmlns:a16="http://schemas.microsoft.com/office/drawing/2014/main" xmlns="" id="{01405F85-C59D-4B4A-9344-20EBAC0B1DD4}"/>
                  </a:ext>
                </a:extLst>
              </p:cNvPr>
              <p:cNvGrpSpPr/>
              <p:nvPr/>
            </p:nvGrpSpPr>
            <p:grpSpPr>
              <a:xfrm>
                <a:off x="299989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5" name="Retângulo de cantos arredondados 33">
                  <a:extLst>
                    <a:ext uri="{FF2B5EF4-FFF2-40B4-BE49-F238E27FC236}">
                      <a16:creationId xmlns:a16="http://schemas.microsoft.com/office/drawing/2014/main" xmlns="" id="{86B271A1-C295-49C3-8F85-24BDDD21A8B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tângulo de cantos arredondados 34">
                  <a:extLst>
                    <a:ext uri="{FF2B5EF4-FFF2-40B4-BE49-F238E27FC236}">
                      <a16:creationId xmlns:a16="http://schemas.microsoft.com/office/drawing/2014/main" xmlns="" id="{4C827D0B-BA8E-46E6-96B7-B46CCBAE96ED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9" name="Grupo 35">
                <a:extLst>
                  <a:ext uri="{FF2B5EF4-FFF2-40B4-BE49-F238E27FC236}">
                    <a16:creationId xmlns:a16="http://schemas.microsoft.com/office/drawing/2014/main" xmlns="" id="{A7BC3A2B-63B1-4642-AE13-B4624D703A2C}"/>
                  </a:ext>
                </a:extLst>
              </p:cNvPr>
              <p:cNvGrpSpPr/>
              <p:nvPr/>
            </p:nvGrpSpPr>
            <p:grpSpPr>
              <a:xfrm>
                <a:off x="2999898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3" name="Retângulo de cantos arredondados 36">
                  <a:extLst>
                    <a:ext uri="{FF2B5EF4-FFF2-40B4-BE49-F238E27FC236}">
                      <a16:creationId xmlns:a16="http://schemas.microsoft.com/office/drawing/2014/main" xmlns="" id="{FE339262-5F4A-4D9C-9A38-5E424BB3278D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tângulo de cantos arredondados 37">
                  <a:extLst>
                    <a:ext uri="{FF2B5EF4-FFF2-40B4-BE49-F238E27FC236}">
                      <a16:creationId xmlns:a16="http://schemas.microsoft.com/office/drawing/2014/main" xmlns="" id="{BA8095AD-3F44-475B-8E67-5CFCDE8C316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" name="Grupo 38">
                <a:extLst>
                  <a:ext uri="{FF2B5EF4-FFF2-40B4-BE49-F238E27FC236}">
                    <a16:creationId xmlns:a16="http://schemas.microsoft.com/office/drawing/2014/main" xmlns="" id="{D7D16056-815D-4C46-8120-4CE387C2A748}"/>
                  </a:ext>
                </a:extLst>
              </p:cNvPr>
              <p:cNvGrpSpPr/>
              <p:nvPr/>
            </p:nvGrpSpPr>
            <p:grpSpPr>
              <a:xfrm>
                <a:off x="2334709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1" name="Retângulo de cantos arredondados 39">
                  <a:extLst>
                    <a:ext uri="{FF2B5EF4-FFF2-40B4-BE49-F238E27FC236}">
                      <a16:creationId xmlns:a16="http://schemas.microsoft.com/office/drawing/2014/main" xmlns="" id="{59E90561-D46D-4707-B38E-B280ED240CD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tângulo de cantos arredondados 40">
                  <a:extLst>
                    <a:ext uri="{FF2B5EF4-FFF2-40B4-BE49-F238E27FC236}">
                      <a16:creationId xmlns:a16="http://schemas.microsoft.com/office/drawing/2014/main" xmlns="" id="{153360C0-77C0-4F8F-8F97-C1B74FE1EB12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xmlns="" id="{F2A969AA-37D0-4E3B-BFBD-E4E8C741C665}"/>
                </a:ext>
              </a:extLst>
            </p:cNvPr>
            <p:cNvGrpSpPr/>
            <p:nvPr/>
          </p:nvGrpSpPr>
          <p:grpSpPr>
            <a:xfrm>
              <a:off x="1234850" y="990959"/>
              <a:ext cx="4150845" cy="4358811"/>
              <a:chOff x="1503828" y="831732"/>
              <a:chExt cx="4562352" cy="4358811"/>
            </a:xfrm>
          </p:grpSpPr>
          <p:grpSp>
            <p:nvGrpSpPr>
              <p:cNvPr id="99" name="Agrupar 98">
                <a:extLst>
                  <a:ext uri="{FF2B5EF4-FFF2-40B4-BE49-F238E27FC236}">
                    <a16:creationId xmlns:a16="http://schemas.microsoft.com/office/drawing/2014/main" xmlns="" id="{70AA311F-2071-4D1F-9E85-B0619FED1936}"/>
                  </a:ext>
                </a:extLst>
              </p:cNvPr>
              <p:cNvGrpSpPr/>
              <p:nvPr/>
            </p:nvGrpSpPr>
            <p:grpSpPr>
              <a:xfrm>
                <a:off x="1566397" y="831732"/>
                <a:ext cx="4448674" cy="2001427"/>
                <a:chOff x="577847" y="790017"/>
                <a:chExt cx="4448674" cy="2001427"/>
              </a:xfrm>
            </p:grpSpPr>
            <p:sp>
              <p:nvSpPr>
                <p:cNvPr id="109" name="Retângulo 108">
                  <a:extLst>
                    <a:ext uri="{FF2B5EF4-FFF2-40B4-BE49-F238E27FC236}">
                      <a16:creationId xmlns:a16="http://schemas.microsoft.com/office/drawing/2014/main" xmlns="" id="{25EC27F8-B6D5-45E7-832B-6D04C18AD186}"/>
                    </a:ext>
                  </a:extLst>
                </p:cNvPr>
                <p:cNvSpPr/>
                <p:nvPr/>
              </p:nvSpPr>
              <p:spPr>
                <a:xfrm>
                  <a:off x="577847" y="790017"/>
                  <a:ext cx="4448674" cy="573517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Inteligência e Estratégia </a:t>
                  </a:r>
                  <a:r>
                    <a:rPr lang="pt-BR" b="1" kern="0" dirty="0">
                      <a:latin typeface="Calibri"/>
                    </a:rPr>
                    <a:t>no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Gerenciamento de Processos</a:t>
                  </a:r>
                </a:p>
              </p:txBody>
            </p:sp>
            <p:sp>
              <p:nvSpPr>
                <p:cNvPr id="110" name="Retângulo 109">
                  <a:extLst>
                    <a:ext uri="{FF2B5EF4-FFF2-40B4-BE49-F238E27FC236}">
                      <a16:creationId xmlns:a16="http://schemas.microsoft.com/office/drawing/2014/main" xmlns="" id="{FE0879B1-9DD0-498B-B8C9-FE37ED57049D}"/>
                    </a:ext>
                  </a:extLst>
                </p:cNvPr>
                <p:cNvSpPr/>
                <p:nvPr/>
              </p:nvSpPr>
              <p:spPr>
                <a:xfrm>
                  <a:off x="577847" y="2384052"/>
                  <a:ext cx="4448673" cy="407392"/>
                </a:xfrm>
                <a:prstGeom prst="rect">
                  <a:avLst/>
                </a:prstGeom>
                <a:solidFill>
                  <a:srgbClr val="626466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1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MELHORIA CONTÍNUA</a:t>
                  </a:r>
                </a:p>
              </p:txBody>
            </p:sp>
            <p:sp>
              <p:nvSpPr>
                <p:cNvPr id="111" name="Retângulo 110">
                  <a:extLst>
                    <a:ext uri="{FF2B5EF4-FFF2-40B4-BE49-F238E27FC236}">
                      <a16:creationId xmlns:a16="http://schemas.microsoft.com/office/drawing/2014/main" xmlns="" id="{17737434-9B86-4257-ACD9-48B8F3C8A863}"/>
                    </a:ext>
                  </a:extLst>
                </p:cNvPr>
                <p:cNvSpPr/>
                <p:nvPr/>
              </p:nvSpPr>
              <p:spPr>
                <a:xfrm>
                  <a:off x="2100654" y="1721610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AVALIAR</a:t>
                  </a:r>
                </a:p>
              </p:txBody>
            </p:sp>
            <p:sp>
              <p:nvSpPr>
                <p:cNvPr id="112" name="Retângulo 111">
                  <a:extLst>
                    <a:ext uri="{FF2B5EF4-FFF2-40B4-BE49-F238E27FC236}">
                      <a16:creationId xmlns:a16="http://schemas.microsoft.com/office/drawing/2014/main" xmlns="" id="{8811B1AE-1EE0-47E3-8620-418AF25CD5FA}"/>
                    </a:ext>
                  </a:extLst>
                </p:cNvPr>
                <p:cNvSpPr/>
                <p:nvPr/>
              </p:nvSpPr>
              <p:spPr>
                <a:xfrm>
                  <a:off x="2100655" y="1399778"/>
                  <a:ext cx="1649581" cy="281864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CAPTAR DADOS</a:t>
                  </a:r>
                </a:p>
              </p:txBody>
            </p:sp>
            <p:sp>
              <p:nvSpPr>
                <p:cNvPr id="113" name="Retângulo 112">
                  <a:extLst>
                    <a:ext uri="{FF2B5EF4-FFF2-40B4-BE49-F238E27FC236}">
                      <a16:creationId xmlns:a16="http://schemas.microsoft.com/office/drawing/2014/main" xmlns="" id="{D43789C3-E8AE-4EA0-9BDF-A4FF32D99068}"/>
                    </a:ext>
                  </a:extLst>
                </p:cNvPr>
                <p:cNvSpPr/>
                <p:nvPr/>
              </p:nvSpPr>
              <p:spPr>
                <a:xfrm>
                  <a:off x="577847" y="1404066"/>
                  <a:ext cx="1482308" cy="931125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MONITORAR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pt-BR" sz="1300" kern="0" dirty="0">
                      <a:latin typeface="Calibri"/>
                    </a:rPr>
                    <a:t>SENSORES</a:t>
                  </a:r>
                  <a:endParaRPr kumimoji="0" lang="pt-BR" sz="13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Retângulo 113">
                  <a:extLst>
                    <a:ext uri="{FF2B5EF4-FFF2-40B4-BE49-F238E27FC236}">
                      <a16:creationId xmlns:a16="http://schemas.microsoft.com/office/drawing/2014/main" xmlns="" id="{68862D8D-FD4D-46EC-9064-106863B3E285}"/>
                    </a:ext>
                  </a:extLst>
                </p:cNvPr>
                <p:cNvSpPr/>
                <p:nvPr/>
              </p:nvSpPr>
              <p:spPr>
                <a:xfrm>
                  <a:off x="3790734" y="1397713"/>
                  <a:ext cx="1235786" cy="937478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GESTÃO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pt-BR" sz="1300" kern="0" dirty="0">
                      <a:latin typeface="Calibri"/>
                    </a:rPr>
                    <a:t>AMBIENTE</a:t>
                  </a:r>
                  <a:endParaRPr kumimoji="0" lang="pt-BR" sz="13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Retângulo 114">
                  <a:extLst>
                    <a:ext uri="{FF2B5EF4-FFF2-40B4-BE49-F238E27FC236}">
                      <a16:creationId xmlns:a16="http://schemas.microsoft.com/office/drawing/2014/main" xmlns="" id="{7CA4120F-53F7-468D-AFF6-445C91694A2D}"/>
                    </a:ext>
                  </a:extLst>
                </p:cNvPr>
                <p:cNvSpPr/>
                <p:nvPr/>
              </p:nvSpPr>
              <p:spPr>
                <a:xfrm>
                  <a:off x="2100654" y="2043658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INSIGHTS</a:t>
                  </a:r>
                </a:p>
              </p:txBody>
            </p:sp>
          </p:grpSp>
          <p:grpSp>
            <p:nvGrpSpPr>
              <p:cNvPr id="100" name="Agrupar 99">
                <a:extLst>
                  <a:ext uri="{FF2B5EF4-FFF2-40B4-BE49-F238E27FC236}">
                    <a16:creationId xmlns:a16="http://schemas.microsoft.com/office/drawing/2014/main" xmlns="" id="{17A0913C-A377-4D44-8A9F-3D2316D0952A}"/>
                  </a:ext>
                </a:extLst>
              </p:cNvPr>
              <p:cNvGrpSpPr/>
              <p:nvPr/>
            </p:nvGrpSpPr>
            <p:grpSpPr>
              <a:xfrm>
                <a:off x="1503828" y="3052118"/>
                <a:ext cx="4562352" cy="2138425"/>
                <a:chOff x="1503828" y="3052118"/>
                <a:chExt cx="4562352" cy="2138425"/>
              </a:xfrm>
            </p:grpSpPr>
            <p:sp>
              <p:nvSpPr>
                <p:cNvPr id="101" name="Retângulo de cantos arredondados 3">
                  <a:extLst>
                    <a:ext uri="{FF2B5EF4-FFF2-40B4-BE49-F238E27FC236}">
                      <a16:creationId xmlns:a16="http://schemas.microsoft.com/office/drawing/2014/main" xmlns="" id="{7512B497-5976-4A70-A135-3090462E2E54}"/>
                    </a:ext>
                  </a:extLst>
                </p:cNvPr>
                <p:cNvSpPr/>
                <p:nvPr/>
              </p:nvSpPr>
              <p:spPr>
                <a:xfrm>
                  <a:off x="1795259" y="3052118"/>
                  <a:ext cx="3965824" cy="396918"/>
                </a:xfrm>
                <a:prstGeom prst="roundRect">
                  <a:avLst/>
                </a:prstGeom>
                <a:solidFill>
                  <a:srgbClr val="F4750C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Plataforma - Liinkoo</a:t>
                  </a:r>
                </a:p>
              </p:txBody>
            </p:sp>
            <p:grpSp>
              <p:nvGrpSpPr>
                <p:cNvPr id="102" name="Agrupar 101">
                  <a:extLst>
                    <a:ext uri="{FF2B5EF4-FFF2-40B4-BE49-F238E27FC236}">
                      <a16:creationId xmlns:a16="http://schemas.microsoft.com/office/drawing/2014/main" xmlns="" id="{BC580E13-D61A-481F-A6DF-C020813AC590}"/>
                    </a:ext>
                  </a:extLst>
                </p:cNvPr>
                <p:cNvGrpSpPr/>
                <p:nvPr/>
              </p:nvGrpSpPr>
              <p:grpSpPr>
                <a:xfrm>
                  <a:off x="1503828" y="3579489"/>
                  <a:ext cx="4562352" cy="1611054"/>
                  <a:chOff x="1356756" y="3719946"/>
                  <a:chExt cx="4562352" cy="1611054"/>
                </a:xfrm>
              </p:grpSpPr>
              <p:sp>
                <p:nvSpPr>
                  <p:cNvPr id="103" name="Retângulo 102">
                    <a:extLst>
                      <a:ext uri="{FF2B5EF4-FFF2-40B4-BE49-F238E27FC236}">
                        <a16:creationId xmlns:a16="http://schemas.microsoft.com/office/drawing/2014/main" xmlns="" id="{BA8B5797-AA91-401B-941C-0AE2BA6E0692}"/>
                      </a:ext>
                    </a:extLst>
                  </p:cNvPr>
                  <p:cNvSpPr/>
                  <p:nvPr/>
                </p:nvSpPr>
                <p:spPr>
                  <a:xfrm>
                    <a:off x="1356756" y="4959821"/>
                    <a:ext cx="4544042" cy="371179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INTEGRAÇÃO</a:t>
                    </a:r>
                  </a:p>
                </p:txBody>
              </p:sp>
              <p:sp>
                <p:nvSpPr>
                  <p:cNvPr id="104" name="Retângulo 103">
                    <a:extLst>
                      <a:ext uri="{FF2B5EF4-FFF2-40B4-BE49-F238E27FC236}">
                        <a16:creationId xmlns:a16="http://schemas.microsoft.com/office/drawing/2014/main" xmlns="" id="{4DF1F67F-5A5B-4671-96A4-3A94B663AE19}"/>
                      </a:ext>
                    </a:extLst>
                  </p:cNvPr>
                  <p:cNvSpPr/>
                  <p:nvPr/>
                </p:nvSpPr>
                <p:spPr>
                  <a:xfrm>
                    <a:off x="1356756" y="4598802"/>
                    <a:ext cx="4544041" cy="305827"/>
                  </a:xfrm>
                  <a:prstGeom prst="rect">
                    <a:avLst/>
                  </a:prstGeom>
                  <a:solidFill>
                    <a:srgbClr val="626466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AUTOMAÇÃO</a:t>
                    </a:r>
                  </a:p>
                </p:txBody>
              </p:sp>
              <p:sp>
                <p:nvSpPr>
                  <p:cNvPr id="105" name="Triângulo isósceles 104">
                    <a:extLst>
                      <a:ext uri="{FF2B5EF4-FFF2-40B4-BE49-F238E27FC236}">
                        <a16:creationId xmlns:a16="http://schemas.microsoft.com/office/drawing/2014/main" xmlns="" id="{FC711EFF-90D5-4091-BB92-BB7B13A9C20F}"/>
                      </a:ext>
                    </a:extLst>
                  </p:cNvPr>
                  <p:cNvSpPr/>
                  <p:nvPr/>
                </p:nvSpPr>
                <p:spPr>
                  <a:xfrm>
                    <a:off x="1411527" y="3719946"/>
                    <a:ext cx="4507581" cy="419435"/>
                  </a:xfrm>
                  <a:prstGeom prst="triangle">
                    <a:avLst/>
                  </a:prstGeom>
                  <a:solidFill>
                    <a:schemeClr val="bg1">
                      <a:alpha val="65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518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Retângulo 105">
                    <a:extLst>
                      <a:ext uri="{FF2B5EF4-FFF2-40B4-BE49-F238E27FC236}">
                        <a16:creationId xmlns:a16="http://schemas.microsoft.com/office/drawing/2014/main" xmlns="" id="{09AF472D-A615-4658-9BC5-C045820EFBFE}"/>
                      </a:ext>
                    </a:extLst>
                  </p:cNvPr>
                  <p:cNvSpPr/>
                  <p:nvPr/>
                </p:nvSpPr>
                <p:spPr>
                  <a:xfrm>
                    <a:off x="1359354" y="4228519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CRM</a:t>
                    </a:r>
                  </a:p>
                </p:txBody>
              </p:sp>
              <p:sp>
                <p:nvSpPr>
                  <p:cNvPr id="107" name="Retângulo 106">
                    <a:extLst>
                      <a:ext uri="{FF2B5EF4-FFF2-40B4-BE49-F238E27FC236}">
                        <a16:creationId xmlns:a16="http://schemas.microsoft.com/office/drawing/2014/main" xmlns="" id="{F185FEEE-4C38-4768-9CC2-7D0BE2FF6B49}"/>
                      </a:ext>
                    </a:extLst>
                  </p:cNvPr>
                  <p:cNvSpPr/>
                  <p:nvPr/>
                </p:nvSpPr>
                <p:spPr>
                  <a:xfrm>
                    <a:off x="2930487" y="4230055"/>
                    <a:ext cx="1405637" cy="305826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FRONT END</a:t>
                    </a:r>
                  </a:p>
                </p:txBody>
              </p:sp>
              <p:sp>
                <p:nvSpPr>
                  <p:cNvPr id="108" name="Retângulo 107">
                    <a:extLst>
                      <a:ext uri="{FF2B5EF4-FFF2-40B4-BE49-F238E27FC236}">
                        <a16:creationId xmlns:a16="http://schemas.microsoft.com/office/drawing/2014/main" xmlns="" id="{3F54AE1F-2F08-406C-A5C4-5FEAB3A0846F}"/>
                      </a:ext>
                    </a:extLst>
                  </p:cNvPr>
                  <p:cNvSpPr/>
                  <p:nvPr/>
                </p:nvSpPr>
                <p:spPr>
                  <a:xfrm>
                    <a:off x="4373732" y="4227372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DASHBOARDS</a:t>
                    </a:r>
                  </a:p>
                </p:txBody>
              </p:sp>
            </p:grpSp>
          </p:grpSp>
        </p:grpSp>
      </p:grpSp>
      <p:cxnSp>
        <p:nvCxnSpPr>
          <p:cNvPr id="133" name="Conector reto 132">
            <a:extLst>
              <a:ext uri="{FF2B5EF4-FFF2-40B4-BE49-F238E27FC236}">
                <a16:creationId xmlns:a16="http://schemas.microsoft.com/office/drawing/2014/main" xmlns="" id="{242793D5-92D2-481E-B145-9C26CD1E989D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Seta para a direita 9">
            <a:extLst>
              <a:ext uri="{FF2B5EF4-FFF2-40B4-BE49-F238E27FC236}">
                <a16:creationId xmlns:a16="http://schemas.microsoft.com/office/drawing/2014/main" xmlns="" id="{9E07A014-494E-4005-A637-6EC7DE20A93E}"/>
              </a:ext>
            </a:extLst>
          </p:cNvPr>
          <p:cNvSpPr/>
          <p:nvPr/>
        </p:nvSpPr>
        <p:spPr>
          <a:xfrm>
            <a:off x="6180603" y="3289774"/>
            <a:ext cx="630263" cy="5741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6" y="671177"/>
            <a:ext cx="5811330" cy="581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3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xmlns="" id="{B030F568-FA64-4385-8036-158743849ED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GERENCIAMENTO DE PROCESSOS AUTOMÁTICOS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D18CCBF8-EB9D-4C53-9E28-E883C3BE555A}"/>
              </a:ext>
            </a:extLst>
          </p:cNvPr>
          <p:cNvGrpSpPr/>
          <p:nvPr/>
        </p:nvGrpSpPr>
        <p:grpSpPr>
          <a:xfrm>
            <a:off x="627134" y="731826"/>
            <a:ext cx="10693248" cy="5393631"/>
            <a:chOff x="116146" y="1152046"/>
            <a:chExt cx="10693248" cy="5393631"/>
          </a:xfrm>
        </p:grpSpPr>
        <p:sp>
          <p:nvSpPr>
            <p:cNvPr id="127" name="Retângulo 126">
              <a:extLst>
                <a:ext uri="{FF2B5EF4-FFF2-40B4-BE49-F238E27FC236}">
                  <a16:creationId xmlns:a16="http://schemas.microsoft.com/office/drawing/2014/main" xmlns="" id="{B2E01B37-8FBC-419A-AE57-92090F7875B2}"/>
                </a:ext>
              </a:extLst>
            </p:cNvPr>
            <p:cNvSpPr/>
            <p:nvPr/>
          </p:nvSpPr>
          <p:spPr>
            <a:xfrm>
              <a:off x="8208012" y="1480084"/>
              <a:ext cx="2601382" cy="5052801"/>
            </a:xfrm>
            <a:prstGeom prst="rect">
              <a:avLst/>
            </a:prstGeom>
            <a:solidFill>
              <a:schemeClr val="accent5">
                <a:lumMod val="75000"/>
                <a:alpha val="46000"/>
              </a:schemeClr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pt-BR">
                <a:solidFill>
                  <a:schemeClr val="tx1"/>
                </a:solidFill>
                <a:latin typeface="Calibri" panose="020F0502020204030204"/>
              </a:endParaRPr>
            </a:p>
          </p:txBody>
        </p:sp>
        <p:sp>
          <p:nvSpPr>
            <p:cNvPr id="125" name="Retângulo 124">
              <a:extLst>
                <a:ext uri="{FF2B5EF4-FFF2-40B4-BE49-F238E27FC236}">
                  <a16:creationId xmlns:a16="http://schemas.microsoft.com/office/drawing/2014/main" xmlns="" id="{1F6AC20E-DEC2-4189-B775-11295C924F7A}"/>
                </a:ext>
              </a:extLst>
            </p:cNvPr>
            <p:cNvSpPr/>
            <p:nvPr/>
          </p:nvSpPr>
          <p:spPr>
            <a:xfrm>
              <a:off x="5485677" y="1480084"/>
              <a:ext cx="2601382" cy="5052801"/>
            </a:xfrm>
            <a:prstGeom prst="rect">
              <a:avLst/>
            </a:prstGeom>
            <a:solidFill>
              <a:schemeClr val="accent5">
                <a:lumMod val="75000"/>
                <a:alpha val="46000"/>
              </a:schemeClr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pt-BR">
                <a:solidFill>
                  <a:schemeClr val="tx1"/>
                </a:solidFill>
                <a:latin typeface="Calibri" panose="020F0502020204030204"/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xmlns="" id="{800E9BF9-C767-43DA-AF55-FC1E08B24DB1}"/>
                </a:ext>
              </a:extLst>
            </p:cNvPr>
            <p:cNvGrpSpPr/>
            <p:nvPr/>
          </p:nvGrpSpPr>
          <p:grpSpPr>
            <a:xfrm>
              <a:off x="116146" y="1152046"/>
              <a:ext cx="10457222" cy="5393631"/>
              <a:chOff x="116146" y="1152046"/>
              <a:chExt cx="10457222" cy="5393631"/>
            </a:xfrm>
          </p:grpSpPr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xmlns="" id="{E131178F-1A2D-4633-B558-808658EF02D9}"/>
                  </a:ext>
                </a:extLst>
              </p:cNvPr>
              <p:cNvSpPr/>
              <p:nvPr/>
            </p:nvSpPr>
            <p:spPr>
              <a:xfrm>
                <a:off x="116146" y="1492876"/>
                <a:ext cx="5234443" cy="5052801"/>
              </a:xfrm>
              <a:prstGeom prst="rect">
                <a:avLst/>
              </a:prstGeom>
              <a:solidFill>
                <a:schemeClr val="accent5">
                  <a:lumMod val="75000"/>
                  <a:alpha val="46000"/>
                </a:schemeClr>
              </a:solidFill>
              <a:ln w="63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tângulo Arredondado 71">
                <a:extLst>
                  <a:ext uri="{FF2B5EF4-FFF2-40B4-BE49-F238E27FC236}">
                    <a16:creationId xmlns:a16="http://schemas.microsoft.com/office/drawing/2014/main" xmlns="" id="{31990FF7-A638-4E25-9CED-AADC9B48F2F6}"/>
                  </a:ext>
                </a:extLst>
              </p:cNvPr>
              <p:cNvSpPr/>
              <p:nvPr/>
            </p:nvSpPr>
            <p:spPr>
              <a:xfrm>
                <a:off x="3186923" y="2956988"/>
                <a:ext cx="1406737" cy="1250193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xmlns="" id="{075DCC48-5318-4878-AC62-5FD7C1D79B8E}"/>
                  </a:ext>
                </a:extLst>
              </p:cNvPr>
              <p:cNvSpPr/>
              <p:nvPr/>
            </p:nvSpPr>
            <p:spPr>
              <a:xfrm>
                <a:off x="3186923" y="3087231"/>
                <a:ext cx="144809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defRPr/>
                </a:pPr>
                <a:r>
                  <a:rPr lang="pt-BR" sz="1200" kern="0" dirty="0">
                    <a:latin typeface="Calibri"/>
                  </a:rPr>
                  <a:t>Determina propensão de comportamento com geração de análises preditivas</a:t>
                </a:r>
              </a:p>
            </p:txBody>
          </p:sp>
          <p:pic>
            <p:nvPicPr>
              <p:cNvPr id="75" name="Imagem 74">
                <a:extLst>
                  <a:ext uri="{FF2B5EF4-FFF2-40B4-BE49-F238E27FC236}">
                    <a16:creationId xmlns:a16="http://schemas.microsoft.com/office/drawing/2014/main" xmlns="" id="{8A701177-D7B7-4AFB-BEAE-C9F0A9A4D4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harpenSoften amount="50000"/>
                        </a14:imgEffect>
                        <a14:imgEffect>
                          <a14:colorTemperature colorTemp="11200"/>
                        </a14:imgEffect>
                        <a14:imgEffect>
                          <a14:saturation sat="300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flipH="1">
                <a:off x="500409" y="3607545"/>
                <a:ext cx="669359" cy="481449"/>
              </a:xfrm>
              <a:prstGeom prst="rect">
                <a:avLst/>
              </a:prstGeom>
              <a:solidFill>
                <a:schemeClr val="accent5">
                  <a:lumMod val="50000"/>
                  <a:alpha val="42000"/>
                </a:schemeClr>
              </a:solidFill>
              <a:ln>
                <a:noFill/>
              </a:ln>
            </p:spPr>
          </p:pic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xmlns="" id="{C5B1CAA1-6810-45B2-8F65-186E266EFD77}"/>
                  </a:ext>
                </a:extLst>
              </p:cNvPr>
              <p:cNvSpPr/>
              <p:nvPr/>
            </p:nvSpPr>
            <p:spPr>
              <a:xfrm>
                <a:off x="1226256" y="2665079"/>
                <a:ext cx="173705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Controle e Monitoração do Ambiente</a:t>
                </a:r>
                <a:endParaRPr lang="pt-BR" sz="1400" dirty="0"/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xmlns="" id="{C49FDD18-BC39-4D58-9CB9-1EDE1778F30B}"/>
                  </a:ext>
                </a:extLst>
              </p:cNvPr>
              <p:cNvSpPr/>
              <p:nvPr/>
            </p:nvSpPr>
            <p:spPr>
              <a:xfrm>
                <a:off x="1212631" y="3586659"/>
                <a:ext cx="13170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Coleta de Informações</a:t>
                </a:r>
                <a:endParaRPr lang="pt-BR" sz="1400" dirty="0"/>
              </a:p>
            </p:txBody>
          </p:sp>
          <p:sp>
            <p:nvSpPr>
              <p:cNvPr id="81" name="Retângulo 80">
                <a:extLst>
                  <a:ext uri="{FF2B5EF4-FFF2-40B4-BE49-F238E27FC236}">
                    <a16:creationId xmlns:a16="http://schemas.microsoft.com/office/drawing/2014/main" xmlns="" id="{5FD84F6E-726B-4B1E-B252-ABDABFBB4E07}"/>
                  </a:ext>
                </a:extLst>
              </p:cNvPr>
              <p:cNvSpPr/>
              <p:nvPr/>
            </p:nvSpPr>
            <p:spPr>
              <a:xfrm>
                <a:off x="2559875" y="312156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xmlns="" id="{F58A8C19-A289-46B9-98DF-093895578321}"/>
                  </a:ext>
                </a:extLst>
              </p:cNvPr>
              <p:cNvSpPr txBox="1"/>
              <p:nvPr/>
            </p:nvSpPr>
            <p:spPr>
              <a:xfrm>
                <a:off x="301076" y="4960539"/>
                <a:ext cx="29754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Captura + Incremento Dados  =</a:t>
                </a:r>
              </a:p>
            </p:txBody>
          </p:sp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xmlns="" id="{CCBDE988-7F3C-4590-A1C9-22C8ADBA337C}"/>
                  </a:ext>
                </a:extLst>
              </p:cNvPr>
              <p:cNvSpPr txBox="1"/>
              <p:nvPr/>
            </p:nvSpPr>
            <p:spPr>
              <a:xfrm>
                <a:off x="3151241" y="4960539"/>
                <a:ext cx="17908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Melhoria Contínua</a:t>
                </a:r>
              </a:p>
            </p:txBody>
          </p:sp>
          <p:sp>
            <p:nvSpPr>
              <p:cNvPr id="87" name="Retângulo: Cantos Arredondados 86">
                <a:extLst>
                  <a:ext uri="{FF2B5EF4-FFF2-40B4-BE49-F238E27FC236}">
                    <a16:creationId xmlns:a16="http://schemas.microsoft.com/office/drawing/2014/main" xmlns="" id="{D983C797-EF4A-42A4-8E4E-61E96CC2E1CE}"/>
                  </a:ext>
                </a:extLst>
              </p:cNvPr>
              <p:cNvSpPr/>
              <p:nvPr/>
            </p:nvSpPr>
            <p:spPr>
              <a:xfrm>
                <a:off x="288764" y="2376106"/>
                <a:ext cx="4656356" cy="3416213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xmlns="" id="{9BF8F112-1739-4F01-A9A3-8B180BE8F12E}"/>
                  </a:ext>
                </a:extLst>
              </p:cNvPr>
              <p:cNvGrpSpPr/>
              <p:nvPr/>
            </p:nvGrpSpPr>
            <p:grpSpPr>
              <a:xfrm>
                <a:off x="2397248" y="1152046"/>
                <a:ext cx="638741" cy="638741"/>
                <a:chOff x="2451170" y="1973879"/>
                <a:chExt cx="638741" cy="638741"/>
              </a:xfrm>
            </p:grpSpPr>
            <p:sp>
              <p:nvSpPr>
                <p:cNvPr id="92" name="Elipse 91">
                  <a:extLst>
                    <a:ext uri="{FF2B5EF4-FFF2-40B4-BE49-F238E27FC236}">
                      <a16:creationId xmlns:a16="http://schemas.microsoft.com/office/drawing/2014/main" xmlns="" id="{C70BB892-68E3-42A5-9613-7176F70690EB}"/>
                    </a:ext>
                  </a:extLst>
                </p:cNvPr>
                <p:cNvSpPr/>
                <p:nvPr/>
              </p:nvSpPr>
              <p:spPr>
                <a:xfrm>
                  <a:off x="2451170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 7">
                  <a:extLst>
                    <a:ext uri="{FF2B5EF4-FFF2-40B4-BE49-F238E27FC236}">
                      <a16:creationId xmlns:a16="http://schemas.microsoft.com/office/drawing/2014/main" xmlns="" id="{B7B3E008-2849-4824-A30E-A7CC918DE9B2}"/>
                    </a:ext>
                  </a:extLst>
                </p:cNvPr>
                <p:cNvSpPr/>
                <p:nvPr/>
              </p:nvSpPr>
              <p:spPr>
                <a:xfrm>
                  <a:off x="2523842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97" name="Rectangle 7">
                <a:extLst>
                  <a:ext uri="{FF2B5EF4-FFF2-40B4-BE49-F238E27FC236}">
                    <a16:creationId xmlns:a16="http://schemas.microsoft.com/office/drawing/2014/main" xmlns="" id="{897CCD70-8F48-4AFC-9E88-A4A1DBE9048E}"/>
                  </a:ext>
                </a:extLst>
              </p:cNvPr>
              <p:cNvSpPr/>
              <p:nvPr/>
            </p:nvSpPr>
            <p:spPr>
              <a:xfrm>
                <a:off x="1946726" y="1929689"/>
                <a:ext cx="1539782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INTELIGÊNCIA</a:t>
                </a:r>
              </a:p>
            </p:txBody>
          </p:sp>
          <p:grpSp>
            <p:nvGrpSpPr>
              <p:cNvPr id="98" name="Agrupar 97">
                <a:extLst>
                  <a:ext uri="{FF2B5EF4-FFF2-40B4-BE49-F238E27FC236}">
                    <a16:creationId xmlns:a16="http://schemas.microsoft.com/office/drawing/2014/main" xmlns="" id="{23486B6C-2062-4B44-BDA5-93303399F3EA}"/>
                  </a:ext>
                </a:extLst>
              </p:cNvPr>
              <p:cNvGrpSpPr/>
              <p:nvPr/>
            </p:nvGrpSpPr>
            <p:grpSpPr>
              <a:xfrm>
                <a:off x="6476415" y="1159646"/>
                <a:ext cx="638741" cy="638741"/>
                <a:chOff x="2346284" y="1973879"/>
                <a:chExt cx="638741" cy="638741"/>
              </a:xfrm>
            </p:grpSpPr>
            <p:sp>
              <p:nvSpPr>
                <p:cNvPr id="99" name="Elipse 98">
                  <a:extLst>
                    <a:ext uri="{FF2B5EF4-FFF2-40B4-BE49-F238E27FC236}">
                      <a16:creationId xmlns:a16="http://schemas.microsoft.com/office/drawing/2014/main" xmlns="" id="{D860D3AF-4C02-4693-879C-C44459121E39}"/>
                    </a:ext>
                  </a:extLst>
                </p:cNvPr>
                <p:cNvSpPr/>
                <p:nvPr/>
              </p:nvSpPr>
              <p:spPr>
                <a:xfrm>
                  <a:off x="2346284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 7">
                  <a:extLst>
                    <a:ext uri="{FF2B5EF4-FFF2-40B4-BE49-F238E27FC236}">
                      <a16:creationId xmlns:a16="http://schemas.microsoft.com/office/drawing/2014/main" xmlns="" id="{4D5389C5-4FAD-42BC-9BDC-E7C15C33C33C}"/>
                    </a:ext>
                  </a:extLst>
                </p:cNvPr>
                <p:cNvSpPr/>
                <p:nvPr/>
              </p:nvSpPr>
              <p:spPr>
                <a:xfrm>
                  <a:off x="2418956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03" name="Rectangle 7">
                <a:extLst>
                  <a:ext uri="{FF2B5EF4-FFF2-40B4-BE49-F238E27FC236}">
                    <a16:creationId xmlns:a16="http://schemas.microsoft.com/office/drawing/2014/main" xmlns="" id="{AF197F66-DE6E-4727-8B65-D1A0413EECD3}"/>
                  </a:ext>
                </a:extLst>
              </p:cNvPr>
              <p:cNvSpPr/>
              <p:nvPr/>
            </p:nvSpPr>
            <p:spPr>
              <a:xfrm>
                <a:off x="6014012" y="1937787"/>
                <a:ext cx="1380796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pt-BR" sz="1400" b="1" dirty="0"/>
                  <a:t>AUTOMAÇÃO</a:t>
                </a:r>
              </a:p>
            </p:txBody>
          </p:sp>
          <p:grpSp>
            <p:nvGrpSpPr>
              <p:cNvPr id="104" name="Agrupar 103">
                <a:extLst>
                  <a:ext uri="{FF2B5EF4-FFF2-40B4-BE49-F238E27FC236}">
                    <a16:creationId xmlns:a16="http://schemas.microsoft.com/office/drawing/2014/main" xmlns="" id="{FCC051C1-F6DA-4ED7-A56B-7B603D22DDF0}"/>
                  </a:ext>
                </a:extLst>
              </p:cNvPr>
              <p:cNvGrpSpPr/>
              <p:nvPr/>
            </p:nvGrpSpPr>
            <p:grpSpPr>
              <a:xfrm>
                <a:off x="9137588" y="1159646"/>
                <a:ext cx="638741" cy="638741"/>
                <a:chOff x="1672588" y="1973879"/>
                <a:chExt cx="638741" cy="638741"/>
              </a:xfrm>
            </p:grpSpPr>
            <p:sp>
              <p:nvSpPr>
                <p:cNvPr id="105" name="Elipse 104">
                  <a:extLst>
                    <a:ext uri="{FF2B5EF4-FFF2-40B4-BE49-F238E27FC236}">
                      <a16:creationId xmlns:a16="http://schemas.microsoft.com/office/drawing/2014/main" xmlns="" id="{F6E93097-E48F-4FF0-8E8B-5BAEDD4E56FB}"/>
                    </a:ext>
                  </a:extLst>
                </p:cNvPr>
                <p:cNvSpPr/>
                <p:nvPr/>
              </p:nvSpPr>
              <p:spPr>
                <a:xfrm>
                  <a:off x="1672588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7">
                  <a:extLst>
                    <a:ext uri="{FF2B5EF4-FFF2-40B4-BE49-F238E27FC236}">
                      <a16:creationId xmlns:a16="http://schemas.microsoft.com/office/drawing/2014/main" xmlns="" id="{8032E170-CA61-4F0E-8536-CD28051085D7}"/>
                    </a:ext>
                  </a:extLst>
                </p:cNvPr>
                <p:cNvSpPr/>
                <p:nvPr/>
              </p:nvSpPr>
              <p:spPr>
                <a:xfrm>
                  <a:off x="1745260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110" name="Rectangle 7">
                <a:extLst>
                  <a:ext uri="{FF2B5EF4-FFF2-40B4-BE49-F238E27FC236}">
                    <a16:creationId xmlns:a16="http://schemas.microsoft.com/office/drawing/2014/main" xmlns="" id="{67D11D5C-D09D-4071-81E6-68BE2EF4EF12}"/>
                  </a:ext>
                </a:extLst>
              </p:cNvPr>
              <p:cNvSpPr/>
              <p:nvPr/>
            </p:nvSpPr>
            <p:spPr>
              <a:xfrm>
                <a:off x="8533487" y="1991397"/>
                <a:ext cx="2039881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AVALIAÇÃO E MELHORIA</a:t>
                </a:r>
              </a:p>
            </p:txBody>
          </p:sp>
          <p:sp>
            <p:nvSpPr>
              <p:cNvPr id="112" name="Retângulo 111">
                <a:extLst>
                  <a:ext uri="{FF2B5EF4-FFF2-40B4-BE49-F238E27FC236}">
                    <a16:creationId xmlns:a16="http://schemas.microsoft.com/office/drawing/2014/main" xmlns="" id="{D4ECE2E0-09FB-4E3E-B39A-C6490FB397C6}"/>
                  </a:ext>
                </a:extLst>
              </p:cNvPr>
              <p:cNvSpPr/>
              <p:nvPr/>
            </p:nvSpPr>
            <p:spPr>
              <a:xfrm>
                <a:off x="3200116" y="2433768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Data Science</a:t>
                </a:r>
                <a:endParaRPr lang="pt-BR" sz="1400" dirty="0"/>
              </a:p>
            </p:txBody>
          </p:sp>
          <p:sp>
            <p:nvSpPr>
              <p:cNvPr id="113" name="Retângulo 112">
                <a:extLst>
                  <a:ext uri="{FF2B5EF4-FFF2-40B4-BE49-F238E27FC236}">
                    <a16:creationId xmlns:a16="http://schemas.microsoft.com/office/drawing/2014/main" xmlns="" id="{06F2979A-1648-45C2-AB75-9787D9ED4B28}"/>
                  </a:ext>
                </a:extLst>
              </p:cNvPr>
              <p:cNvSpPr/>
              <p:nvPr/>
            </p:nvSpPr>
            <p:spPr>
              <a:xfrm>
                <a:off x="5867583" y="4048254"/>
                <a:ext cx="1648985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RPA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MACHINE LEARNING</a:t>
                </a: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:a16="http://schemas.microsoft.com/office/drawing/2014/main" xmlns="" id="{F5D72791-2541-42FC-9F39-AAE33F2E8743}"/>
                  </a:ext>
                </a:extLst>
              </p:cNvPr>
              <p:cNvSpPr/>
              <p:nvPr/>
            </p:nvSpPr>
            <p:spPr>
              <a:xfrm>
                <a:off x="6442604" y="4272362"/>
                <a:ext cx="523947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xmlns="" id="{12DE341C-D53A-4CF4-A9A5-CA7CA1BA5319}"/>
                  </a:ext>
                </a:extLst>
              </p:cNvPr>
              <p:cNvSpPr/>
              <p:nvPr/>
            </p:nvSpPr>
            <p:spPr>
              <a:xfrm>
                <a:off x="8677648" y="4045542"/>
                <a:ext cx="175155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DADOS ANALÍTICOS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MELHORIA DE PROCESSOS</a:t>
                </a:r>
              </a:p>
            </p:txBody>
          </p:sp>
          <p:sp>
            <p:nvSpPr>
              <p:cNvPr id="118" name="Retângulo 117">
                <a:extLst>
                  <a:ext uri="{FF2B5EF4-FFF2-40B4-BE49-F238E27FC236}">
                    <a16:creationId xmlns:a16="http://schemas.microsoft.com/office/drawing/2014/main" xmlns="" id="{280A5BC3-B435-4DAE-B986-45FC1AA5EA16}"/>
                  </a:ext>
                </a:extLst>
              </p:cNvPr>
              <p:cNvSpPr/>
              <p:nvPr/>
            </p:nvSpPr>
            <p:spPr>
              <a:xfrm>
                <a:off x="9274337" y="433731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</p:grpSp>
        <p:sp>
          <p:nvSpPr>
            <p:cNvPr id="121" name="Triângulo isósceles 120">
              <a:extLst>
                <a:ext uri="{FF2B5EF4-FFF2-40B4-BE49-F238E27FC236}">
                  <a16:creationId xmlns:a16="http://schemas.microsoft.com/office/drawing/2014/main" xmlns="" id="{62AEE765-5567-4760-B165-09A8095AE4E0}"/>
                </a:ext>
              </a:extLst>
            </p:cNvPr>
            <p:cNvSpPr/>
            <p:nvPr/>
          </p:nvSpPr>
          <p:spPr>
            <a:xfrm rot="10800000">
              <a:off x="811312" y="4496917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chemeClr val="tx1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22" name="Triângulo isósceles 121">
              <a:extLst>
                <a:ext uri="{FF2B5EF4-FFF2-40B4-BE49-F238E27FC236}">
                  <a16:creationId xmlns:a16="http://schemas.microsoft.com/office/drawing/2014/main" xmlns="" id="{241C66A1-DE4D-4970-8E8E-37B889B930E4}"/>
                </a:ext>
              </a:extLst>
            </p:cNvPr>
            <p:cNvSpPr/>
            <p:nvPr/>
          </p:nvSpPr>
          <p:spPr>
            <a:xfrm rot="10800000">
              <a:off x="3354318" y="4476406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chemeClr val="tx1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xmlns="" id="{C2D80600-B3C6-4F24-9FE2-583618A5B3F9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xmlns="" id="{8DB233DE-933B-4122-AB97-7379855281AD}"/>
              </a:ext>
            </a:extLst>
          </p:cNvPr>
          <p:cNvSpPr/>
          <p:nvPr/>
        </p:nvSpPr>
        <p:spPr>
          <a:xfrm>
            <a:off x="931305" y="2310302"/>
            <a:ext cx="807773" cy="7761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45" name="Imagen 217" descr="iconos-01-Blanco-35.png">
            <a:extLst>
              <a:ext uri="{FF2B5EF4-FFF2-40B4-BE49-F238E27FC236}">
                <a16:creationId xmlns:a16="http://schemas.microsoft.com/office/drawing/2014/main" xmlns="" id="{AC7F2E58-E667-4F98-8607-9A786779C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21" y="2349258"/>
            <a:ext cx="669359" cy="689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xmlns="" id="{5ACFFB59-A0B5-4177-8BF6-4319EEC60D3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1607" y1="46875" x2="61607" y2="46875"/>
                        <a14:foregroundMark x1="40625" y1="48214" x2="40625" y2="48214"/>
                        <a14:foregroundMark x1="42857" y1="58036" x2="42857" y2="58036"/>
                        <a14:foregroundMark x1="64732" y1="60714" x2="64732" y2="60714"/>
                        <a14:foregroundMark x1="50446" y1="50446" x2="50446" y2="50446"/>
                        <a14:foregroundMark x1="46429" y1="44643" x2="46429" y2="44643"/>
                        <a14:foregroundMark x1="46429" y1="43304" x2="46429" y2="43304"/>
                        <a14:foregroundMark x1="38839" y1="56696" x2="38839" y2="56696"/>
                        <a14:foregroundMark x1="35268" y1="61161" x2="36607" y2="61161"/>
                        <a14:foregroundMark x1="50893" y1="62500" x2="50893" y2="62500"/>
                        <a14:foregroundMark x1="48214" y1="69643" x2="48214" y2="69643"/>
                        <a14:foregroundMark x1="49554" y1="70536" x2="49554" y2="70536"/>
                        <a14:foregroundMark x1="61161" y1="64286" x2="61607" y2="62500"/>
                        <a14:foregroundMark x1="67411" y1="56696" x2="67411" y2="56696"/>
                        <a14:foregroundMark x1="67411" y1="51339" x2="67411" y2="51339"/>
                        <a14:foregroundMark x1="65625" y1="44196" x2="65625" y2="44196"/>
                        <a14:foregroundMark x1="53571" y1="53125" x2="53571" y2="53125"/>
                        <a14:foregroundMark x1="50446" y1="57143" x2="50446" y2="57143"/>
                        <a14:foregroundMark x1="48661" y1="57143" x2="48661" y2="57143"/>
                        <a14:foregroundMark x1="48661" y1="49554" x2="48661" y2="49554"/>
                        <a14:foregroundMark x1="34375" y1="44196" x2="34375" y2="44196"/>
                        <a14:foregroundMark x1="30357" y1="48661" x2="30357" y2="48661"/>
                        <a14:foregroundMark x1="30357" y1="51339" x2="30357" y2="53125"/>
                        <a14:foregroundMark x1="32143" y1="58036" x2="32143" y2="58036"/>
                        <a14:foregroundMark x1="32589" y1="59375" x2="32589" y2="59375"/>
                        <a14:foregroundMark x1="35714" y1="63839" x2="35268" y2="65179"/>
                        <a14:foregroundMark x1="33482" y1="65179" x2="33482" y2="65179"/>
                        <a14:foregroundMark x1="32143" y1="60268" x2="32143" y2="60268"/>
                        <a14:foregroundMark x1="33482" y1="43304" x2="33482" y2="43304"/>
                        <a14:foregroundMark x1="36607" y1="42411" x2="36607" y2="42411"/>
                        <a14:foregroundMark x1="40625" y1="42857" x2="48214" y2="42857"/>
                        <a14:foregroundMark x1="54464" y1="42857" x2="54464" y2="42857"/>
                        <a14:foregroundMark x1="57589" y1="42857" x2="61607" y2="42857"/>
                        <a14:foregroundMark x1="65625" y1="43304" x2="65625" y2="43304"/>
                        <a14:foregroundMark x1="66964" y1="45982" x2="67411" y2="48661"/>
                        <a14:foregroundMark x1="67411" y1="50893" x2="67411" y2="52232"/>
                        <a14:foregroundMark x1="50893" y1="30357" x2="50893" y2="30357"/>
                        <a14:foregroundMark x1="75446" y1="51786" x2="75446" y2="51786"/>
                      </a14:backgroundRemoval>
                    </a14:imgEffect>
                    <a14:imgEffect>
                      <a14:colorTemperature colorTemp="9834"/>
                    </a14:imgEffect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5145" y="2098211"/>
            <a:ext cx="1387199" cy="1335318"/>
          </a:xfrm>
          <a:prstGeom prst="rect">
            <a:avLst/>
          </a:prstGeom>
        </p:spPr>
      </p:pic>
      <p:pic>
        <p:nvPicPr>
          <p:cNvPr id="47" name="Picture 15">
            <a:extLst>
              <a:ext uri="{FF2B5EF4-FFF2-40B4-BE49-F238E27FC236}">
                <a16:creationId xmlns:a16="http://schemas.microsoft.com/office/drawing/2014/main" xmlns="" id="{B31F3C2E-AABA-408B-8D29-09F6029DE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742" y="2327370"/>
            <a:ext cx="965978" cy="8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Seta para a direita 9">
            <a:extLst>
              <a:ext uri="{FF2B5EF4-FFF2-40B4-BE49-F238E27FC236}">
                <a16:creationId xmlns:a16="http://schemas.microsoft.com/office/drawing/2014/main" xmlns="" id="{2846ADC1-81DE-4E55-B778-FCB7EC30D2DC}"/>
              </a:ext>
            </a:extLst>
          </p:cNvPr>
          <p:cNvSpPr/>
          <p:nvPr/>
        </p:nvSpPr>
        <p:spPr>
          <a:xfrm>
            <a:off x="5589691" y="2417344"/>
            <a:ext cx="638741" cy="283959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49" name="Seta para a direita 9">
            <a:extLst>
              <a:ext uri="{FF2B5EF4-FFF2-40B4-BE49-F238E27FC236}">
                <a16:creationId xmlns:a16="http://schemas.microsoft.com/office/drawing/2014/main" xmlns="" id="{E7A951CC-EC49-4F6B-9AB0-E0A03F540469}"/>
              </a:ext>
            </a:extLst>
          </p:cNvPr>
          <p:cNvSpPr/>
          <p:nvPr/>
        </p:nvSpPr>
        <p:spPr>
          <a:xfrm>
            <a:off x="8316819" y="2417343"/>
            <a:ext cx="638741" cy="283959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67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5" name="CaixaDeTexto 134">
            <a:extLst>
              <a:ext uri="{FF2B5EF4-FFF2-40B4-BE49-F238E27FC236}">
                <a16:creationId xmlns:a16="http://schemas.microsoft.com/office/drawing/2014/main" xmlns="" id="{22E580CF-4450-4D91-9DE1-614779AD4509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MELHORIA CONTÍNUA E BENEFÍCIOS</a:t>
            </a:r>
          </a:p>
        </p:txBody>
      </p:sp>
      <p:sp>
        <p:nvSpPr>
          <p:cNvPr id="75" name="Retângulo de cantos arredondados 88">
            <a:extLst>
              <a:ext uri="{FF2B5EF4-FFF2-40B4-BE49-F238E27FC236}">
                <a16:creationId xmlns:a16="http://schemas.microsoft.com/office/drawing/2014/main" xmlns="" id="{9CC1028E-0FA5-4E07-B478-37FCEF7059C3}"/>
              </a:ext>
            </a:extLst>
          </p:cNvPr>
          <p:cNvSpPr/>
          <p:nvPr/>
        </p:nvSpPr>
        <p:spPr bwMode="auto">
          <a:xfrm>
            <a:off x="6434900" y="929589"/>
            <a:ext cx="5402258" cy="883614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CaixaDeTexto 16">
            <a:extLst>
              <a:ext uri="{FF2B5EF4-FFF2-40B4-BE49-F238E27FC236}">
                <a16:creationId xmlns:a16="http://schemas.microsoft.com/office/drawing/2014/main" xmlns="" id="{1817A60D-A0A5-4B94-82F6-6CCB06BE0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530" y="744923"/>
            <a:ext cx="1141535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Objetivo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xmlns="" id="{A1FC4ECA-37BC-4D49-B36C-81494175E35C}"/>
              </a:ext>
            </a:extLst>
          </p:cNvPr>
          <p:cNvSpPr txBox="1"/>
          <p:nvPr/>
        </p:nvSpPr>
        <p:spPr>
          <a:xfrm>
            <a:off x="6904018" y="1171382"/>
            <a:ext cx="4265029" cy="7386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pt-BR" sz="1400" dirty="0"/>
              <a:t>Reduzir as Perdas e Aumentar a Lucratividade.</a:t>
            </a:r>
          </a:p>
          <a:p>
            <a:pPr algn="ctr"/>
            <a:r>
              <a:rPr lang="pt-BR" sz="1400" dirty="0"/>
              <a:t>Elevar a satisfação do cliente consumidor.</a:t>
            </a:r>
          </a:p>
          <a:p>
            <a:pPr algn="ctr"/>
            <a:r>
              <a:rPr lang="pt-BR" sz="1400" dirty="0"/>
              <a:t>.</a:t>
            </a:r>
          </a:p>
        </p:txBody>
      </p:sp>
      <p:sp>
        <p:nvSpPr>
          <p:cNvPr id="79" name="Retângulo de cantos arredondados 88">
            <a:extLst>
              <a:ext uri="{FF2B5EF4-FFF2-40B4-BE49-F238E27FC236}">
                <a16:creationId xmlns:a16="http://schemas.microsoft.com/office/drawing/2014/main" xmlns="" id="{4B5176FF-A013-47AA-A973-A2638B23FC5B}"/>
              </a:ext>
            </a:extLst>
          </p:cNvPr>
          <p:cNvSpPr/>
          <p:nvPr/>
        </p:nvSpPr>
        <p:spPr bwMode="auto">
          <a:xfrm>
            <a:off x="354842" y="929590"/>
            <a:ext cx="5905436" cy="883614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CaixaDeTexto 16">
            <a:extLst>
              <a:ext uri="{FF2B5EF4-FFF2-40B4-BE49-F238E27FC236}">
                <a16:creationId xmlns:a16="http://schemas.microsoft.com/office/drawing/2014/main" xmlns="" id="{0CA3086F-3F01-452E-AB96-182EC2790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28" y="734990"/>
            <a:ext cx="1590563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Oportunidade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xmlns="" id="{BCD521B1-2BF0-477E-92C6-E023B73FD26A}"/>
              </a:ext>
            </a:extLst>
          </p:cNvPr>
          <p:cNvSpPr txBox="1"/>
          <p:nvPr/>
        </p:nvSpPr>
        <p:spPr>
          <a:xfrm>
            <a:off x="299435" y="1152906"/>
            <a:ext cx="6069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Automação dos processos através da coleta de informações da </a:t>
            </a:r>
          </a:p>
          <a:p>
            <a:pPr algn="ctr"/>
            <a:r>
              <a:rPr lang="pt-BR" sz="1400" dirty="0"/>
              <a:t>esteira de produção dos restaurantes.</a:t>
            </a:r>
          </a:p>
          <a:p>
            <a:endParaRPr lang="pt-BR" sz="1400" dirty="0"/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xmlns="" id="{D119581C-4DE7-4E38-ACED-1B32DD9B18B7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438" y="1869474"/>
            <a:ext cx="5926591" cy="484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3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xmlns="" id="{BE0AD456-56A1-4F89-9375-690147B32F3D}"/>
              </a:ext>
            </a:extLst>
          </p:cNvPr>
          <p:cNvSpPr txBox="1"/>
          <p:nvPr/>
        </p:nvSpPr>
        <p:spPr>
          <a:xfrm>
            <a:off x="687726" y="920290"/>
            <a:ext cx="1180937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000" b="1" i="1">
                <a:solidFill>
                  <a:srgbClr val="FFFFFF"/>
                </a:solidFill>
                <a:latin typeface="Calibri" panose="020F0502020204030204" pitchFamily="34" charset="0"/>
                <a:cs typeface="Tahoma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pt-BR" sz="1600" dirty="0">
                <a:solidFill>
                  <a:schemeClr val="tx1"/>
                </a:solidFill>
              </a:rPr>
              <a:t>Aumentando a produtividade através do gerenciamento de processos através do RPA</a:t>
            </a:r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xmlns="" id="{2069E9CF-4458-4287-B35C-C94A13891184}"/>
              </a:ext>
            </a:extLst>
          </p:cNvPr>
          <p:cNvSpPr txBox="1"/>
          <p:nvPr/>
        </p:nvSpPr>
        <p:spPr>
          <a:xfrm>
            <a:off x="511317" y="167641"/>
            <a:ext cx="842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</a:rPr>
              <a:t>RESTAURANTE INTELIGENTE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AA66FB32-44CB-48EC-A1A1-E263EBF5BB88}"/>
              </a:ext>
            </a:extLst>
          </p:cNvPr>
          <p:cNvGrpSpPr/>
          <p:nvPr/>
        </p:nvGrpSpPr>
        <p:grpSpPr>
          <a:xfrm>
            <a:off x="1218236" y="1505146"/>
            <a:ext cx="9742605" cy="4092886"/>
            <a:chOff x="1238144" y="1885004"/>
            <a:chExt cx="9742605" cy="3971480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xmlns="" id="{4EB721E4-4402-4959-810C-BD854924EA28}"/>
                </a:ext>
              </a:extLst>
            </p:cNvPr>
            <p:cNvGrpSpPr/>
            <p:nvPr/>
          </p:nvGrpSpPr>
          <p:grpSpPr>
            <a:xfrm>
              <a:off x="1238144" y="1885004"/>
              <a:ext cx="9742605" cy="3971480"/>
              <a:chOff x="1238144" y="1885004"/>
              <a:chExt cx="9742605" cy="3971480"/>
            </a:xfrm>
          </p:grpSpPr>
          <p:sp>
            <p:nvSpPr>
              <p:cNvPr id="75" name="Seta para a direita 100">
                <a:extLst>
                  <a:ext uri="{FF2B5EF4-FFF2-40B4-BE49-F238E27FC236}">
                    <a16:creationId xmlns:a16="http://schemas.microsoft.com/office/drawing/2014/main" xmlns="" id="{6DBB1613-5874-4F1B-81FA-CCE652EF8850}"/>
                  </a:ext>
                </a:extLst>
              </p:cNvPr>
              <p:cNvSpPr/>
              <p:nvPr/>
            </p:nvSpPr>
            <p:spPr>
              <a:xfrm>
                <a:off x="4338143" y="3593419"/>
                <a:ext cx="428341" cy="1246929"/>
              </a:xfrm>
              <a:prstGeom prst="rightArrow">
                <a:avLst>
                  <a:gd name="adj1" fmla="val 48016"/>
                  <a:gd name="adj2" fmla="val 78571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tângulo: Cantos Arredondados 76">
                <a:extLst>
                  <a:ext uri="{FF2B5EF4-FFF2-40B4-BE49-F238E27FC236}">
                    <a16:creationId xmlns:a16="http://schemas.microsoft.com/office/drawing/2014/main" xmlns="" id="{39EEC25F-C741-4678-B454-261662E4595D}"/>
                  </a:ext>
                </a:extLst>
              </p:cNvPr>
              <p:cNvSpPr/>
              <p:nvPr/>
            </p:nvSpPr>
            <p:spPr>
              <a:xfrm>
                <a:off x="1238144" y="1885004"/>
                <a:ext cx="6192937" cy="432048"/>
              </a:xfrm>
              <a:prstGeom prst="round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u="sng" dirty="0">
                    <a:solidFill>
                      <a:schemeClr val="tx1"/>
                    </a:solidFill>
                  </a:rPr>
                  <a:t>Cenário Atual – AÇÃO REATIVA</a:t>
                </a:r>
              </a:p>
            </p:txBody>
          </p:sp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xmlns="" id="{91BD1ED5-BBA0-4BE4-B44E-68DBD15761E6}"/>
                  </a:ext>
                </a:extLst>
              </p:cNvPr>
              <p:cNvSpPr/>
              <p:nvPr/>
            </p:nvSpPr>
            <p:spPr>
              <a:xfrm>
                <a:off x="4844613" y="2494701"/>
                <a:ext cx="2592000" cy="403397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chemeClr val="tx1"/>
                    </a:solidFill>
                  </a:rPr>
                  <a:t>Entrada Principal</a:t>
                </a:r>
              </a:p>
            </p:txBody>
          </p:sp>
          <p:sp>
            <p:nvSpPr>
              <p:cNvPr id="101" name="Retângulo 100">
                <a:extLst>
                  <a:ext uri="{FF2B5EF4-FFF2-40B4-BE49-F238E27FC236}">
                    <a16:creationId xmlns:a16="http://schemas.microsoft.com/office/drawing/2014/main" xmlns="" id="{0E5762E3-9AD8-4959-B4D5-3B0003050F4C}"/>
                  </a:ext>
                </a:extLst>
              </p:cNvPr>
              <p:cNvSpPr/>
              <p:nvPr/>
            </p:nvSpPr>
            <p:spPr>
              <a:xfrm>
                <a:off x="4857272" y="3041883"/>
                <a:ext cx="2573810" cy="244688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rapezoide 102">
                <a:extLst>
                  <a:ext uri="{FF2B5EF4-FFF2-40B4-BE49-F238E27FC236}">
                    <a16:creationId xmlns:a16="http://schemas.microsoft.com/office/drawing/2014/main" xmlns="" id="{D0E30CA8-E98B-4CF3-A7F1-E28CA1C818F4}"/>
                  </a:ext>
                </a:extLst>
              </p:cNvPr>
              <p:cNvSpPr/>
              <p:nvPr/>
            </p:nvSpPr>
            <p:spPr>
              <a:xfrm>
                <a:off x="8937743" y="2567488"/>
                <a:ext cx="1500485" cy="558194"/>
              </a:xfrm>
              <a:prstGeom prst="trapezoid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tângulo 103">
                <a:extLst>
                  <a:ext uri="{FF2B5EF4-FFF2-40B4-BE49-F238E27FC236}">
                    <a16:creationId xmlns:a16="http://schemas.microsoft.com/office/drawing/2014/main" xmlns="" id="{3191D4BD-03B0-4F56-8E4D-D39461DFB7D3}"/>
                  </a:ext>
                </a:extLst>
              </p:cNvPr>
              <p:cNvSpPr/>
              <p:nvPr/>
            </p:nvSpPr>
            <p:spPr>
              <a:xfrm>
                <a:off x="8155128" y="2493142"/>
                <a:ext cx="2825621" cy="4049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chemeClr val="tx1"/>
                    </a:solidFill>
                  </a:rPr>
                  <a:t>Processamento</a:t>
                </a:r>
              </a:p>
            </p:txBody>
          </p:sp>
          <p:sp>
            <p:nvSpPr>
              <p:cNvPr id="105" name="Trapezoide 104">
                <a:extLst>
                  <a:ext uri="{FF2B5EF4-FFF2-40B4-BE49-F238E27FC236}">
                    <a16:creationId xmlns:a16="http://schemas.microsoft.com/office/drawing/2014/main" xmlns="" id="{9AAB5609-9FA2-42AC-B067-8EA5C6E7BABC}"/>
                  </a:ext>
                </a:extLst>
              </p:cNvPr>
              <p:cNvSpPr/>
              <p:nvPr/>
            </p:nvSpPr>
            <p:spPr>
              <a:xfrm rot="10800000">
                <a:off x="8952912" y="3845661"/>
                <a:ext cx="1470145" cy="558194"/>
              </a:xfrm>
              <a:prstGeom prst="trapezoid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" name="Agrupar 105">
                <a:extLst>
                  <a:ext uri="{FF2B5EF4-FFF2-40B4-BE49-F238E27FC236}">
                    <a16:creationId xmlns:a16="http://schemas.microsoft.com/office/drawing/2014/main" xmlns="" id="{B871AB24-31DC-4105-ABB5-74B444B6E0A0}"/>
                  </a:ext>
                </a:extLst>
              </p:cNvPr>
              <p:cNvGrpSpPr/>
              <p:nvPr/>
            </p:nvGrpSpPr>
            <p:grpSpPr>
              <a:xfrm>
                <a:off x="9606822" y="4169527"/>
                <a:ext cx="1263583" cy="518354"/>
                <a:chOff x="7024417" y="5549623"/>
                <a:chExt cx="1263583" cy="494865"/>
              </a:xfrm>
            </p:grpSpPr>
            <p:sp>
              <p:nvSpPr>
                <p:cNvPr id="107" name="Retângulo 106">
                  <a:extLst>
                    <a:ext uri="{FF2B5EF4-FFF2-40B4-BE49-F238E27FC236}">
                      <a16:creationId xmlns:a16="http://schemas.microsoft.com/office/drawing/2014/main" xmlns="" id="{239CCC33-B533-4DEA-B46B-DBDBE8065D3B}"/>
                    </a:ext>
                  </a:extLst>
                </p:cNvPr>
                <p:cNvSpPr/>
                <p:nvPr/>
              </p:nvSpPr>
              <p:spPr>
                <a:xfrm>
                  <a:off x="7024417" y="5549623"/>
                  <a:ext cx="1263583" cy="494865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BR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CaixaDeTexto 107">
                  <a:extLst>
                    <a:ext uri="{FF2B5EF4-FFF2-40B4-BE49-F238E27FC236}">
                      <a16:creationId xmlns:a16="http://schemas.microsoft.com/office/drawing/2014/main" xmlns="" id="{F5313F5D-76AD-4414-9C16-37291CFC5B46}"/>
                    </a:ext>
                  </a:extLst>
                </p:cNvPr>
                <p:cNvSpPr txBox="1"/>
                <p:nvPr/>
              </p:nvSpPr>
              <p:spPr>
                <a:xfrm>
                  <a:off x="7054674" y="5686676"/>
                  <a:ext cx="1233326" cy="29383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/>
                    <a:t>Humano</a:t>
                  </a:r>
                </a:p>
              </p:txBody>
            </p:sp>
          </p:grpSp>
          <p:sp>
            <p:nvSpPr>
              <p:cNvPr id="110" name="CaixaDeTexto 109">
                <a:extLst>
                  <a:ext uri="{FF2B5EF4-FFF2-40B4-BE49-F238E27FC236}">
                    <a16:creationId xmlns:a16="http://schemas.microsoft.com/office/drawing/2014/main" xmlns="" id="{FB36AFCF-869A-459D-8410-C6FDD003E2ED}"/>
                  </a:ext>
                </a:extLst>
              </p:cNvPr>
              <p:cNvSpPr txBox="1"/>
              <p:nvPr/>
            </p:nvSpPr>
            <p:spPr>
              <a:xfrm>
                <a:off x="9559325" y="4759991"/>
                <a:ext cx="1263583" cy="836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rgbClr val="FFFF00"/>
                    </a:solidFill>
                  </a:rPr>
                  <a:t>Permitir interação humana para processos não automatizados</a:t>
                </a:r>
              </a:p>
            </p:txBody>
          </p:sp>
          <p:sp>
            <p:nvSpPr>
              <p:cNvPr id="111" name="CaixaDeTexto 110">
                <a:extLst>
                  <a:ext uri="{FF2B5EF4-FFF2-40B4-BE49-F238E27FC236}">
                    <a16:creationId xmlns:a16="http://schemas.microsoft.com/office/drawing/2014/main" xmlns="" id="{E3C0B8DC-518C-44E2-B200-83E5990DAB4D}"/>
                  </a:ext>
                </a:extLst>
              </p:cNvPr>
              <p:cNvSpPr txBox="1"/>
              <p:nvPr/>
            </p:nvSpPr>
            <p:spPr>
              <a:xfrm>
                <a:off x="8242953" y="4723560"/>
                <a:ext cx="1238955" cy="836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rgbClr val="FFFF00"/>
                    </a:solidFill>
                  </a:rPr>
                  <a:t>Implantação de RPA para gerenciamento digital de informações</a:t>
                </a:r>
              </a:p>
            </p:txBody>
          </p:sp>
          <p:sp>
            <p:nvSpPr>
              <p:cNvPr id="112" name="Retângulo: Cantos Arredondados 111">
                <a:extLst>
                  <a:ext uri="{FF2B5EF4-FFF2-40B4-BE49-F238E27FC236}">
                    <a16:creationId xmlns:a16="http://schemas.microsoft.com/office/drawing/2014/main" xmlns="" id="{E9CACC0C-5B04-4FDF-AE1C-59DE49A9852F}"/>
                  </a:ext>
                </a:extLst>
              </p:cNvPr>
              <p:cNvSpPr/>
              <p:nvPr/>
            </p:nvSpPr>
            <p:spPr>
              <a:xfrm>
                <a:off x="8297262" y="3106339"/>
                <a:ext cx="2559771" cy="790867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:a16="http://schemas.microsoft.com/office/drawing/2014/main" xmlns="" id="{13628FB7-C5EB-49F4-A3CC-D301EA9C5CC7}"/>
                  </a:ext>
                </a:extLst>
              </p:cNvPr>
              <p:cNvSpPr/>
              <p:nvPr/>
            </p:nvSpPr>
            <p:spPr>
              <a:xfrm>
                <a:off x="9340686" y="3639234"/>
                <a:ext cx="1630312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100" b="1" dirty="0"/>
                  <a:t>Interação Humana</a:t>
                </a:r>
              </a:p>
            </p:txBody>
          </p:sp>
          <p:sp>
            <p:nvSpPr>
              <p:cNvPr id="115" name="Triângulo isósceles 114">
                <a:extLst>
                  <a:ext uri="{FF2B5EF4-FFF2-40B4-BE49-F238E27FC236}">
                    <a16:creationId xmlns:a16="http://schemas.microsoft.com/office/drawing/2014/main" xmlns="" id="{3C685145-15C6-441E-B120-B5B4BE67269D}"/>
                  </a:ext>
                </a:extLst>
              </p:cNvPr>
              <p:cNvSpPr/>
              <p:nvPr/>
            </p:nvSpPr>
            <p:spPr>
              <a:xfrm rot="10800000">
                <a:off x="2303122" y="2492340"/>
                <a:ext cx="1042517" cy="388675"/>
              </a:xfrm>
              <a:prstGeom prst="triangle">
                <a:avLst>
                  <a:gd name="adj" fmla="val 48710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6" name="Conector reto 115">
                <a:extLst>
                  <a:ext uri="{FF2B5EF4-FFF2-40B4-BE49-F238E27FC236}">
                    <a16:creationId xmlns:a16="http://schemas.microsoft.com/office/drawing/2014/main" xmlns="" id="{DC1B6BF8-C697-4815-A269-B4514556AF1E}"/>
                  </a:ext>
                </a:extLst>
              </p:cNvPr>
              <p:cNvCxnSpPr/>
              <p:nvPr/>
            </p:nvCxnSpPr>
            <p:spPr>
              <a:xfrm>
                <a:off x="7988058" y="2364484"/>
                <a:ext cx="0" cy="3492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xmlns="" id="{28B5F28F-EB55-45FD-9296-51BBEC5CBBC1}"/>
                  </a:ext>
                </a:extLst>
              </p:cNvPr>
              <p:cNvSpPr/>
              <p:nvPr/>
            </p:nvSpPr>
            <p:spPr>
              <a:xfrm>
                <a:off x="7985389" y="3619010"/>
                <a:ext cx="1630312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100" b="1" dirty="0"/>
                  <a:t>Automação</a:t>
                </a:r>
              </a:p>
            </p:txBody>
          </p:sp>
          <p:sp>
            <p:nvSpPr>
              <p:cNvPr id="121" name="Retângulo 120">
                <a:extLst>
                  <a:ext uri="{FF2B5EF4-FFF2-40B4-BE49-F238E27FC236}">
                    <a16:creationId xmlns:a16="http://schemas.microsoft.com/office/drawing/2014/main" xmlns="" id="{0069429A-AC39-4CD4-BE3E-9261CDDF8622}"/>
                  </a:ext>
                </a:extLst>
              </p:cNvPr>
              <p:cNvSpPr/>
              <p:nvPr/>
            </p:nvSpPr>
            <p:spPr>
              <a:xfrm>
                <a:off x="8285034" y="4169527"/>
                <a:ext cx="1196875" cy="52534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CaixaDeTexto 121">
                <a:extLst>
                  <a:ext uri="{FF2B5EF4-FFF2-40B4-BE49-F238E27FC236}">
                    <a16:creationId xmlns:a16="http://schemas.microsoft.com/office/drawing/2014/main" xmlns="" id="{0AB5E536-EBD8-4FE0-845C-C349F38BD96F}"/>
                  </a:ext>
                </a:extLst>
              </p:cNvPr>
              <p:cNvSpPr txBox="1"/>
              <p:nvPr/>
            </p:nvSpPr>
            <p:spPr>
              <a:xfrm>
                <a:off x="8310854" y="4294474"/>
                <a:ext cx="1154051" cy="307777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RPA</a:t>
                </a:r>
              </a:p>
            </p:txBody>
          </p:sp>
          <p:sp>
            <p:nvSpPr>
              <p:cNvPr id="2" name="AutoShape 4" descr="Resultado de imagem para imagem de chat png">
                <a:extLst>
                  <a:ext uri="{FF2B5EF4-FFF2-40B4-BE49-F238E27FC236}">
                    <a16:creationId xmlns:a16="http://schemas.microsoft.com/office/drawing/2014/main" xmlns="" id="{EDB2A0E6-1AFE-48BC-9391-166EBE1430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148662" y="3334138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8" name="AutoShape 6" descr="Resultado de imagem para imagem de chat png">
                <a:extLst>
                  <a:ext uri="{FF2B5EF4-FFF2-40B4-BE49-F238E27FC236}">
                    <a16:creationId xmlns:a16="http://schemas.microsoft.com/office/drawing/2014/main" xmlns="" id="{7F26E892-3109-4B3A-85C5-76F1E085CE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301062" y="3486538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30" name="CaixaDeTexto 129">
                <a:extLst>
                  <a:ext uri="{FF2B5EF4-FFF2-40B4-BE49-F238E27FC236}">
                    <a16:creationId xmlns:a16="http://schemas.microsoft.com/office/drawing/2014/main" xmlns="" id="{1690BCCE-47BD-4678-B3C2-56CEB5D043C2}"/>
                  </a:ext>
                </a:extLst>
              </p:cNvPr>
              <p:cNvSpPr txBox="1"/>
              <p:nvPr/>
            </p:nvSpPr>
            <p:spPr>
              <a:xfrm>
                <a:off x="5269046" y="4592916"/>
                <a:ext cx="175099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REGISTRO CHAMADO/OS POR VOZ</a:t>
                </a:r>
              </a:p>
            </p:txBody>
          </p:sp>
          <p:sp>
            <p:nvSpPr>
              <p:cNvPr id="134" name="Retângulo: Cantos Arredondados 133">
                <a:extLst>
                  <a:ext uri="{FF2B5EF4-FFF2-40B4-BE49-F238E27FC236}">
                    <a16:creationId xmlns:a16="http://schemas.microsoft.com/office/drawing/2014/main" xmlns="" id="{AAB8BE99-647C-4FB0-B288-FBB50F3CE5FA}"/>
                  </a:ext>
                </a:extLst>
              </p:cNvPr>
              <p:cNvSpPr/>
              <p:nvPr/>
            </p:nvSpPr>
            <p:spPr>
              <a:xfrm>
                <a:off x="8160872" y="1894011"/>
                <a:ext cx="2808995" cy="432048"/>
              </a:xfrm>
              <a:prstGeom prst="round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u="sng" dirty="0">
                    <a:solidFill>
                      <a:schemeClr val="tx1"/>
                    </a:solidFill>
                  </a:rPr>
                  <a:t>Proposta </a:t>
                </a:r>
                <a:r>
                  <a:rPr lang="pt-BR" b="1" u="sng" dirty="0" err="1">
                    <a:solidFill>
                      <a:schemeClr val="tx1"/>
                    </a:solidFill>
                  </a:rPr>
                  <a:t>Liinkoo</a:t>
                </a:r>
                <a:endParaRPr lang="pt-BR" b="1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Triângulo isósceles 135">
                <a:extLst>
                  <a:ext uri="{FF2B5EF4-FFF2-40B4-BE49-F238E27FC236}">
                    <a16:creationId xmlns:a16="http://schemas.microsoft.com/office/drawing/2014/main" xmlns="" id="{71DB6105-BFE2-413A-8056-806CF8CB2EA6}"/>
                  </a:ext>
                </a:extLst>
              </p:cNvPr>
              <p:cNvSpPr/>
              <p:nvPr/>
            </p:nvSpPr>
            <p:spPr>
              <a:xfrm rot="5400000">
                <a:off x="6118687" y="3443586"/>
                <a:ext cx="3491998" cy="598359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Retângulo 140">
                <a:extLst>
                  <a:ext uri="{FF2B5EF4-FFF2-40B4-BE49-F238E27FC236}">
                    <a16:creationId xmlns:a16="http://schemas.microsoft.com/office/drawing/2014/main" xmlns="" id="{7CA22279-FF7D-4777-9585-6363BC48A446}"/>
                  </a:ext>
                </a:extLst>
              </p:cNvPr>
              <p:cNvSpPr/>
              <p:nvPr/>
            </p:nvSpPr>
            <p:spPr>
              <a:xfrm>
                <a:off x="1334902" y="3016940"/>
                <a:ext cx="2844000" cy="678894"/>
              </a:xfrm>
              <a:prstGeom prst="rect">
                <a:avLst/>
              </a:prstGeom>
              <a:solidFill>
                <a:srgbClr val="00A5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2" name="Retângulo 141">
                <a:extLst>
                  <a:ext uri="{FF2B5EF4-FFF2-40B4-BE49-F238E27FC236}">
                    <a16:creationId xmlns:a16="http://schemas.microsoft.com/office/drawing/2014/main" xmlns="" id="{BE866BD6-0AB3-4926-8C04-C6B74A57BE4B}"/>
                  </a:ext>
                </a:extLst>
              </p:cNvPr>
              <p:cNvSpPr/>
              <p:nvPr/>
            </p:nvSpPr>
            <p:spPr>
              <a:xfrm>
                <a:off x="1334898" y="3844710"/>
                <a:ext cx="2844000" cy="678894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Retângulo 142">
                <a:extLst>
                  <a:ext uri="{FF2B5EF4-FFF2-40B4-BE49-F238E27FC236}">
                    <a16:creationId xmlns:a16="http://schemas.microsoft.com/office/drawing/2014/main" xmlns="" id="{A2584EEF-731C-4753-B4D9-1D363B95072E}"/>
                  </a:ext>
                </a:extLst>
              </p:cNvPr>
              <p:cNvSpPr/>
              <p:nvPr/>
            </p:nvSpPr>
            <p:spPr>
              <a:xfrm>
                <a:off x="1334896" y="4661949"/>
                <a:ext cx="2844000" cy="678894"/>
              </a:xfrm>
              <a:prstGeom prst="rect">
                <a:avLst/>
              </a:prstGeom>
              <a:solidFill>
                <a:srgbClr val="92D4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Paralelogramo 143">
                <a:extLst>
                  <a:ext uri="{FF2B5EF4-FFF2-40B4-BE49-F238E27FC236}">
                    <a16:creationId xmlns:a16="http://schemas.microsoft.com/office/drawing/2014/main" xmlns="" id="{D8946015-1A05-4192-8B5E-72A61D24D05A}"/>
                  </a:ext>
                </a:extLst>
              </p:cNvPr>
              <p:cNvSpPr/>
              <p:nvPr/>
            </p:nvSpPr>
            <p:spPr>
              <a:xfrm flipH="1">
                <a:off x="1334896" y="3699832"/>
                <a:ext cx="2844000" cy="157936"/>
              </a:xfrm>
              <a:prstGeom prst="parallelogram">
                <a:avLst>
                  <a:gd name="adj" fmla="val 175545"/>
                </a:avLst>
              </a:prstGeom>
              <a:solidFill>
                <a:srgbClr val="0068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Retângulo: Cantos Arredondados 144">
                <a:extLst>
                  <a:ext uri="{FF2B5EF4-FFF2-40B4-BE49-F238E27FC236}">
                    <a16:creationId xmlns:a16="http://schemas.microsoft.com/office/drawing/2014/main" xmlns="" id="{20F36981-37A6-487A-A3D5-BDF8CF00C736}"/>
                  </a:ext>
                </a:extLst>
              </p:cNvPr>
              <p:cNvSpPr/>
              <p:nvPr/>
            </p:nvSpPr>
            <p:spPr>
              <a:xfrm>
                <a:off x="2146776" y="3056304"/>
                <a:ext cx="1944216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Atividades Repetitivas</a:t>
                </a:r>
              </a:p>
            </p:txBody>
          </p:sp>
          <p:sp>
            <p:nvSpPr>
              <p:cNvPr id="146" name="Retângulo: Cantos Arredondados 145">
                <a:extLst>
                  <a:ext uri="{FF2B5EF4-FFF2-40B4-BE49-F238E27FC236}">
                    <a16:creationId xmlns:a16="http://schemas.microsoft.com/office/drawing/2014/main" xmlns="" id="{CE031490-8625-43A2-900E-D0573CFE5909}"/>
                  </a:ext>
                </a:extLst>
              </p:cNvPr>
              <p:cNvSpPr/>
              <p:nvPr/>
            </p:nvSpPr>
            <p:spPr>
              <a:xfrm>
                <a:off x="2070457" y="3881686"/>
                <a:ext cx="2020531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Baixa Eficiência </a:t>
                </a:r>
              </a:p>
              <a:p>
                <a:r>
                  <a:rPr lang="pt-BR" sz="1400" b="1" dirty="0">
                    <a:solidFill>
                      <a:schemeClr val="tx1"/>
                    </a:solidFill>
                  </a:rPr>
                  <a:t>Processos</a:t>
                </a:r>
              </a:p>
            </p:txBody>
          </p:sp>
          <p:sp>
            <p:nvSpPr>
              <p:cNvPr id="147" name="Retângulo: Cantos Arredondados 146">
                <a:extLst>
                  <a:ext uri="{FF2B5EF4-FFF2-40B4-BE49-F238E27FC236}">
                    <a16:creationId xmlns:a16="http://schemas.microsoft.com/office/drawing/2014/main" xmlns="" id="{720C11AC-7A14-4377-820B-529E827F41A2}"/>
                  </a:ext>
                </a:extLst>
              </p:cNvPr>
              <p:cNvSpPr/>
              <p:nvPr/>
            </p:nvSpPr>
            <p:spPr>
              <a:xfrm>
                <a:off x="2070462" y="4699600"/>
                <a:ext cx="2089911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Vinculação Manual</a:t>
                </a:r>
              </a:p>
            </p:txBody>
          </p:sp>
          <p:grpSp>
            <p:nvGrpSpPr>
              <p:cNvPr id="148" name="Agrupar 147">
                <a:extLst>
                  <a:ext uri="{FF2B5EF4-FFF2-40B4-BE49-F238E27FC236}">
                    <a16:creationId xmlns:a16="http://schemas.microsoft.com/office/drawing/2014/main" xmlns="" id="{27E80F7F-862F-4FC1-9050-4D898F63738E}"/>
                  </a:ext>
                </a:extLst>
              </p:cNvPr>
              <p:cNvGrpSpPr/>
              <p:nvPr/>
            </p:nvGrpSpPr>
            <p:grpSpPr>
              <a:xfrm>
                <a:off x="1469324" y="3908272"/>
                <a:ext cx="551770" cy="551770"/>
                <a:chOff x="864878" y="2628000"/>
                <a:chExt cx="669156" cy="669156"/>
              </a:xfrm>
            </p:grpSpPr>
            <p:sp>
              <p:nvSpPr>
                <p:cNvPr id="149" name="Elipse 148">
                  <a:extLst>
                    <a:ext uri="{FF2B5EF4-FFF2-40B4-BE49-F238E27FC236}">
                      <a16:creationId xmlns:a16="http://schemas.microsoft.com/office/drawing/2014/main" xmlns="" id="{52B9BDE4-2F65-4B9E-96F6-D58499768364}"/>
                    </a:ext>
                  </a:extLst>
                </p:cNvPr>
                <p:cNvSpPr/>
                <p:nvPr/>
              </p:nvSpPr>
              <p:spPr>
                <a:xfrm>
                  <a:off x="864878" y="2628000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0" name="Imagem 149">
                  <a:extLst>
                    <a:ext uri="{FF2B5EF4-FFF2-40B4-BE49-F238E27FC236}">
                      <a16:creationId xmlns:a16="http://schemas.microsoft.com/office/drawing/2014/main" xmlns="" id="{22C31F5D-7DCC-4A5E-B184-448157A8B4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3334" y="2758687"/>
                  <a:ext cx="407953" cy="407953"/>
                </a:xfrm>
                <a:prstGeom prst="rect">
                  <a:avLst/>
                </a:prstGeom>
                <a:noFill/>
                <a:ln w="6350">
                  <a:noFill/>
                  <a:prstDash val="sysDash"/>
                </a:ln>
              </p:spPr>
            </p:pic>
          </p:grpSp>
          <p:grpSp>
            <p:nvGrpSpPr>
              <p:cNvPr id="151" name="Agrupar 150">
                <a:extLst>
                  <a:ext uri="{FF2B5EF4-FFF2-40B4-BE49-F238E27FC236}">
                    <a16:creationId xmlns:a16="http://schemas.microsoft.com/office/drawing/2014/main" xmlns="" id="{514E71D1-4250-444B-9FCD-F818AFC8DA6E}"/>
                  </a:ext>
                </a:extLst>
              </p:cNvPr>
              <p:cNvGrpSpPr/>
              <p:nvPr/>
            </p:nvGrpSpPr>
            <p:grpSpPr>
              <a:xfrm>
                <a:off x="1469328" y="3082321"/>
                <a:ext cx="551770" cy="551770"/>
                <a:chOff x="864878" y="1693715"/>
                <a:chExt cx="669156" cy="669156"/>
              </a:xfrm>
            </p:grpSpPr>
            <p:sp>
              <p:nvSpPr>
                <p:cNvPr id="152" name="Elipse 151">
                  <a:extLst>
                    <a:ext uri="{FF2B5EF4-FFF2-40B4-BE49-F238E27FC236}">
                      <a16:creationId xmlns:a16="http://schemas.microsoft.com/office/drawing/2014/main" xmlns="" id="{1EF669B9-0B1F-482C-82D9-458A631BA3BD}"/>
                    </a:ext>
                  </a:extLst>
                </p:cNvPr>
                <p:cNvSpPr/>
                <p:nvPr/>
              </p:nvSpPr>
              <p:spPr>
                <a:xfrm>
                  <a:off x="864878" y="1693715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3" name="Imagem 152">
                  <a:extLst>
                    <a:ext uri="{FF2B5EF4-FFF2-40B4-BE49-F238E27FC236}">
                      <a16:creationId xmlns:a16="http://schemas.microsoft.com/office/drawing/2014/main" xmlns="" id="{1FB4E75C-A0DF-406D-88CE-24ACDF5F0E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0080" t="12312" r="9281" b="13769"/>
                <a:stretch/>
              </p:blipFill>
              <p:spPr>
                <a:xfrm>
                  <a:off x="976357" y="1837263"/>
                  <a:ext cx="442230" cy="409966"/>
                </a:xfrm>
                <a:prstGeom prst="rect">
                  <a:avLst/>
                </a:prstGeom>
                <a:solidFill>
                  <a:srgbClr val="F9F9F9"/>
                </a:solidFill>
                <a:ln w="6350">
                  <a:noFill/>
                  <a:prstDash val="sysDash"/>
                </a:ln>
              </p:spPr>
            </p:pic>
          </p:grpSp>
          <p:grpSp>
            <p:nvGrpSpPr>
              <p:cNvPr id="154" name="Agrupar 153">
                <a:extLst>
                  <a:ext uri="{FF2B5EF4-FFF2-40B4-BE49-F238E27FC236}">
                    <a16:creationId xmlns:a16="http://schemas.microsoft.com/office/drawing/2014/main" xmlns="" id="{64D84684-A6BD-4761-B9F6-523B610DDED6}"/>
                  </a:ext>
                </a:extLst>
              </p:cNvPr>
              <p:cNvGrpSpPr/>
              <p:nvPr/>
            </p:nvGrpSpPr>
            <p:grpSpPr>
              <a:xfrm>
                <a:off x="1469322" y="4725511"/>
                <a:ext cx="551770" cy="551770"/>
                <a:chOff x="864871" y="3554893"/>
                <a:chExt cx="669156" cy="669156"/>
              </a:xfrm>
            </p:grpSpPr>
            <p:sp>
              <p:nvSpPr>
                <p:cNvPr id="155" name="Elipse 154">
                  <a:extLst>
                    <a:ext uri="{FF2B5EF4-FFF2-40B4-BE49-F238E27FC236}">
                      <a16:creationId xmlns:a16="http://schemas.microsoft.com/office/drawing/2014/main" xmlns="" id="{9503DE7A-5543-4DF3-BBEC-19922926872D}"/>
                    </a:ext>
                  </a:extLst>
                </p:cNvPr>
                <p:cNvSpPr/>
                <p:nvPr/>
              </p:nvSpPr>
              <p:spPr>
                <a:xfrm>
                  <a:off x="864871" y="3554893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6" name="Imagem 155">
                  <a:extLst>
                    <a:ext uri="{FF2B5EF4-FFF2-40B4-BE49-F238E27FC236}">
                      <a16:creationId xmlns:a16="http://schemas.microsoft.com/office/drawing/2014/main" xmlns="" id="{F090E1E3-6E10-45A2-8118-3252DDF388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094" y="3703276"/>
                  <a:ext cx="393903" cy="393903"/>
                </a:xfrm>
                <a:prstGeom prst="rect">
                  <a:avLst/>
                </a:prstGeom>
                <a:noFill/>
                <a:ln w="6350">
                  <a:noFill/>
                  <a:prstDash val="sysDash"/>
                </a:ln>
              </p:spPr>
            </p:pic>
          </p:grpSp>
          <p:sp>
            <p:nvSpPr>
              <p:cNvPr id="157" name="Paralelogramo 156">
                <a:extLst>
                  <a:ext uri="{FF2B5EF4-FFF2-40B4-BE49-F238E27FC236}">
                    <a16:creationId xmlns:a16="http://schemas.microsoft.com/office/drawing/2014/main" xmlns="" id="{37C44DB8-6CDA-44EB-AE99-99320FB6CC38}"/>
                  </a:ext>
                </a:extLst>
              </p:cNvPr>
              <p:cNvSpPr/>
              <p:nvPr/>
            </p:nvSpPr>
            <p:spPr>
              <a:xfrm flipH="1">
                <a:off x="1334896" y="4523884"/>
                <a:ext cx="2844000" cy="138065"/>
              </a:xfrm>
              <a:prstGeom prst="parallelogram">
                <a:avLst>
                  <a:gd name="adj" fmla="val 175545"/>
                </a:avLst>
              </a:prstGeom>
              <a:solidFill>
                <a:srgbClr val="B858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Paralelogramo 157">
                <a:extLst>
                  <a:ext uri="{FF2B5EF4-FFF2-40B4-BE49-F238E27FC236}">
                    <a16:creationId xmlns:a16="http://schemas.microsoft.com/office/drawing/2014/main" xmlns="" id="{0BF67F3A-C366-49BD-81D3-4328019B8549}"/>
                  </a:ext>
                </a:extLst>
              </p:cNvPr>
              <p:cNvSpPr/>
              <p:nvPr/>
            </p:nvSpPr>
            <p:spPr>
              <a:xfrm flipH="1">
                <a:off x="1330728" y="5337290"/>
                <a:ext cx="2844000" cy="138065"/>
              </a:xfrm>
              <a:prstGeom prst="parallelogram">
                <a:avLst>
                  <a:gd name="adj" fmla="val 175545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59" name="Imagem 158">
              <a:extLst>
                <a:ext uri="{FF2B5EF4-FFF2-40B4-BE49-F238E27FC236}">
                  <a16:creationId xmlns:a16="http://schemas.microsoft.com/office/drawing/2014/main" xmlns="" id="{1403EEA3-0617-4C97-804C-EA5BA9320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51119" y="3482632"/>
              <a:ext cx="986195" cy="986195"/>
            </a:xfrm>
            <a:prstGeom prst="ellips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</p:pic>
      </p:grp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xmlns="" id="{B07EB094-3297-4605-A060-C49B35287D2D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54" name="Imagem 53">
            <a:extLst>
              <a:ext uri="{FF2B5EF4-FFF2-40B4-BE49-F238E27FC236}">
                <a16:creationId xmlns:a16="http://schemas.microsoft.com/office/drawing/2014/main" xmlns="" id="{181D8382-7CBF-4D94-9602-F424299F6FC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1607" y1="46875" x2="61607" y2="46875"/>
                        <a14:foregroundMark x1="40625" y1="48214" x2="40625" y2="48214"/>
                        <a14:foregroundMark x1="42857" y1="58036" x2="42857" y2="58036"/>
                        <a14:foregroundMark x1="64732" y1="60714" x2="64732" y2="60714"/>
                        <a14:foregroundMark x1="50446" y1="50446" x2="50446" y2="50446"/>
                        <a14:foregroundMark x1="46429" y1="44643" x2="46429" y2="44643"/>
                        <a14:foregroundMark x1="46429" y1="43304" x2="46429" y2="43304"/>
                        <a14:foregroundMark x1="38839" y1="56696" x2="38839" y2="56696"/>
                        <a14:foregroundMark x1="35268" y1="61161" x2="36607" y2="61161"/>
                        <a14:foregroundMark x1="50893" y1="62500" x2="50893" y2="62500"/>
                        <a14:foregroundMark x1="48214" y1="69643" x2="48214" y2="69643"/>
                        <a14:foregroundMark x1="49554" y1="70536" x2="49554" y2="70536"/>
                        <a14:foregroundMark x1="61161" y1="64286" x2="61607" y2="62500"/>
                        <a14:foregroundMark x1="67411" y1="56696" x2="67411" y2="56696"/>
                        <a14:foregroundMark x1="67411" y1="51339" x2="67411" y2="51339"/>
                        <a14:foregroundMark x1="65625" y1="44196" x2="65625" y2="44196"/>
                        <a14:foregroundMark x1="53571" y1="53125" x2="53571" y2="53125"/>
                        <a14:foregroundMark x1="50446" y1="57143" x2="50446" y2="57143"/>
                        <a14:foregroundMark x1="48661" y1="57143" x2="48661" y2="57143"/>
                        <a14:foregroundMark x1="48661" y1="49554" x2="48661" y2="49554"/>
                        <a14:foregroundMark x1="34375" y1="44196" x2="34375" y2="44196"/>
                        <a14:foregroundMark x1="30357" y1="48661" x2="30357" y2="48661"/>
                        <a14:foregroundMark x1="30357" y1="51339" x2="30357" y2="53125"/>
                        <a14:foregroundMark x1="32143" y1="58036" x2="32143" y2="58036"/>
                        <a14:foregroundMark x1="32589" y1="59375" x2="32589" y2="59375"/>
                        <a14:foregroundMark x1="35714" y1="63839" x2="35268" y2="65179"/>
                        <a14:foregroundMark x1="33482" y1="65179" x2="33482" y2="65179"/>
                        <a14:foregroundMark x1="32143" y1="60268" x2="32143" y2="60268"/>
                        <a14:foregroundMark x1="33482" y1="43304" x2="33482" y2="43304"/>
                        <a14:foregroundMark x1="36607" y1="42411" x2="36607" y2="42411"/>
                        <a14:foregroundMark x1="40625" y1="42857" x2="48214" y2="42857"/>
                        <a14:foregroundMark x1="54464" y1="42857" x2="54464" y2="42857"/>
                        <a14:foregroundMark x1="57589" y1="42857" x2="61607" y2="42857"/>
                        <a14:foregroundMark x1="65625" y1="43304" x2="65625" y2="43304"/>
                        <a14:foregroundMark x1="66964" y1="45982" x2="67411" y2="48661"/>
                        <a14:foregroundMark x1="67411" y1="50893" x2="67411" y2="52232"/>
                        <a14:foregroundMark x1="50893" y1="30357" x2="50893" y2="30357"/>
                        <a14:foregroundMark x1="75446" y1="51786" x2="75446" y2="517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85656" y="2798242"/>
            <a:ext cx="620332" cy="597132"/>
          </a:xfrm>
          <a:prstGeom prst="rect">
            <a:avLst/>
          </a:prstGeom>
        </p:spPr>
      </p:pic>
      <p:pic>
        <p:nvPicPr>
          <p:cNvPr id="55" name="Picture 2" descr="Resultado de imagem para bot icon png">
            <a:extLst>
              <a:ext uri="{FF2B5EF4-FFF2-40B4-BE49-F238E27FC236}">
                <a16:creationId xmlns:a16="http://schemas.microsoft.com/office/drawing/2014/main" xmlns="" id="{E738C275-86AC-435E-A434-3A5D9D7E2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564" y="2862093"/>
            <a:ext cx="552166" cy="528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xmlns="" id="{D45EBC80-A133-4D19-B688-881FE1FD8DC1}"/>
              </a:ext>
            </a:extLst>
          </p:cNvPr>
          <p:cNvSpPr/>
          <p:nvPr/>
        </p:nvSpPr>
        <p:spPr>
          <a:xfrm>
            <a:off x="8151846" y="5731900"/>
            <a:ext cx="2808995" cy="58940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>
                <a:solidFill>
                  <a:schemeClr val="tx1"/>
                </a:solidFill>
              </a:rPr>
              <a:t>BPM CORRETIVO E PREVENTIVO</a:t>
            </a:r>
          </a:p>
        </p:txBody>
      </p:sp>
      <p:sp>
        <p:nvSpPr>
          <p:cNvPr id="57" name="Triângulo isósceles 56">
            <a:extLst>
              <a:ext uri="{FF2B5EF4-FFF2-40B4-BE49-F238E27FC236}">
                <a16:creationId xmlns:a16="http://schemas.microsoft.com/office/drawing/2014/main" xmlns="" id="{3C82ADAC-0F3C-470C-B732-0892A4E116FE}"/>
              </a:ext>
            </a:extLst>
          </p:cNvPr>
          <p:cNvSpPr/>
          <p:nvPr/>
        </p:nvSpPr>
        <p:spPr>
          <a:xfrm rot="10800000">
            <a:off x="8223045" y="5272231"/>
            <a:ext cx="2683484" cy="417373"/>
          </a:xfrm>
          <a:prstGeom prst="triangle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60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O QUE VAMOS PRECISAR E PRÓXIMOS PASSOS</a:t>
            </a:r>
          </a:p>
        </p:txBody>
      </p:sp>
      <p:sp>
        <p:nvSpPr>
          <p:cNvPr id="3" name="Retângulo de cantos arredondados 88">
            <a:extLst>
              <a:ext uri="{FF2B5EF4-FFF2-40B4-BE49-F238E27FC236}">
                <a16:creationId xmlns:a16="http://schemas.microsoft.com/office/drawing/2014/main" xmlns="" id="{AF8BECDB-D2D4-4DC4-9097-8399B4FCC7DB}"/>
              </a:ext>
            </a:extLst>
          </p:cNvPr>
          <p:cNvSpPr/>
          <p:nvPr/>
        </p:nvSpPr>
        <p:spPr bwMode="auto">
          <a:xfrm>
            <a:off x="402831" y="1459813"/>
            <a:ext cx="6995269" cy="1999383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aixaDeTexto 16">
            <a:extLst>
              <a:ext uri="{FF2B5EF4-FFF2-40B4-BE49-F238E27FC236}">
                <a16:creationId xmlns:a16="http://schemas.microsoft.com/office/drawing/2014/main" xmlns="" id="{AD05E29D-2475-41F0-9CD0-3F77F023F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17" y="1265214"/>
            <a:ext cx="5558244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Assessment Detalhado Processos e Infraestrutura – </a:t>
            </a:r>
            <a:r>
              <a:rPr lang="pt-BR" b="1" i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AS IS</a:t>
            </a:r>
            <a:endParaRPr kumimoji="0" lang="pt-BR" sz="18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2605E82F-DA51-4812-8075-1A2B542CA302}"/>
              </a:ext>
            </a:extLst>
          </p:cNvPr>
          <p:cNvSpPr txBox="1"/>
          <p:nvPr/>
        </p:nvSpPr>
        <p:spPr>
          <a:xfrm>
            <a:off x="559306" y="1829145"/>
            <a:ext cx="69952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bg1"/>
                </a:solidFill>
              </a:rPr>
              <a:t>Mapeamento dos processos alvo para automação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bg1"/>
                </a:solidFill>
              </a:rPr>
              <a:t>Avaliação e adequação infraestrutura do restaurante/equipamentos para transferência de dados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bg1"/>
                </a:solidFill>
              </a:rPr>
              <a:t>Acesso internet 24 horas para a unidade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bg1"/>
                </a:solidFill>
              </a:rPr>
              <a:t>Conexão criptografada e segura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bg1"/>
                </a:solidFill>
              </a:rPr>
              <a:t>Armazenamento temporário no Local</a:t>
            </a:r>
            <a:endParaRPr lang="pt-BR" sz="1400" dirty="0"/>
          </a:p>
        </p:txBody>
      </p:sp>
      <p:sp>
        <p:nvSpPr>
          <p:cNvPr id="8" name="Retângulo de cantos arredondados 88">
            <a:extLst>
              <a:ext uri="{FF2B5EF4-FFF2-40B4-BE49-F238E27FC236}">
                <a16:creationId xmlns:a16="http://schemas.microsoft.com/office/drawing/2014/main" xmlns="" id="{036C9697-8E9E-472B-803A-73CB779B2738}"/>
              </a:ext>
            </a:extLst>
          </p:cNvPr>
          <p:cNvSpPr/>
          <p:nvPr/>
        </p:nvSpPr>
        <p:spPr bwMode="auto">
          <a:xfrm>
            <a:off x="4384582" y="4123356"/>
            <a:ext cx="6995269" cy="1764701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aixaDeTexto 16">
            <a:extLst>
              <a:ext uri="{FF2B5EF4-FFF2-40B4-BE49-F238E27FC236}">
                <a16:creationId xmlns:a16="http://schemas.microsoft.com/office/drawing/2014/main" xmlns="" id="{1D6CE5E7-4FBB-48C2-AB3F-9D17C4029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068" y="3928757"/>
            <a:ext cx="5558244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Próximas Ações</a:t>
            </a:r>
            <a:endParaRPr kumimoji="0" lang="pt-BR" sz="18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7FBAAA58-9579-4C5F-8A55-38E1760FC0F7}"/>
              </a:ext>
            </a:extLst>
          </p:cNvPr>
          <p:cNvSpPr txBox="1"/>
          <p:nvPr/>
        </p:nvSpPr>
        <p:spPr>
          <a:xfrm>
            <a:off x="4541056" y="4492688"/>
            <a:ext cx="699526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bg1"/>
                </a:solidFill>
              </a:rPr>
              <a:t>Determinar processo para prova de conceito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bg1"/>
                </a:solidFill>
              </a:rPr>
              <a:t>Identificar oportunidades detalhadas e benefícios financeiros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bg1"/>
                </a:solidFill>
              </a:rPr>
              <a:t>Apresentar proposta para contratação dos serviços e sustentação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xmlns="" id="{E3105FAE-F8FB-4889-A1FE-C460D980CF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22028" y="1867903"/>
            <a:ext cx="1786827" cy="173348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F3AB7BD0-773C-4C13-B66A-4A64873935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31975" y="1048168"/>
            <a:ext cx="1786828" cy="173348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xmlns="" id="{B0A36FD0-A9FF-4EC2-97A3-919E5949B3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0406" y="3593846"/>
            <a:ext cx="1786827" cy="173348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xmlns="" id="{B929EFEA-14FF-4508-9129-62939D90B63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97026" y="4495662"/>
            <a:ext cx="1786826" cy="17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1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TOPOLOGIA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495" y="763988"/>
            <a:ext cx="9132598" cy="5600717"/>
          </a:xfrm>
          <a:prstGeom prst="rect">
            <a:avLst/>
          </a:prstGeom>
        </p:spPr>
      </p:pic>
      <p:pic>
        <p:nvPicPr>
          <p:cNvPr id="16" name="Imagem 12">
            <a:extLst>
              <a:ext uri="{FF2B5EF4-FFF2-40B4-BE49-F238E27FC236}">
                <a16:creationId xmlns:a16="http://schemas.microsoft.com/office/drawing/2014/main" xmlns="" id="{6CDA2947-0E1D-4AE7-BC06-350708120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474" y="1332152"/>
            <a:ext cx="2691096" cy="77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8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xmlns="" id="{B37C45E9-519B-4705-828C-CCEAE31C92CB}"/>
              </a:ext>
            </a:extLst>
          </p:cNvPr>
          <p:cNvSpPr/>
          <p:nvPr/>
        </p:nvSpPr>
        <p:spPr>
          <a:xfrm>
            <a:off x="3428999" y="1016556"/>
            <a:ext cx="6000750" cy="2731770"/>
          </a:xfrm>
          <a:prstGeom prst="ellipse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B02C047D-6C15-4ADB-BD14-2253CAF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0" y="0"/>
            <a:ext cx="2623245" cy="76020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B934621D-082E-4813-BBB9-F0BFB1E9F113}"/>
              </a:ext>
            </a:extLst>
          </p:cNvPr>
          <p:cNvSpPr txBox="1"/>
          <p:nvPr/>
        </p:nvSpPr>
        <p:spPr>
          <a:xfrm>
            <a:off x="3554729" y="1828086"/>
            <a:ext cx="55664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/>
              <a:t>Obrigado!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xmlns="" id="{518F3250-823D-4A2B-A454-8947DCF82B00}"/>
              </a:ext>
            </a:extLst>
          </p:cNvPr>
          <p:cNvSpPr txBox="1"/>
          <p:nvPr/>
        </p:nvSpPr>
        <p:spPr>
          <a:xfrm>
            <a:off x="1331063" y="4611231"/>
            <a:ext cx="89184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 smtClean="0">
                <a:solidFill>
                  <a:srgbClr val="003399"/>
                </a:solidFill>
              </a:rPr>
              <a:t>TriadeWan</a:t>
            </a:r>
            <a:r>
              <a:rPr lang="pt-BR" sz="2800" b="1" dirty="0" smtClean="0">
                <a:solidFill>
                  <a:srgbClr val="003399"/>
                </a:solidFill>
              </a:rPr>
              <a:t> Comércio e Serviços Eletrônicos</a:t>
            </a:r>
            <a:endParaRPr lang="pt-BR" sz="2800" b="1" dirty="0">
              <a:solidFill>
                <a:srgbClr val="003399"/>
              </a:solidFill>
            </a:endParaRPr>
          </a:p>
          <a:p>
            <a:r>
              <a:rPr lang="pt-BR" sz="2800" b="1" dirty="0">
                <a:solidFill>
                  <a:srgbClr val="003399"/>
                </a:solidFill>
              </a:rPr>
              <a:t>Arquitetura de </a:t>
            </a:r>
            <a:r>
              <a:rPr lang="pt-BR" sz="2800" b="1" dirty="0" smtClean="0">
                <a:solidFill>
                  <a:srgbClr val="003399"/>
                </a:solidFill>
              </a:rPr>
              <a:t>Soluções Digitais</a:t>
            </a:r>
            <a:endParaRPr lang="pt-BR" sz="2800" b="1" dirty="0">
              <a:solidFill>
                <a:srgbClr val="003399"/>
              </a:solidFill>
            </a:endParaRPr>
          </a:p>
          <a:p>
            <a:r>
              <a:rPr lang="pt-BR" sz="2800" b="1" dirty="0" smtClean="0">
                <a:solidFill>
                  <a:srgbClr val="003399"/>
                </a:solidFill>
              </a:rPr>
              <a:t>(011)-2313-0000</a:t>
            </a:r>
          </a:p>
          <a:p>
            <a:r>
              <a:rPr lang="pt-BR" sz="2800" b="1" dirty="0" smtClean="0">
                <a:solidFill>
                  <a:srgbClr val="003399"/>
                </a:solidFill>
              </a:rPr>
              <a:t>https://triadewan.com.br</a:t>
            </a:r>
            <a:endParaRPr lang="pt-BR" sz="2800" dirty="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64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lão de Fala: Oval 1">
            <a:extLst>
              <a:ext uri="{FF2B5EF4-FFF2-40B4-BE49-F238E27FC236}">
                <a16:creationId xmlns:a16="http://schemas.microsoft.com/office/drawing/2014/main" xmlns="" id="{4467BF18-4B30-4639-92ED-80BB670AB4B4}"/>
              </a:ext>
            </a:extLst>
          </p:cNvPr>
          <p:cNvSpPr/>
          <p:nvPr/>
        </p:nvSpPr>
        <p:spPr>
          <a:xfrm>
            <a:off x="3211830" y="1794510"/>
            <a:ext cx="6263640" cy="2994660"/>
          </a:xfrm>
          <a:prstGeom prst="wedgeEllipseCallout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B02C047D-6C15-4ADB-BD14-2253CAF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470" y="6203811"/>
            <a:ext cx="2623245" cy="76020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B934621D-082E-4813-BBB9-F0BFB1E9F113}"/>
              </a:ext>
            </a:extLst>
          </p:cNvPr>
          <p:cNvSpPr txBox="1"/>
          <p:nvPr/>
        </p:nvSpPr>
        <p:spPr>
          <a:xfrm>
            <a:off x="3646170" y="2640330"/>
            <a:ext cx="55664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solidFill>
                  <a:srgbClr val="002060"/>
                </a:solidFill>
              </a:rPr>
              <a:t>Perguntas...</a:t>
            </a:r>
          </a:p>
        </p:txBody>
      </p:sp>
    </p:spTree>
    <p:extLst>
      <p:ext uri="{BB962C8B-B14F-4D97-AF65-F5344CB8AC3E}">
        <p14:creationId xmlns:p14="http://schemas.microsoft.com/office/powerpoint/2010/main" val="132219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6D9017F8-2146-414A-A0CD-C1FC92D7FFA3}"/>
              </a:ext>
            </a:extLst>
          </p:cNvPr>
          <p:cNvCxnSpPr>
            <a:cxnSpLocks/>
          </p:cNvCxnSpPr>
          <p:nvPr/>
        </p:nvCxnSpPr>
        <p:spPr>
          <a:xfrm>
            <a:off x="400562" y="674771"/>
            <a:ext cx="4176215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xmlns="" id="{22E580CF-4450-4D91-9DE1-614779AD4509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PROCESSO ATIVAÇÃO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84" name="Agrupar 83">
            <a:extLst>
              <a:ext uri="{FF2B5EF4-FFF2-40B4-BE49-F238E27FC236}">
                <a16:creationId xmlns:a16="http://schemas.microsoft.com/office/drawing/2014/main" xmlns="" id="{48E1301C-66EC-4E21-9F4E-C05B7AAEF7F2}"/>
              </a:ext>
            </a:extLst>
          </p:cNvPr>
          <p:cNvGrpSpPr/>
          <p:nvPr/>
        </p:nvGrpSpPr>
        <p:grpSpPr>
          <a:xfrm>
            <a:off x="76212" y="1029124"/>
            <a:ext cx="12033111" cy="5661235"/>
            <a:chOff x="61303" y="992694"/>
            <a:chExt cx="12033111" cy="5661235"/>
          </a:xfrm>
        </p:grpSpPr>
        <p:sp>
          <p:nvSpPr>
            <p:cNvPr id="173" name="Retângulo: Cantos Arredondados 172">
              <a:extLst>
                <a:ext uri="{FF2B5EF4-FFF2-40B4-BE49-F238E27FC236}">
                  <a16:creationId xmlns:a16="http://schemas.microsoft.com/office/drawing/2014/main" xmlns="" id="{22F26A4E-DCA5-4184-BCE9-DF3D5203D2A6}"/>
                </a:ext>
              </a:extLst>
            </p:cNvPr>
            <p:cNvSpPr/>
            <p:nvPr/>
          </p:nvSpPr>
          <p:spPr>
            <a:xfrm>
              <a:off x="10779339" y="1010346"/>
              <a:ext cx="1315075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Conversão</a:t>
              </a:r>
            </a:p>
          </p:txBody>
        </p:sp>
        <p:sp>
          <p:nvSpPr>
            <p:cNvPr id="160" name="Retângulo: Cantos Arredondados 159">
              <a:extLst>
                <a:ext uri="{FF2B5EF4-FFF2-40B4-BE49-F238E27FC236}">
                  <a16:creationId xmlns:a16="http://schemas.microsoft.com/office/drawing/2014/main" xmlns="" id="{27A16F9A-38A6-403E-A0A0-0CA10EC9AC4B}"/>
                </a:ext>
              </a:extLst>
            </p:cNvPr>
            <p:cNvSpPr/>
            <p:nvPr/>
          </p:nvSpPr>
          <p:spPr>
            <a:xfrm>
              <a:off x="4515264" y="1001577"/>
              <a:ext cx="5803594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Abordagem – Régua de comunicação da Ativação</a:t>
              </a:r>
            </a:p>
          </p:txBody>
        </p:sp>
        <p:sp>
          <p:nvSpPr>
            <p:cNvPr id="159" name="Retângulo: Cantos Arredondados 158">
              <a:extLst>
                <a:ext uri="{FF2B5EF4-FFF2-40B4-BE49-F238E27FC236}">
                  <a16:creationId xmlns:a16="http://schemas.microsoft.com/office/drawing/2014/main" xmlns="" id="{512E6F30-0FDB-425A-A6ED-DFC015D81E8F}"/>
                </a:ext>
              </a:extLst>
            </p:cNvPr>
            <p:cNvSpPr/>
            <p:nvPr/>
          </p:nvSpPr>
          <p:spPr>
            <a:xfrm>
              <a:off x="591169" y="1020561"/>
              <a:ext cx="3649309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Inteligência</a:t>
              </a:r>
            </a:p>
          </p:txBody>
        </p:sp>
        <p:pic>
          <p:nvPicPr>
            <p:cNvPr id="186" name="Imagen 86" descr="iconos-01Naranja-80.png">
              <a:extLst>
                <a:ext uri="{FF2B5EF4-FFF2-40B4-BE49-F238E27FC236}">
                  <a16:creationId xmlns:a16="http://schemas.microsoft.com/office/drawing/2014/main" xmlns="" id="{3FC7345B-88C7-4A4D-B5EC-7C9271DF3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3395" y="1697647"/>
              <a:ext cx="642649" cy="43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xmlns="" id="{F4DA35B3-21D1-499A-946D-89B97C3C94BC}"/>
                </a:ext>
              </a:extLst>
            </p:cNvPr>
            <p:cNvSpPr txBox="1"/>
            <p:nvPr/>
          </p:nvSpPr>
          <p:spPr>
            <a:xfrm>
              <a:off x="1655856" y="4090392"/>
              <a:ext cx="133124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Clientes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agendados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Divisa 28">
              <a:extLst>
                <a:ext uri="{FF2B5EF4-FFF2-40B4-BE49-F238E27FC236}">
                  <a16:creationId xmlns:a16="http://schemas.microsoft.com/office/drawing/2014/main" xmlns="" id="{7D3E4CF4-A6B9-4DFC-B09B-04A195A05406}"/>
                </a:ext>
              </a:extLst>
            </p:cNvPr>
            <p:cNvSpPr/>
            <p:nvPr/>
          </p:nvSpPr>
          <p:spPr>
            <a:xfrm>
              <a:off x="2906297" y="3528340"/>
              <a:ext cx="294545" cy="458182"/>
            </a:xfrm>
            <a:prstGeom prst="chevron">
              <a:avLst/>
            </a:prstGeom>
            <a:solidFill>
              <a:srgbClr val="002060"/>
            </a:solidFill>
            <a:ln w="381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/>
                <a:ea typeface="Tahoma" pitchFamily="34" charset="0"/>
                <a:cs typeface="Tahoma" pitchFamily="34" charset="0"/>
              </a:endParaRPr>
            </a:p>
          </p:txBody>
        </p:sp>
        <p:pic>
          <p:nvPicPr>
            <p:cNvPr id="60" name="Imagem 59">
              <a:extLst>
                <a:ext uri="{FF2B5EF4-FFF2-40B4-BE49-F238E27FC236}">
                  <a16:creationId xmlns:a16="http://schemas.microsoft.com/office/drawing/2014/main" xmlns="" id="{D6549F4C-18A9-4A0C-9037-097C53DC9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412556" y="3360878"/>
              <a:ext cx="854816" cy="769334"/>
            </a:xfrm>
            <a:prstGeom prst="rect">
              <a:avLst/>
            </a:prstGeom>
            <a:ln>
              <a:noFill/>
            </a:ln>
          </p:spPr>
        </p:pic>
        <p:sp>
          <p:nvSpPr>
            <p:cNvPr id="61" name="CaixaDeTexto 60">
              <a:extLst>
                <a:ext uri="{FF2B5EF4-FFF2-40B4-BE49-F238E27FC236}">
                  <a16:creationId xmlns:a16="http://schemas.microsoft.com/office/drawing/2014/main" xmlns="" id="{8507DB83-EFE4-4358-8E0D-A90A583B147A}"/>
                </a:ext>
              </a:extLst>
            </p:cNvPr>
            <p:cNvSpPr txBox="1"/>
            <p:nvPr/>
          </p:nvSpPr>
          <p:spPr>
            <a:xfrm>
              <a:off x="3177522" y="4093179"/>
              <a:ext cx="1331245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Início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da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esteira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de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Ativação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2" name="Conector reto 61">
              <a:extLst>
                <a:ext uri="{FF2B5EF4-FFF2-40B4-BE49-F238E27FC236}">
                  <a16:creationId xmlns:a16="http://schemas.microsoft.com/office/drawing/2014/main" xmlns="" id="{EB696082-0BDB-4B8C-A5F1-43801E64E8A4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4061012" y="3655806"/>
              <a:ext cx="7209769" cy="16103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ysDot"/>
              <a:miter lim="800000"/>
              <a:tailEnd type="triangle" w="lg" len="lg"/>
            </a:ln>
            <a:effectLst/>
          </p:spPr>
        </p:cxnSp>
        <p:grpSp>
          <p:nvGrpSpPr>
            <p:cNvPr id="63" name="Agrupar 62">
              <a:extLst>
                <a:ext uri="{FF2B5EF4-FFF2-40B4-BE49-F238E27FC236}">
                  <a16:creationId xmlns:a16="http://schemas.microsoft.com/office/drawing/2014/main" xmlns="" id="{794E1358-8471-4BF2-B930-6C50495A76B8}"/>
                </a:ext>
              </a:extLst>
            </p:cNvPr>
            <p:cNvGrpSpPr/>
            <p:nvPr/>
          </p:nvGrpSpPr>
          <p:grpSpPr>
            <a:xfrm>
              <a:off x="4647474" y="3014911"/>
              <a:ext cx="167951" cy="816075"/>
              <a:chOff x="3290259" y="2689557"/>
              <a:chExt cx="167951" cy="816075"/>
            </a:xfrm>
          </p:grpSpPr>
          <p:sp>
            <p:nvSpPr>
              <p:cNvPr id="64" name="Elipse 63">
                <a:extLst>
                  <a:ext uri="{FF2B5EF4-FFF2-40B4-BE49-F238E27FC236}">
                    <a16:creationId xmlns:a16="http://schemas.microsoft.com/office/drawing/2014/main" xmlns="" id="{E1154D34-3597-453E-9B3D-5789E2B4E051}"/>
                  </a:ext>
                </a:extLst>
              </p:cNvPr>
              <p:cNvSpPr/>
              <p:nvPr/>
            </p:nvSpPr>
            <p:spPr>
              <a:xfrm>
                <a:off x="3290259" y="3337681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6" name="Conector reto 65">
                <a:extLst>
                  <a:ext uri="{FF2B5EF4-FFF2-40B4-BE49-F238E27FC236}">
                    <a16:creationId xmlns:a16="http://schemas.microsoft.com/office/drawing/2014/main" xmlns="" id="{9AFABB58-F037-4556-99F0-725D9DC2EF3B}"/>
                  </a:ext>
                </a:extLst>
              </p:cNvPr>
              <p:cNvCxnSpPr>
                <a:stCxn id="64" idx="0"/>
              </p:cNvCxnSpPr>
              <p:nvPr/>
            </p:nvCxnSpPr>
            <p:spPr>
              <a:xfrm flipH="1" flipV="1">
                <a:off x="3374234" y="2689557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xmlns="" id="{5E31BA03-E2F7-40CC-8FE0-38E0889BC96E}"/>
                </a:ext>
              </a:extLst>
            </p:cNvPr>
            <p:cNvSpPr txBox="1"/>
            <p:nvPr/>
          </p:nvSpPr>
          <p:spPr>
            <a:xfrm>
              <a:off x="4183420" y="2405497"/>
              <a:ext cx="1069759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 Digital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fará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abordagem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inicial</a:t>
              </a:r>
              <a:endParaRPr kumimoji="0" lang="en-US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2" name="Agrupar 71">
              <a:extLst>
                <a:ext uri="{FF2B5EF4-FFF2-40B4-BE49-F238E27FC236}">
                  <a16:creationId xmlns:a16="http://schemas.microsoft.com/office/drawing/2014/main" xmlns="" id="{9FCB2BDE-CE5E-41DD-BC21-946C969F29CC}"/>
                </a:ext>
              </a:extLst>
            </p:cNvPr>
            <p:cNvGrpSpPr/>
            <p:nvPr/>
          </p:nvGrpSpPr>
          <p:grpSpPr>
            <a:xfrm>
              <a:off x="6041913" y="3013446"/>
              <a:ext cx="167951" cy="816075"/>
              <a:chOff x="3182683" y="2703004"/>
              <a:chExt cx="167951" cy="816075"/>
            </a:xfrm>
          </p:grpSpPr>
          <p:sp>
            <p:nvSpPr>
              <p:cNvPr id="73" name="Elipse 72">
                <a:extLst>
                  <a:ext uri="{FF2B5EF4-FFF2-40B4-BE49-F238E27FC236}">
                    <a16:creationId xmlns:a16="http://schemas.microsoft.com/office/drawing/2014/main" xmlns="" id="{113A57F8-C7B2-4669-B0C0-8C3A9FC25B6D}"/>
                  </a:ext>
                </a:extLst>
              </p:cNvPr>
              <p:cNvSpPr/>
              <p:nvPr/>
            </p:nvSpPr>
            <p:spPr>
              <a:xfrm>
                <a:off x="3182683" y="3351128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74" name="Conector reto 73">
                <a:extLst>
                  <a:ext uri="{FF2B5EF4-FFF2-40B4-BE49-F238E27FC236}">
                    <a16:creationId xmlns:a16="http://schemas.microsoft.com/office/drawing/2014/main" xmlns="" id="{2F12714D-46C0-4F7F-85B4-440D86F065AD}"/>
                  </a:ext>
                </a:extLst>
              </p:cNvPr>
              <p:cNvCxnSpPr>
                <a:stCxn id="73" idx="0"/>
              </p:cNvCxnSpPr>
              <p:nvPr/>
            </p:nvCxnSpPr>
            <p:spPr>
              <a:xfrm flipH="1" flipV="1">
                <a:off x="3266658" y="2703004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xmlns="" id="{F038D04C-A611-4668-8A86-EAB8C0F902DD}"/>
                </a:ext>
              </a:extLst>
            </p:cNvPr>
            <p:cNvSpPr txBox="1"/>
            <p:nvPr/>
          </p:nvSpPr>
          <p:spPr>
            <a:xfrm>
              <a:off x="5446234" y="2390244"/>
              <a:ext cx="1508552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 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cliente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não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aceitar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abordagem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inicial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segue 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fluxo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agendamento</a:t>
              </a:r>
              <a:endParaRPr kumimoji="0" lang="en-US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6" name="Imagem 85">
              <a:extLst>
                <a:ext uri="{FF2B5EF4-FFF2-40B4-BE49-F238E27FC236}">
                  <a16:creationId xmlns:a16="http://schemas.microsoft.com/office/drawing/2014/main" xmlns="" id="{0447B739-8965-4474-B461-D182F4B6F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671203" y="1710498"/>
              <a:ext cx="894647" cy="6807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" name="Imagem 87">
              <a:extLst>
                <a:ext uri="{FF2B5EF4-FFF2-40B4-BE49-F238E27FC236}">
                  <a16:creationId xmlns:a16="http://schemas.microsoft.com/office/drawing/2014/main" xmlns="" id="{F4F7B86F-3410-48BF-93AA-2E1E2AAB1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270781" y="3348944"/>
              <a:ext cx="643914" cy="64592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xmlns="" id="{D5523605-F14E-4154-A6A2-8C42566C4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09501" y="3214615"/>
              <a:ext cx="1095691" cy="83367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2" name="Imagem 101">
              <a:extLst>
                <a:ext uri="{FF2B5EF4-FFF2-40B4-BE49-F238E27FC236}">
                  <a16:creationId xmlns:a16="http://schemas.microsoft.com/office/drawing/2014/main" xmlns="" id="{8ABCAE9C-F8AB-48AE-9CF5-747B83252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778" b="95556" l="5778" r="97333">
                          <a14:foregroundMark x1="18222" y1="20889" x2="18222" y2="20889"/>
                          <a14:foregroundMark x1="47111" y1="5778" x2="47111" y2="5778"/>
                          <a14:foregroundMark x1="87556" y1="23556" x2="87556" y2="23556"/>
                          <a14:foregroundMark x1="91111" y1="45778" x2="91111" y2="45778"/>
                          <a14:foregroundMark x1="90667" y1="58222" x2="90667" y2="58222"/>
                          <a14:foregroundMark x1="91111" y1="65333" x2="91111" y2="65333"/>
                          <a14:foregroundMark x1="14222" y1="68444" x2="14222" y2="68444"/>
                          <a14:foregroundMark x1="12889" y1="81778" x2="12889" y2="81778"/>
                          <a14:foregroundMark x1="22667" y1="88000" x2="22667" y2="88000"/>
                          <a14:foregroundMark x1="7556" y1="92000" x2="7556" y2="92000"/>
                          <a14:foregroundMark x1="9333" y1="87556" x2="9333" y2="87556"/>
                          <a14:foregroundMark x1="5778" y1="95556" x2="5778" y2="95556"/>
                          <a14:foregroundMark x1="97333" y1="48444" x2="97333" y2="48444"/>
                          <a14:foregroundMark x1="5778" y1="46222" x2="5778" y2="46222"/>
                          <a14:foregroundMark x1="36444" y1="35556" x2="36444" y2="3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24493" y="2939355"/>
              <a:ext cx="402963" cy="40296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8" name="Picture 2" descr="Resultado de imagem para bot icon png">
              <a:extLst>
                <a:ext uri="{FF2B5EF4-FFF2-40B4-BE49-F238E27FC236}">
                  <a16:creationId xmlns:a16="http://schemas.microsoft.com/office/drawing/2014/main" xmlns="" id="{DE964255-13D3-4657-8306-7DCD8C8454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1475" y="1748868"/>
              <a:ext cx="625098" cy="598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xmlns="" id="{ED954AD6-110D-4B56-B57E-E88752351B30}"/>
                </a:ext>
              </a:extLst>
            </p:cNvPr>
            <p:cNvSpPr txBox="1"/>
            <p:nvPr/>
          </p:nvSpPr>
          <p:spPr>
            <a:xfrm>
              <a:off x="61303" y="5364121"/>
              <a:ext cx="13312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sistema</a:t>
              </a:r>
              <a:endParaRPr kumimoji="0" lang="en-US" sz="1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xmlns="" id="{198796D4-8629-4FB4-BDF3-420169E1557B}"/>
                </a:ext>
              </a:extLst>
            </p:cNvPr>
            <p:cNvGrpSpPr/>
            <p:nvPr/>
          </p:nvGrpSpPr>
          <p:grpSpPr>
            <a:xfrm>
              <a:off x="149819" y="3300960"/>
              <a:ext cx="1103619" cy="864000"/>
              <a:chOff x="108873" y="2700087"/>
              <a:chExt cx="1103619" cy="864000"/>
            </a:xfrm>
          </p:grpSpPr>
          <p:pic>
            <p:nvPicPr>
              <p:cNvPr id="169" name="Imagen 211" descr="iconos-01-Blanco-29.png">
                <a:extLst>
                  <a:ext uri="{FF2B5EF4-FFF2-40B4-BE49-F238E27FC236}">
                    <a16:creationId xmlns:a16="http://schemas.microsoft.com/office/drawing/2014/main" xmlns="" id="{D9DB9CCE-634B-420C-BE1D-C15841466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8873" y="2700087"/>
                <a:ext cx="1103619" cy="8640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0" name="Imagem 169">
                <a:extLst>
                  <a:ext uri="{FF2B5EF4-FFF2-40B4-BE49-F238E27FC236}">
                    <a16:creationId xmlns:a16="http://schemas.microsoft.com/office/drawing/2014/main" xmlns="" id="{A9949B84-DC3D-45EA-A08E-0F9DC1E1D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6359" y="2765817"/>
                <a:ext cx="759044" cy="384639"/>
              </a:xfrm>
              <a:prstGeom prst="rect">
                <a:avLst/>
              </a:prstGeom>
            </p:spPr>
          </p:pic>
        </p:grpSp>
        <p:sp>
          <p:nvSpPr>
            <p:cNvPr id="171" name="Divisa 28">
              <a:extLst>
                <a:ext uri="{FF2B5EF4-FFF2-40B4-BE49-F238E27FC236}">
                  <a16:creationId xmlns:a16="http://schemas.microsoft.com/office/drawing/2014/main" xmlns="" id="{5D96AAB2-A8CA-4015-8651-7F48B1E71C0C}"/>
                </a:ext>
              </a:extLst>
            </p:cNvPr>
            <p:cNvSpPr/>
            <p:nvPr/>
          </p:nvSpPr>
          <p:spPr>
            <a:xfrm>
              <a:off x="1348649" y="3528340"/>
              <a:ext cx="294545" cy="458182"/>
            </a:xfrm>
            <a:prstGeom prst="chevron">
              <a:avLst/>
            </a:prstGeom>
            <a:solidFill>
              <a:srgbClr val="002060"/>
            </a:solidFill>
            <a:ln w="381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172" name="CaixaDeTexto 171">
              <a:extLst>
                <a:ext uri="{FF2B5EF4-FFF2-40B4-BE49-F238E27FC236}">
                  <a16:creationId xmlns:a16="http://schemas.microsoft.com/office/drawing/2014/main" xmlns="" id="{3F6D301D-97EF-456F-8E68-8A2E462B5F97}"/>
                </a:ext>
              </a:extLst>
            </p:cNvPr>
            <p:cNvSpPr txBox="1"/>
            <p:nvPr/>
          </p:nvSpPr>
          <p:spPr>
            <a:xfrm>
              <a:off x="139278" y="4109034"/>
              <a:ext cx="117529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Compra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via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SIte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0" name="Agrupar 179">
              <a:extLst>
                <a:ext uri="{FF2B5EF4-FFF2-40B4-BE49-F238E27FC236}">
                  <a16:creationId xmlns:a16="http://schemas.microsoft.com/office/drawing/2014/main" xmlns="" id="{52035BB6-7F37-4CA9-8119-41CBAF75788D}"/>
                </a:ext>
              </a:extLst>
            </p:cNvPr>
            <p:cNvGrpSpPr/>
            <p:nvPr/>
          </p:nvGrpSpPr>
          <p:grpSpPr>
            <a:xfrm>
              <a:off x="7889550" y="3025802"/>
              <a:ext cx="167951" cy="816075"/>
              <a:chOff x="3290259" y="2729898"/>
              <a:chExt cx="167951" cy="816075"/>
            </a:xfrm>
          </p:grpSpPr>
          <p:sp>
            <p:nvSpPr>
              <p:cNvPr id="181" name="Elipse 180">
                <a:extLst>
                  <a:ext uri="{FF2B5EF4-FFF2-40B4-BE49-F238E27FC236}">
                    <a16:creationId xmlns:a16="http://schemas.microsoft.com/office/drawing/2014/main" xmlns="" id="{D2D094D8-F296-4F99-99C0-C4B01C3FC09A}"/>
                  </a:ext>
                </a:extLst>
              </p:cNvPr>
              <p:cNvSpPr/>
              <p:nvPr/>
            </p:nvSpPr>
            <p:spPr>
              <a:xfrm>
                <a:off x="3290259" y="3378022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82" name="Conector reto 181">
                <a:extLst>
                  <a:ext uri="{FF2B5EF4-FFF2-40B4-BE49-F238E27FC236}">
                    <a16:creationId xmlns:a16="http://schemas.microsoft.com/office/drawing/2014/main" xmlns="" id="{6FB259CE-472E-4718-A1CE-2A5FC9E912CB}"/>
                  </a:ext>
                </a:extLst>
              </p:cNvPr>
              <p:cNvCxnSpPr>
                <a:stCxn id="181" idx="0"/>
              </p:cNvCxnSpPr>
              <p:nvPr/>
            </p:nvCxnSpPr>
            <p:spPr>
              <a:xfrm flipH="1" flipV="1">
                <a:off x="3374234" y="2729898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183" name="CaixaDeTexto 182">
              <a:extLst>
                <a:ext uri="{FF2B5EF4-FFF2-40B4-BE49-F238E27FC236}">
                  <a16:creationId xmlns:a16="http://schemas.microsoft.com/office/drawing/2014/main" xmlns="" id="{41B29FDF-6698-4654-9A2F-A70D5C89730D}"/>
                </a:ext>
              </a:extLst>
            </p:cNvPr>
            <p:cNvSpPr txBox="1"/>
            <p:nvPr/>
          </p:nvSpPr>
          <p:spPr>
            <a:xfrm>
              <a:off x="7147836" y="2376278"/>
              <a:ext cx="153489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SMS lembrando da Ativação e continuidade do contato via WhatsApp </a:t>
              </a:r>
            </a:p>
          </p:txBody>
        </p:sp>
        <p:sp>
          <p:nvSpPr>
            <p:cNvPr id="184" name="Elipse 183">
              <a:extLst>
                <a:ext uri="{FF2B5EF4-FFF2-40B4-BE49-F238E27FC236}">
                  <a16:creationId xmlns:a16="http://schemas.microsoft.com/office/drawing/2014/main" xmlns="" id="{EC4A8E14-3947-4F34-A115-E8C48FD563D0}"/>
                </a:ext>
              </a:extLst>
            </p:cNvPr>
            <p:cNvSpPr/>
            <p:nvPr/>
          </p:nvSpPr>
          <p:spPr>
            <a:xfrm>
              <a:off x="7705890" y="1793499"/>
              <a:ext cx="653380" cy="541808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5" name="CaixaDeTexto 184">
              <a:extLst>
                <a:ext uri="{FF2B5EF4-FFF2-40B4-BE49-F238E27FC236}">
                  <a16:creationId xmlns:a16="http://schemas.microsoft.com/office/drawing/2014/main" xmlns="" id="{474B5CAF-4AF0-4FCC-9C6A-19B75C551294}"/>
                </a:ext>
              </a:extLst>
            </p:cNvPr>
            <p:cNvSpPr txBox="1"/>
            <p:nvPr/>
          </p:nvSpPr>
          <p:spPr>
            <a:xfrm>
              <a:off x="7660951" y="1814193"/>
              <a:ext cx="7598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72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horas</a:t>
              </a:r>
            </a:p>
          </p:txBody>
        </p:sp>
        <p:pic>
          <p:nvPicPr>
            <p:cNvPr id="189" name="Imagen 86" descr="iconos-01Naranja-80.png">
              <a:extLst>
                <a:ext uri="{FF2B5EF4-FFF2-40B4-BE49-F238E27FC236}">
                  <a16:creationId xmlns:a16="http://schemas.microsoft.com/office/drawing/2014/main" xmlns="" id="{8A738644-1E07-4D48-8E40-64B82C42A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6692" y="1688393"/>
              <a:ext cx="648934" cy="44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0" name="Imagem 189">
              <a:extLst>
                <a:ext uri="{FF2B5EF4-FFF2-40B4-BE49-F238E27FC236}">
                  <a16:creationId xmlns:a16="http://schemas.microsoft.com/office/drawing/2014/main" xmlns="" id="{33BDD45D-3689-4549-893B-36A8BB92D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778" b="95556" l="5778" r="97333">
                          <a14:foregroundMark x1="18222" y1="20889" x2="18222" y2="20889"/>
                          <a14:foregroundMark x1="47111" y1="5778" x2="47111" y2="5778"/>
                          <a14:foregroundMark x1="87556" y1="23556" x2="87556" y2="23556"/>
                          <a14:foregroundMark x1="91111" y1="45778" x2="91111" y2="45778"/>
                          <a14:foregroundMark x1="90667" y1="58222" x2="90667" y2="58222"/>
                          <a14:foregroundMark x1="91111" y1="65333" x2="91111" y2="65333"/>
                          <a14:foregroundMark x1="14222" y1="68444" x2="14222" y2="68444"/>
                          <a14:foregroundMark x1="12889" y1="81778" x2="12889" y2="81778"/>
                          <a14:foregroundMark x1="22667" y1="88000" x2="22667" y2="88000"/>
                          <a14:foregroundMark x1="7556" y1="92000" x2="7556" y2="92000"/>
                          <a14:foregroundMark x1="9333" y1="87556" x2="9333" y2="87556"/>
                          <a14:foregroundMark x1="5778" y1="95556" x2="5778" y2="95556"/>
                          <a14:foregroundMark x1="97333" y1="48444" x2="97333" y2="48444"/>
                          <a14:foregroundMark x1="5778" y1="46222" x2="5778" y2="46222"/>
                          <a14:foregroundMark x1="36444" y1="35556" x2="36444" y2="3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21121" y="2925296"/>
              <a:ext cx="424631" cy="424631"/>
            </a:xfrm>
            <a:prstGeom prst="rect">
              <a:avLst/>
            </a:prstGeom>
            <a:ln>
              <a:noFill/>
            </a:ln>
          </p:spPr>
        </p:pic>
        <p:sp>
          <p:nvSpPr>
            <p:cNvPr id="191" name="CaixaDeTexto 190">
              <a:extLst>
                <a:ext uri="{FF2B5EF4-FFF2-40B4-BE49-F238E27FC236}">
                  <a16:creationId xmlns:a16="http://schemas.microsoft.com/office/drawing/2014/main" xmlns="" id="{A835D0C0-B81A-4571-97B0-021BC33D75DE}"/>
                </a:ext>
              </a:extLst>
            </p:cNvPr>
            <p:cNvSpPr txBox="1"/>
            <p:nvPr/>
          </p:nvSpPr>
          <p:spPr>
            <a:xfrm>
              <a:off x="8854160" y="2365341"/>
              <a:ext cx="16161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pt-BR" sz="1000" b="1" kern="0" dirty="0"/>
                <a:t>SMS  lembrando da Ativação e continuidade do contato via WhatsApp </a:t>
              </a:r>
            </a:p>
          </p:txBody>
        </p:sp>
        <p:sp>
          <p:nvSpPr>
            <p:cNvPr id="192" name="Elipse 191">
              <a:extLst>
                <a:ext uri="{FF2B5EF4-FFF2-40B4-BE49-F238E27FC236}">
                  <a16:creationId xmlns:a16="http://schemas.microsoft.com/office/drawing/2014/main" xmlns="" id="{47E0CE05-0ED1-48AB-9556-1CEEA21C8A44}"/>
                </a:ext>
              </a:extLst>
            </p:cNvPr>
            <p:cNvSpPr/>
            <p:nvPr/>
          </p:nvSpPr>
          <p:spPr>
            <a:xfrm>
              <a:off x="9534685" y="1788545"/>
              <a:ext cx="653380" cy="541808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3" name="CaixaDeTexto 192">
              <a:extLst>
                <a:ext uri="{FF2B5EF4-FFF2-40B4-BE49-F238E27FC236}">
                  <a16:creationId xmlns:a16="http://schemas.microsoft.com/office/drawing/2014/main" xmlns="" id="{590D6391-1675-4C08-9681-901B0E66CCFE}"/>
                </a:ext>
              </a:extLst>
            </p:cNvPr>
            <p:cNvSpPr txBox="1"/>
            <p:nvPr/>
          </p:nvSpPr>
          <p:spPr>
            <a:xfrm>
              <a:off x="9499310" y="1819031"/>
              <a:ext cx="7598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24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horas</a:t>
              </a:r>
            </a:p>
          </p:txBody>
        </p:sp>
        <p:grpSp>
          <p:nvGrpSpPr>
            <p:cNvPr id="194" name="Agrupar 193">
              <a:extLst>
                <a:ext uri="{FF2B5EF4-FFF2-40B4-BE49-F238E27FC236}">
                  <a16:creationId xmlns:a16="http://schemas.microsoft.com/office/drawing/2014/main" xmlns="" id="{C45A6F89-9F95-4A17-B1F8-124B9568F1AD}"/>
                </a:ext>
              </a:extLst>
            </p:cNvPr>
            <p:cNvGrpSpPr/>
            <p:nvPr/>
          </p:nvGrpSpPr>
          <p:grpSpPr>
            <a:xfrm>
              <a:off x="9494288" y="3028835"/>
              <a:ext cx="167951" cy="816075"/>
              <a:chOff x="3128898" y="2810580"/>
              <a:chExt cx="167951" cy="816075"/>
            </a:xfrm>
          </p:grpSpPr>
          <p:sp>
            <p:nvSpPr>
              <p:cNvPr id="195" name="Elipse 194">
                <a:extLst>
                  <a:ext uri="{FF2B5EF4-FFF2-40B4-BE49-F238E27FC236}">
                    <a16:creationId xmlns:a16="http://schemas.microsoft.com/office/drawing/2014/main" xmlns="" id="{6BD04727-7824-4FFF-B5B2-F941DAA0594A}"/>
                  </a:ext>
                </a:extLst>
              </p:cNvPr>
              <p:cNvSpPr/>
              <p:nvPr/>
            </p:nvSpPr>
            <p:spPr>
              <a:xfrm>
                <a:off x="3128898" y="3458704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96" name="Conector reto 195">
                <a:extLst>
                  <a:ext uri="{FF2B5EF4-FFF2-40B4-BE49-F238E27FC236}">
                    <a16:creationId xmlns:a16="http://schemas.microsoft.com/office/drawing/2014/main" xmlns="" id="{02D936A4-B479-45FF-BF3B-4608AFA335B8}"/>
                  </a:ext>
                </a:extLst>
              </p:cNvPr>
              <p:cNvCxnSpPr>
                <a:stCxn id="195" idx="0"/>
              </p:cNvCxnSpPr>
              <p:nvPr/>
            </p:nvCxnSpPr>
            <p:spPr>
              <a:xfrm flipH="1" flipV="1">
                <a:off x="3212873" y="2810580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xmlns="" id="{BD30C647-3E91-424A-B88D-FE3C37A0C3E1}"/>
                </a:ext>
              </a:extLst>
            </p:cNvPr>
            <p:cNvGrpSpPr/>
            <p:nvPr/>
          </p:nvGrpSpPr>
          <p:grpSpPr>
            <a:xfrm>
              <a:off x="5023203" y="4099678"/>
              <a:ext cx="5899121" cy="2554251"/>
              <a:chOff x="5317420" y="3996644"/>
              <a:chExt cx="5512128" cy="2618843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xmlns="" id="{B83B9C69-4D56-420E-85E1-F93780225E74}"/>
                  </a:ext>
                </a:extLst>
              </p:cNvPr>
              <p:cNvSpPr/>
              <p:nvPr/>
            </p:nvSpPr>
            <p:spPr>
              <a:xfrm>
                <a:off x="5317420" y="3996644"/>
                <a:ext cx="5512128" cy="261884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CaixaDeTexto 125">
                <a:extLst>
                  <a:ext uri="{FF2B5EF4-FFF2-40B4-BE49-F238E27FC236}">
                    <a16:creationId xmlns:a16="http://schemas.microsoft.com/office/drawing/2014/main" xmlns="" id="{0F278539-E137-4A95-8E6A-40AF84839A6E}"/>
                  </a:ext>
                </a:extLst>
              </p:cNvPr>
              <p:cNvSpPr txBox="1"/>
              <p:nvPr/>
            </p:nvSpPr>
            <p:spPr>
              <a:xfrm>
                <a:off x="5727304" y="4070818"/>
                <a:ext cx="4708647" cy="44178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Durante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este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ciclo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o Sistema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deve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consultar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clientes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que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já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realizaram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o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processo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Ativação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somente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abordar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que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ainda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estão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pendentes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tratativa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  <p:grpSp>
            <p:nvGrpSpPr>
              <p:cNvPr id="20" name="Agrupar 19">
                <a:extLst>
                  <a:ext uri="{FF2B5EF4-FFF2-40B4-BE49-F238E27FC236}">
                    <a16:creationId xmlns:a16="http://schemas.microsoft.com/office/drawing/2014/main" xmlns="" id="{C0B08A12-50CA-4F32-AD3F-93C518CFC104}"/>
                  </a:ext>
                </a:extLst>
              </p:cNvPr>
              <p:cNvGrpSpPr/>
              <p:nvPr/>
            </p:nvGrpSpPr>
            <p:grpSpPr>
              <a:xfrm>
                <a:off x="6762059" y="4472185"/>
                <a:ext cx="3126964" cy="2069454"/>
                <a:chOff x="7078893" y="4347313"/>
                <a:chExt cx="3126964" cy="2069454"/>
              </a:xfrm>
              <a:grpFill/>
            </p:grpSpPr>
            <p:pic>
              <p:nvPicPr>
                <p:cNvPr id="200" name="Imagem 199">
                  <a:extLst>
                    <a:ext uri="{FF2B5EF4-FFF2-40B4-BE49-F238E27FC236}">
                      <a16:creationId xmlns:a16="http://schemas.microsoft.com/office/drawing/2014/main" xmlns="" id="{36D8381E-6669-4207-A5E9-367514E8AD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BEBA8EAE-BF5A-486C-A8C5-ECC9F3942E4B}">
                      <a14:imgProps xmlns:a14="http://schemas.microsoft.com/office/drawing/2010/main">
                        <a14:imgLayer r:embed="rId15">
                          <a14:imgEffect>
                            <a14:saturation sat="33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380" y="4347313"/>
                  <a:ext cx="638667" cy="649678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softEdge rad="112500"/>
                </a:effectLst>
              </p:spPr>
            </p:pic>
            <p:cxnSp>
              <p:nvCxnSpPr>
                <p:cNvPr id="203" name="Conector: Angulado 202">
                  <a:extLst>
                    <a:ext uri="{FF2B5EF4-FFF2-40B4-BE49-F238E27FC236}">
                      <a16:creationId xmlns:a16="http://schemas.microsoft.com/office/drawing/2014/main" xmlns="" id="{9473E596-615C-4DDD-A300-379E287C59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23306" y="4850615"/>
                  <a:ext cx="257102" cy="668186"/>
                </a:xfrm>
                <a:prstGeom prst="bentConnector3">
                  <a:avLst>
                    <a:gd name="adj1" fmla="val 50000"/>
                  </a:avLst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Conector: Angulado 203">
                  <a:extLst>
                    <a:ext uri="{FF2B5EF4-FFF2-40B4-BE49-F238E27FC236}">
                      <a16:creationId xmlns:a16="http://schemas.microsoft.com/office/drawing/2014/main" xmlns="" id="{CC3A5A4A-EFAA-4B63-8E53-41CBC9D79E2E}"/>
                    </a:ext>
                  </a:extLst>
                </p:cNvPr>
                <p:cNvCxnSpPr/>
                <p:nvPr/>
              </p:nvCxnSpPr>
              <p:spPr>
                <a:xfrm>
                  <a:off x="8760446" y="4850615"/>
                  <a:ext cx="347105" cy="652342"/>
                </a:xfrm>
                <a:prstGeom prst="bentConnector3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5" name="CaixaDeTexto 204">
                  <a:extLst>
                    <a:ext uri="{FF2B5EF4-FFF2-40B4-BE49-F238E27FC236}">
                      <a16:creationId xmlns:a16="http://schemas.microsoft.com/office/drawing/2014/main" xmlns="" id="{777193F0-4BCF-472E-A125-C39349C8A04D}"/>
                    </a:ext>
                  </a:extLst>
                </p:cNvPr>
                <p:cNvSpPr txBox="1"/>
                <p:nvPr/>
              </p:nvSpPr>
              <p:spPr>
                <a:xfrm>
                  <a:off x="7974201" y="4932216"/>
                  <a:ext cx="1019024" cy="5680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Realiza</a:t>
                  </a: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Consulta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Sistema</a:t>
                  </a:r>
                </a:p>
              </p:txBody>
            </p:sp>
            <p:sp>
              <p:nvSpPr>
                <p:cNvPr id="208" name="CaixaDeTexto 207">
                  <a:extLst>
                    <a:ext uri="{FF2B5EF4-FFF2-40B4-BE49-F238E27FC236}">
                      <a16:creationId xmlns:a16="http://schemas.microsoft.com/office/drawing/2014/main" xmlns="" id="{6F6DB23D-6706-4483-9BBC-2E70F9084A95}"/>
                    </a:ext>
                  </a:extLst>
                </p:cNvPr>
                <p:cNvSpPr txBox="1"/>
                <p:nvPr/>
              </p:nvSpPr>
              <p:spPr>
                <a:xfrm>
                  <a:off x="7078893" y="5681853"/>
                  <a:ext cx="1331245" cy="252447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defTabSz="9144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100" b="1" i="1" u="none" strike="noStrike" kern="0" cap="none" spc="0" normalizeH="0" baseline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defRPr>
                  </a:lvl1pPr>
                </a:lstStyle>
                <a:p>
                  <a:r>
                    <a:rPr lang="en-US"/>
                    <a:t>Robô</a:t>
                  </a:r>
                  <a:endParaRPr lang="en-US" dirty="0"/>
                </a:p>
              </p:txBody>
            </p:sp>
            <p:sp>
              <p:nvSpPr>
                <p:cNvPr id="209" name="CaixaDeTexto 208">
                  <a:extLst>
                    <a:ext uri="{FF2B5EF4-FFF2-40B4-BE49-F238E27FC236}">
                      <a16:creationId xmlns:a16="http://schemas.microsoft.com/office/drawing/2014/main" xmlns="" id="{E480ED80-7B5A-44C0-9B17-0E780973370D}"/>
                    </a:ext>
                  </a:extLst>
                </p:cNvPr>
                <p:cNvSpPr txBox="1"/>
                <p:nvPr/>
              </p:nvSpPr>
              <p:spPr>
                <a:xfrm>
                  <a:off x="8685894" y="5627868"/>
                  <a:ext cx="1519963" cy="725787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defTabSz="9144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100" b="1" i="1" u="none" strike="noStrike" kern="0" cap="none" spc="0" normalizeH="0" baseline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defRPr>
                  </a:lvl1pPr>
                </a:lstStyle>
                <a:p>
                  <a:r>
                    <a:rPr lang="en-US"/>
                    <a:t>Se não</a:t>
                  </a:r>
                  <a:r>
                    <a:rPr lang="en-US" dirty="0"/>
                    <a:t> </a:t>
                  </a:r>
                  <a:r>
                    <a:rPr lang="en-US"/>
                    <a:t>for localizada a Ativação em sistema</a:t>
                  </a:r>
                  <a:r>
                    <a:rPr lang="en-US" dirty="0"/>
                    <a:t>,  segue com </a:t>
                  </a:r>
                  <a:r>
                    <a:rPr lang="en-US"/>
                    <a:t>a regua</a:t>
                  </a:r>
                  <a:r>
                    <a:rPr lang="en-US" dirty="0"/>
                    <a:t> </a:t>
                  </a:r>
                  <a:r>
                    <a:rPr lang="en-US"/>
                    <a:t>de comunicação</a:t>
                  </a:r>
                  <a:endParaRPr lang="en-US" dirty="0"/>
                </a:p>
              </p:txBody>
            </p:sp>
          </p:grpSp>
        </p:grpSp>
        <p:sp>
          <p:nvSpPr>
            <p:cNvPr id="91" name="CaixaDeTexto 90">
              <a:extLst>
                <a:ext uri="{FF2B5EF4-FFF2-40B4-BE49-F238E27FC236}">
                  <a16:creationId xmlns:a16="http://schemas.microsoft.com/office/drawing/2014/main" xmlns="" id="{6A49329D-2638-433E-B7A9-9793F3FD206B}"/>
                </a:ext>
              </a:extLst>
            </p:cNvPr>
            <p:cNvSpPr txBox="1"/>
            <p:nvPr/>
          </p:nvSpPr>
          <p:spPr>
            <a:xfrm>
              <a:off x="1573501" y="5315785"/>
              <a:ext cx="13312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i="1" kern="0" dirty="0" err="1">
                  <a:latin typeface="Calibri" panose="020F0502020204030204"/>
                </a:rPr>
                <a:t>Robô</a:t>
              </a:r>
              <a:r>
                <a:rPr lang="en-US" sz="1000" b="1" i="1" kern="0" dirty="0">
                  <a:latin typeface="Calibri" panose="020F0502020204030204"/>
                </a:rPr>
                <a:t> </a:t>
              </a:r>
              <a:r>
                <a:rPr lang="en-US" sz="1000" b="1" i="1" kern="0" dirty="0" err="1">
                  <a:latin typeface="Calibri" panose="020F0502020204030204"/>
                </a:rPr>
                <a:t>executa</a:t>
              </a:r>
              <a:r>
                <a:rPr lang="en-US" sz="1000" b="1" i="1" kern="0" dirty="0">
                  <a:latin typeface="Calibri" panose="020F0502020204030204"/>
                </a:rPr>
                <a:t> o </a:t>
              </a:r>
              <a:r>
                <a:rPr lang="en-US" sz="1000" b="1" i="1" kern="0" dirty="0" err="1">
                  <a:latin typeface="Calibri" panose="020F0502020204030204"/>
                </a:rPr>
                <a:t>agendamento</a:t>
              </a:r>
              <a:endParaRPr kumimoji="0" lang="en-US" sz="1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xmlns="" id="{81032B4F-FF8B-48D6-9995-84F47A1B24E3}"/>
                </a:ext>
              </a:extLst>
            </p:cNvPr>
            <p:cNvCxnSpPr>
              <a:cxnSpLocks/>
              <a:stCxn id="108" idx="6"/>
              <a:endCxn id="107" idx="1"/>
            </p:cNvCxnSpPr>
            <p:nvPr/>
          </p:nvCxnSpPr>
          <p:spPr>
            <a:xfrm flipV="1">
              <a:off x="1051693" y="5078238"/>
              <a:ext cx="906015" cy="7812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de Seta Reta 92">
              <a:extLst>
                <a:ext uri="{FF2B5EF4-FFF2-40B4-BE49-F238E27FC236}">
                  <a16:creationId xmlns:a16="http://schemas.microsoft.com/office/drawing/2014/main" xmlns="" id="{2236C673-0B12-45DF-AFAA-B5E2E6FF7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4764" y="4386386"/>
              <a:ext cx="0" cy="46023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de Seta Reta 100">
              <a:extLst>
                <a:ext uri="{FF2B5EF4-FFF2-40B4-BE49-F238E27FC236}">
                  <a16:creationId xmlns:a16="http://schemas.microsoft.com/office/drawing/2014/main" xmlns="" id="{4690310B-1500-4081-B928-F45055B5E480}"/>
                </a:ext>
              </a:extLst>
            </p:cNvPr>
            <p:cNvCxnSpPr>
              <a:cxnSpLocks/>
              <a:stCxn id="172" idx="2"/>
              <a:endCxn id="108" idx="0"/>
            </p:cNvCxnSpPr>
            <p:nvPr/>
          </p:nvCxnSpPr>
          <p:spPr>
            <a:xfrm>
              <a:off x="726926" y="4370644"/>
              <a:ext cx="5434" cy="390567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Imagem 105">
              <a:extLst>
                <a:ext uri="{FF2B5EF4-FFF2-40B4-BE49-F238E27FC236}">
                  <a16:creationId xmlns:a16="http://schemas.microsoft.com/office/drawing/2014/main" xmlns="" id="{5EDBA8B2-2BE5-4726-B7DD-3CD28E221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61607" y1="46875" x2="61607" y2="46875"/>
                          <a14:foregroundMark x1="40625" y1="48214" x2="40625" y2="48214"/>
                          <a14:foregroundMark x1="42857" y1="58036" x2="42857" y2="58036"/>
                          <a14:foregroundMark x1="64732" y1="60714" x2="64732" y2="60714"/>
                          <a14:foregroundMark x1="50446" y1="50446" x2="50446" y2="50446"/>
                          <a14:foregroundMark x1="46429" y1="44643" x2="46429" y2="44643"/>
                          <a14:foregroundMark x1="46429" y1="43304" x2="46429" y2="43304"/>
                          <a14:foregroundMark x1="38839" y1="56696" x2="38839" y2="56696"/>
                          <a14:foregroundMark x1="35268" y1="61161" x2="36607" y2="61161"/>
                          <a14:foregroundMark x1="50893" y1="62500" x2="50893" y2="62500"/>
                          <a14:foregroundMark x1="48214" y1="69643" x2="48214" y2="69643"/>
                          <a14:foregroundMark x1="49554" y1="70536" x2="49554" y2="70536"/>
                          <a14:foregroundMark x1="61161" y1="64286" x2="61607" y2="62500"/>
                          <a14:foregroundMark x1="67411" y1="56696" x2="67411" y2="56696"/>
                          <a14:foregroundMark x1="67411" y1="51339" x2="67411" y2="51339"/>
                          <a14:foregroundMark x1="65625" y1="44196" x2="65625" y2="44196"/>
                          <a14:foregroundMark x1="53571" y1="53125" x2="53571" y2="53125"/>
                          <a14:foregroundMark x1="50446" y1="57143" x2="50446" y2="57143"/>
                          <a14:foregroundMark x1="48661" y1="57143" x2="48661" y2="57143"/>
                          <a14:foregroundMark x1="48661" y1="49554" x2="48661" y2="49554"/>
                          <a14:foregroundMark x1="34375" y1="44196" x2="34375" y2="44196"/>
                          <a14:foregroundMark x1="30357" y1="48661" x2="30357" y2="48661"/>
                          <a14:foregroundMark x1="30357" y1="51339" x2="30357" y2="53125"/>
                          <a14:foregroundMark x1="32143" y1="58036" x2="32143" y2="58036"/>
                          <a14:foregroundMark x1="32589" y1="59375" x2="32589" y2="59375"/>
                          <a14:foregroundMark x1="35714" y1="63839" x2="35268" y2="65179"/>
                          <a14:foregroundMark x1="33482" y1="65179" x2="33482" y2="65179"/>
                          <a14:foregroundMark x1="32143" y1="60268" x2="32143" y2="60268"/>
                          <a14:foregroundMark x1="33482" y1="43304" x2="33482" y2="43304"/>
                          <a14:foregroundMark x1="36607" y1="42411" x2="36607" y2="42411"/>
                          <a14:foregroundMark x1="40625" y1="42857" x2="48214" y2="42857"/>
                          <a14:foregroundMark x1="54464" y1="42857" x2="54464" y2="42857"/>
                          <a14:foregroundMark x1="57589" y1="42857" x2="61607" y2="42857"/>
                          <a14:foregroundMark x1="65625" y1="43304" x2="65625" y2="43304"/>
                          <a14:foregroundMark x1="66964" y1="45982" x2="67411" y2="48661"/>
                          <a14:foregroundMark x1="67411" y1="50893" x2="67411" y2="52232"/>
                          <a14:foregroundMark x1="50893" y1="30357" x2="50893" y2="30357"/>
                          <a14:foregroundMark x1="75446" y1="51786" x2="75446" y2="5178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58183" y="5299769"/>
              <a:ext cx="620332" cy="597132"/>
            </a:xfrm>
            <a:prstGeom prst="rect">
              <a:avLst/>
            </a:prstGeom>
          </p:spPr>
        </p:pic>
        <p:pic>
          <p:nvPicPr>
            <p:cNvPr id="107" name="Imagem 106">
              <a:extLst>
                <a:ext uri="{FF2B5EF4-FFF2-40B4-BE49-F238E27FC236}">
                  <a16:creationId xmlns:a16="http://schemas.microsoft.com/office/drawing/2014/main" xmlns="" id="{F0C08A9F-1180-46F8-BEAB-EA69C8777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61607" y1="46875" x2="61607" y2="46875"/>
                          <a14:foregroundMark x1="40625" y1="48214" x2="40625" y2="48214"/>
                          <a14:foregroundMark x1="42857" y1="58036" x2="42857" y2="58036"/>
                          <a14:foregroundMark x1="64732" y1="60714" x2="64732" y2="60714"/>
                          <a14:foregroundMark x1="50446" y1="50446" x2="50446" y2="50446"/>
                          <a14:foregroundMark x1="46429" y1="44643" x2="46429" y2="44643"/>
                          <a14:foregroundMark x1="46429" y1="43304" x2="46429" y2="43304"/>
                          <a14:foregroundMark x1="38839" y1="56696" x2="38839" y2="56696"/>
                          <a14:foregroundMark x1="35268" y1="61161" x2="36607" y2="61161"/>
                          <a14:foregroundMark x1="50893" y1="62500" x2="50893" y2="62500"/>
                          <a14:foregroundMark x1="48214" y1="69643" x2="48214" y2="69643"/>
                          <a14:foregroundMark x1="49554" y1="70536" x2="49554" y2="70536"/>
                          <a14:foregroundMark x1="61161" y1="64286" x2="61607" y2="62500"/>
                          <a14:foregroundMark x1="67411" y1="56696" x2="67411" y2="56696"/>
                          <a14:foregroundMark x1="67411" y1="51339" x2="67411" y2="51339"/>
                          <a14:foregroundMark x1="65625" y1="44196" x2="65625" y2="44196"/>
                          <a14:foregroundMark x1="53571" y1="53125" x2="53571" y2="53125"/>
                          <a14:foregroundMark x1="50446" y1="57143" x2="50446" y2="57143"/>
                          <a14:foregroundMark x1="48661" y1="57143" x2="48661" y2="57143"/>
                          <a14:foregroundMark x1="48661" y1="49554" x2="48661" y2="49554"/>
                          <a14:foregroundMark x1="34375" y1="44196" x2="34375" y2="44196"/>
                          <a14:foregroundMark x1="30357" y1="48661" x2="30357" y2="48661"/>
                          <a14:foregroundMark x1="30357" y1="51339" x2="30357" y2="53125"/>
                          <a14:foregroundMark x1="32143" y1="58036" x2="32143" y2="58036"/>
                          <a14:foregroundMark x1="32589" y1="59375" x2="32589" y2="59375"/>
                          <a14:foregroundMark x1="35714" y1="63839" x2="35268" y2="65179"/>
                          <a14:foregroundMark x1="33482" y1="65179" x2="33482" y2="65179"/>
                          <a14:foregroundMark x1="32143" y1="60268" x2="32143" y2="60268"/>
                          <a14:foregroundMark x1="33482" y1="43304" x2="33482" y2="43304"/>
                          <a14:foregroundMark x1="36607" y1="42411" x2="36607" y2="42411"/>
                          <a14:foregroundMark x1="40625" y1="42857" x2="48214" y2="42857"/>
                          <a14:foregroundMark x1="54464" y1="42857" x2="54464" y2="42857"/>
                          <a14:foregroundMark x1="57589" y1="42857" x2="61607" y2="42857"/>
                          <a14:foregroundMark x1="65625" y1="43304" x2="65625" y2="43304"/>
                          <a14:foregroundMark x1="66964" y1="45982" x2="67411" y2="48661"/>
                          <a14:foregroundMark x1="67411" y1="50893" x2="67411" y2="52232"/>
                          <a14:foregroundMark x1="50893" y1="30357" x2="50893" y2="30357"/>
                          <a14:foregroundMark x1="75446" y1="51786" x2="75446" y2="5178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57708" y="4779672"/>
              <a:ext cx="620332" cy="597132"/>
            </a:xfrm>
            <a:prstGeom prst="rect">
              <a:avLst/>
            </a:prstGeom>
          </p:spPr>
        </p:pic>
        <p:pic>
          <p:nvPicPr>
            <p:cNvPr id="108" name="Imagem 107">
              <a:extLst>
                <a:ext uri="{FF2B5EF4-FFF2-40B4-BE49-F238E27FC236}">
                  <a16:creationId xmlns:a16="http://schemas.microsoft.com/office/drawing/2014/main" xmlns="" id="{588C3359-9B27-4AE0-8732-F36C3FDAD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3026" y="4761211"/>
              <a:ext cx="638667" cy="649678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45" name="Elipse 144">
              <a:extLst>
                <a:ext uri="{FF2B5EF4-FFF2-40B4-BE49-F238E27FC236}">
                  <a16:creationId xmlns:a16="http://schemas.microsoft.com/office/drawing/2014/main" xmlns="" id="{A2222D40-7363-4C80-9A72-57FBDCDEDD60}"/>
                </a:ext>
              </a:extLst>
            </p:cNvPr>
            <p:cNvSpPr/>
            <p:nvPr/>
          </p:nvSpPr>
          <p:spPr>
            <a:xfrm>
              <a:off x="191715" y="992694"/>
              <a:ext cx="501118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6" name="Rectangle 7">
              <a:extLst>
                <a:ext uri="{FF2B5EF4-FFF2-40B4-BE49-F238E27FC236}">
                  <a16:creationId xmlns:a16="http://schemas.microsoft.com/office/drawing/2014/main" xmlns="" id="{3BF5953E-764D-48DE-A4BA-FC1A1CE28DB5}"/>
                </a:ext>
              </a:extLst>
            </p:cNvPr>
            <p:cNvSpPr/>
            <p:nvPr/>
          </p:nvSpPr>
          <p:spPr>
            <a:xfrm>
              <a:off x="287860" y="1075753"/>
              <a:ext cx="280840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3" name="Elipse 152">
              <a:extLst>
                <a:ext uri="{FF2B5EF4-FFF2-40B4-BE49-F238E27FC236}">
                  <a16:creationId xmlns:a16="http://schemas.microsoft.com/office/drawing/2014/main" xmlns="" id="{1D81D92D-E1CB-4B41-BC73-920265645ADA}"/>
                </a:ext>
              </a:extLst>
            </p:cNvPr>
            <p:cNvSpPr/>
            <p:nvPr/>
          </p:nvSpPr>
          <p:spPr>
            <a:xfrm>
              <a:off x="4331673" y="1002338"/>
              <a:ext cx="558809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4" name="Rectangle 7">
              <a:extLst>
                <a:ext uri="{FF2B5EF4-FFF2-40B4-BE49-F238E27FC236}">
                  <a16:creationId xmlns:a16="http://schemas.microsoft.com/office/drawing/2014/main" xmlns="" id="{85CE7B8A-7AF8-4753-9997-910BB6414426}"/>
                </a:ext>
              </a:extLst>
            </p:cNvPr>
            <p:cNvSpPr/>
            <p:nvPr/>
          </p:nvSpPr>
          <p:spPr>
            <a:xfrm>
              <a:off x="4468143" y="1040990"/>
              <a:ext cx="313172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xmlns="" id="{7CDBEA7B-4931-4FD0-9109-84A84E8847DF}"/>
                </a:ext>
              </a:extLst>
            </p:cNvPr>
            <p:cNvSpPr/>
            <p:nvPr/>
          </p:nvSpPr>
          <p:spPr>
            <a:xfrm>
              <a:off x="10394312" y="992694"/>
              <a:ext cx="501118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8" name="Rectangle 7">
              <a:extLst>
                <a:ext uri="{FF2B5EF4-FFF2-40B4-BE49-F238E27FC236}">
                  <a16:creationId xmlns:a16="http://schemas.microsoft.com/office/drawing/2014/main" xmlns="" id="{891028BD-3FC4-4C2C-B960-0400AE4B5568}"/>
                </a:ext>
              </a:extLst>
            </p:cNvPr>
            <p:cNvSpPr/>
            <p:nvPr/>
          </p:nvSpPr>
          <p:spPr>
            <a:xfrm>
              <a:off x="10497266" y="1050335"/>
              <a:ext cx="280840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  <p:pic>
          <p:nvPicPr>
            <p:cNvPr id="174" name="Picture 2" descr="Resultado de imagem para bot icon png">
              <a:extLst>
                <a:ext uri="{FF2B5EF4-FFF2-40B4-BE49-F238E27FC236}">
                  <a16:creationId xmlns:a16="http://schemas.microsoft.com/office/drawing/2014/main" xmlns="" id="{1C15F701-A861-4EF1-819C-21510A807E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4937" y="5368371"/>
              <a:ext cx="552166" cy="528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6" name="CaixaDeTexto 175">
            <a:extLst>
              <a:ext uri="{FF2B5EF4-FFF2-40B4-BE49-F238E27FC236}">
                <a16:creationId xmlns:a16="http://schemas.microsoft.com/office/drawing/2014/main" xmlns="" id="{CA31C4F4-D33B-453A-A559-1992E929A9EE}"/>
              </a:ext>
            </a:extLst>
          </p:cNvPr>
          <p:cNvSpPr txBox="1"/>
          <p:nvPr/>
        </p:nvSpPr>
        <p:spPr>
          <a:xfrm>
            <a:off x="10966744" y="3966837"/>
            <a:ext cx="1175296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kern="0" dirty="0" err="1">
                <a:latin typeface="Calibri" panose="020F0502020204030204"/>
              </a:rPr>
              <a:t>Agente</a:t>
            </a:r>
            <a:r>
              <a:rPr lang="en-US" sz="1100" b="1" i="1" kern="0" dirty="0">
                <a:latin typeface="Calibri" panose="020F0502020204030204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kern="0" dirty="0">
                <a:latin typeface="Calibri" panose="020F0502020204030204"/>
              </a:rPr>
              <a:t>Digital</a:t>
            </a:r>
            <a:endParaRPr kumimoji="0" lang="en-US" sz="11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xmlns="" id="{15425527-A782-49E3-BF56-3A76C4409ADC}"/>
              </a:ext>
            </a:extLst>
          </p:cNvPr>
          <p:cNvSpPr txBox="1"/>
          <p:nvPr/>
        </p:nvSpPr>
        <p:spPr>
          <a:xfrm>
            <a:off x="1026044" y="6159888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</p:spTree>
    <p:extLst>
      <p:ext uri="{BB962C8B-B14F-4D97-AF65-F5344CB8AC3E}">
        <p14:creationId xmlns:p14="http://schemas.microsoft.com/office/powerpoint/2010/main" val="182419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tângulo 130">
            <a:extLst>
              <a:ext uri="{FF2B5EF4-FFF2-40B4-BE49-F238E27FC236}">
                <a16:creationId xmlns:a16="http://schemas.microsoft.com/office/drawing/2014/main" xmlns="" id="{B2684ED9-9CF8-4E70-8E56-4F408A59180C}"/>
              </a:ext>
            </a:extLst>
          </p:cNvPr>
          <p:cNvSpPr/>
          <p:nvPr/>
        </p:nvSpPr>
        <p:spPr>
          <a:xfrm>
            <a:off x="354842" y="2266947"/>
            <a:ext cx="11482315" cy="4423412"/>
          </a:xfrm>
          <a:prstGeom prst="rect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algn="ctr"/>
            <a:endParaRPr lang="pt-BR" kern="0" dirty="0">
              <a:latin typeface="Calibri"/>
            </a:endParaRPr>
          </a:p>
        </p:txBody>
      </p:sp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5" name="CaixaDeTexto 134">
            <a:extLst>
              <a:ext uri="{FF2B5EF4-FFF2-40B4-BE49-F238E27FC236}">
                <a16:creationId xmlns:a16="http://schemas.microsoft.com/office/drawing/2014/main" xmlns="" id="{22E580CF-4450-4D91-9DE1-614779AD4509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PROCESSO BLINDAGEM</a:t>
            </a:r>
          </a:p>
        </p:txBody>
      </p:sp>
      <p:sp>
        <p:nvSpPr>
          <p:cNvPr id="75" name="Retângulo de cantos arredondados 88">
            <a:extLst>
              <a:ext uri="{FF2B5EF4-FFF2-40B4-BE49-F238E27FC236}">
                <a16:creationId xmlns:a16="http://schemas.microsoft.com/office/drawing/2014/main" xmlns="" id="{9CC1028E-0FA5-4E07-B478-37FCEF7059C3}"/>
              </a:ext>
            </a:extLst>
          </p:cNvPr>
          <p:cNvSpPr/>
          <p:nvPr/>
        </p:nvSpPr>
        <p:spPr bwMode="auto">
          <a:xfrm>
            <a:off x="6434900" y="1021029"/>
            <a:ext cx="5402258" cy="1020218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CaixaDeTexto 16">
            <a:extLst>
              <a:ext uri="{FF2B5EF4-FFF2-40B4-BE49-F238E27FC236}">
                <a16:creationId xmlns:a16="http://schemas.microsoft.com/office/drawing/2014/main" xmlns="" id="{1817A60D-A0A5-4B94-82F6-6CCB06BE0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530" y="836363"/>
            <a:ext cx="1141535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Objetivo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xmlns="" id="{A1FC4ECA-37BC-4D49-B36C-81494175E35C}"/>
              </a:ext>
            </a:extLst>
          </p:cNvPr>
          <p:cNvSpPr txBox="1"/>
          <p:nvPr/>
        </p:nvSpPr>
        <p:spPr>
          <a:xfrm>
            <a:off x="5709015" y="1390361"/>
            <a:ext cx="5676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Redução de </a:t>
            </a:r>
            <a:r>
              <a:rPr lang="pt-BR" sz="1400" dirty="0" err="1"/>
              <a:t>churn</a:t>
            </a:r>
            <a:r>
              <a:rPr lang="pt-BR" sz="1400" dirty="0"/>
              <a:t>.</a:t>
            </a:r>
          </a:p>
        </p:txBody>
      </p:sp>
      <p:sp>
        <p:nvSpPr>
          <p:cNvPr id="79" name="Retângulo de cantos arredondados 88">
            <a:extLst>
              <a:ext uri="{FF2B5EF4-FFF2-40B4-BE49-F238E27FC236}">
                <a16:creationId xmlns:a16="http://schemas.microsoft.com/office/drawing/2014/main" xmlns="" id="{4B5176FF-A013-47AA-A973-A2638B23FC5B}"/>
              </a:ext>
            </a:extLst>
          </p:cNvPr>
          <p:cNvSpPr/>
          <p:nvPr/>
        </p:nvSpPr>
        <p:spPr bwMode="auto">
          <a:xfrm>
            <a:off x="354842" y="1021029"/>
            <a:ext cx="5905436" cy="1020217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CaixaDeTexto 16">
            <a:extLst>
              <a:ext uri="{FF2B5EF4-FFF2-40B4-BE49-F238E27FC236}">
                <a16:creationId xmlns:a16="http://schemas.microsoft.com/office/drawing/2014/main" xmlns="" id="{0CA3086F-3F01-452E-AB96-182EC2790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28" y="826430"/>
            <a:ext cx="1590563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Oportunidade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xmlns="" id="{BCD521B1-2BF0-477E-92C6-E023B73FD26A}"/>
              </a:ext>
            </a:extLst>
          </p:cNvPr>
          <p:cNvSpPr txBox="1"/>
          <p:nvPr/>
        </p:nvSpPr>
        <p:spPr>
          <a:xfrm>
            <a:off x="462352" y="1413413"/>
            <a:ext cx="6069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 Cruzar dados de reclamações e perfil de clientes que cancelam para gerar mailing de clientes com propensão ao cancelamento. </a:t>
            </a:r>
          </a:p>
          <a:p>
            <a:endParaRPr lang="pt-BR" sz="1400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0913E008-9B89-47B0-84E1-04C7583644F0}"/>
              </a:ext>
            </a:extLst>
          </p:cNvPr>
          <p:cNvGrpSpPr/>
          <p:nvPr/>
        </p:nvGrpSpPr>
        <p:grpSpPr>
          <a:xfrm>
            <a:off x="1249623" y="2411367"/>
            <a:ext cx="10080209" cy="4310955"/>
            <a:chOff x="1220069" y="2533564"/>
            <a:chExt cx="10080209" cy="4310955"/>
          </a:xfrm>
        </p:grpSpPr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xmlns="" id="{6E428D89-A9B2-4582-B909-52F81379C22C}"/>
                </a:ext>
              </a:extLst>
            </p:cNvPr>
            <p:cNvSpPr/>
            <p:nvPr/>
          </p:nvSpPr>
          <p:spPr>
            <a:xfrm rot="5400000">
              <a:off x="-23552" y="4371220"/>
              <a:ext cx="3619049" cy="10457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xmlns="" id="{77EB5AE0-49E4-40D1-98F8-FC054852D1A2}"/>
                </a:ext>
              </a:extLst>
            </p:cNvPr>
            <p:cNvSpPr/>
            <p:nvPr/>
          </p:nvSpPr>
          <p:spPr>
            <a:xfrm>
              <a:off x="1220069" y="4017835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ESTRATEGIA</a:t>
              </a: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xmlns="" id="{4B7E1647-10D0-47C6-BB46-E121542A37D4}"/>
                </a:ext>
              </a:extLst>
            </p:cNvPr>
            <p:cNvSpPr/>
            <p:nvPr/>
          </p:nvSpPr>
          <p:spPr>
            <a:xfrm>
              <a:off x="1220069" y="4804422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MODELO</a:t>
              </a:r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xmlns="" id="{4B77FB44-764D-4B6D-A09F-7419B4162CA1}"/>
                </a:ext>
              </a:extLst>
            </p:cNvPr>
            <p:cNvSpPr/>
            <p:nvPr/>
          </p:nvSpPr>
          <p:spPr>
            <a:xfrm>
              <a:off x="1220069" y="5854377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APOSTAS </a:t>
              </a:r>
            </a:p>
          </p:txBody>
        </p:sp>
        <p:sp>
          <p:nvSpPr>
            <p:cNvPr id="90" name="Retângulo 89">
              <a:extLst>
                <a:ext uri="{FF2B5EF4-FFF2-40B4-BE49-F238E27FC236}">
                  <a16:creationId xmlns:a16="http://schemas.microsoft.com/office/drawing/2014/main" xmlns="" id="{CA3CBAF4-867C-4DDA-9680-6A33D49F6B86}"/>
                </a:ext>
              </a:extLst>
            </p:cNvPr>
            <p:cNvSpPr/>
            <p:nvPr/>
          </p:nvSpPr>
          <p:spPr>
            <a:xfrm>
              <a:off x="1279178" y="3362932"/>
              <a:ext cx="1045728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CÉLULAS</a:t>
              </a:r>
            </a:p>
          </p:txBody>
        </p:sp>
        <p:sp>
          <p:nvSpPr>
            <p:cNvPr id="92" name="CaixaDeTexto 91">
              <a:extLst>
                <a:ext uri="{FF2B5EF4-FFF2-40B4-BE49-F238E27FC236}">
                  <a16:creationId xmlns:a16="http://schemas.microsoft.com/office/drawing/2014/main" xmlns="" id="{F6B23D06-FA61-4E9C-A5CF-848B766FD62F}"/>
                </a:ext>
              </a:extLst>
            </p:cNvPr>
            <p:cNvSpPr txBox="1"/>
            <p:nvPr/>
          </p:nvSpPr>
          <p:spPr>
            <a:xfrm>
              <a:off x="1220070" y="2533564"/>
              <a:ext cx="10080208" cy="3880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1" i="0" u="none" strike="noStrike" cap="none" spc="0" normalizeH="0" baseline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pt-BR" dirty="0">
                  <a:solidFill>
                    <a:schemeClr val="tx1"/>
                  </a:solidFill>
                </a:rPr>
                <a:t>Funil de oportunidades com a inserção dos canais de abordagem</a:t>
              </a:r>
            </a:p>
          </p:txBody>
        </p:sp>
        <p:sp>
          <p:nvSpPr>
            <p:cNvPr id="94" name="CaixaDeTexto 177">
              <a:extLst>
                <a:ext uri="{FF2B5EF4-FFF2-40B4-BE49-F238E27FC236}">
                  <a16:creationId xmlns:a16="http://schemas.microsoft.com/office/drawing/2014/main" xmlns="" id="{B19BD2D3-49C7-4E92-B6BC-96F50C1FF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3446" y="3014807"/>
              <a:ext cx="1341619" cy="420425"/>
            </a:xfrm>
            <a:prstGeom prst="rect">
              <a:avLst/>
            </a:prstGeom>
            <a:solidFill>
              <a:srgbClr val="6DC5FE">
                <a:lumMod val="50000"/>
              </a:srgbClr>
            </a:solidFill>
          </p:spPr>
          <p:txBody>
            <a:bodyPr wrap="square" rtlCol="0" anchor="ctr" anchorCtr="0">
              <a:noAutofit/>
            </a:bodyPr>
            <a:lstStyle>
              <a:defPPr>
                <a:defRPr lang="pt-BR"/>
              </a:defPPr>
              <a:lvl1pPr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REVERSÃO </a:t>
              </a:r>
              <a:r>
                <a:rPr lang="pt-BR" kern="0" dirty="0">
                  <a:solidFill>
                    <a:schemeClr val="tx1"/>
                  </a:solidFill>
                  <a:latin typeface="Calibri"/>
                </a:rPr>
                <a:t>CLIENTE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kern="0" dirty="0">
                  <a:solidFill>
                    <a:schemeClr val="tx1"/>
                  </a:solidFill>
                  <a:latin typeface="Calibri"/>
                </a:rPr>
                <a:t>PESSOA FISICA</a:t>
              </a:r>
              <a:endParaRPr kumimoji="0" lang="pt-BR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5" name="CaixaDeTexto 177">
              <a:extLst>
                <a:ext uri="{FF2B5EF4-FFF2-40B4-BE49-F238E27FC236}">
                  <a16:creationId xmlns:a16="http://schemas.microsoft.com/office/drawing/2014/main" xmlns="" id="{69361D24-FD69-4270-9675-64B3F4CF6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2069" y="3014948"/>
              <a:ext cx="1341619" cy="420425"/>
            </a:xfrm>
            <a:prstGeom prst="rect">
              <a:avLst/>
            </a:prstGeom>
            <a:solidFill>
              <a:srgbClr val="6DC5FE">
                <a:lumMod val="75000"/>
              </a:srgbClr>
            </a:solidFill>
          </p:spPr>
          <p:txBody>
            <a:bodyPr wrap="square" rtlCol="0" anchor="ctr" anchorCtr="0">
              <a:noAutofit/>
            </a:bodyPr>
            <a:lstStyle>
              <a:defPPr>
                <a:defRPr lang="pt-BR"/>
              </a:defPPr>
              <a:lvl1pPr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REVERSÃO CLIENTE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EMPRESARIAL</a:t>
              </a:r>
            </a:p>
          </p:txBody>
        </p:sp>
        <p:sp>
          <p:nvSpPr>
            <p:cNvPr id="96" name="Retângulo 95">
              <a:extLst>
                <a:ext uri="{FF2B5EF4-FFF2-40B4-BE49-F238E27FC236}">
                  <a16:creationId xmlns:a16="http://schemas.microsoft.com/office/drawing/2014/main" xmlns="" id="{D15F8B41-1752-46D6-8E96-6E47067C78D9}"/>
                </a:ext>
              </a:extLst>
            </p:cNvPr>
            <p:cNvSpPr/>
            <p:nvPr/>
          </p:nvSpPr>
          <p:spPr>
            <a:xfrm>
              <a:off x="2351876" y="3536986"/>
              <a:ext cx="8577690" cy="3651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  <a:latin typeface="Calibri" panose="020F0502020204030204"/>
                </a:rPr>
                <a:t>RÉGUA DE ACIONAMENTO DIGITAL</a:t>
              </a:r>
            </a:p>
          </p:txBody>
        </p:sp>
        <p:sp>
          <p:nvSpPr>
            <p:cNvPr id="97" name="Trapezoid 10">
              <a:extLst>
                <a:ext uri="{FF2B5EF4-FFF2-40B4-BE49-F238E27FC236}">
                  <a16:creationId xmlns:a16="http://schemas.microsoft.com/office/drawing/2014/main" xmlns="" id="{B765DCA0-A6AA-4CE8-A686-5308FCEB83E2}"/>
                </a:ext>
              </a:extLst>
            </p:cNvPr>
            <p:cNvSpPr/>
            <p:nvPr/>
          </p:nvSpPr>
          <p:spPr>
            <a:xfrm>
              <a:off x="3273509" y="4021231"/>
              <a:ext cx="6471923" cy="453906"/>
            </a:xfrm>
            <a:prstGeom prst="trapezoid">
              <a:avLst/>
            </a:prstGeom>
            <a:solidFill>
              <a:srgbClr val="E3DED1">
                <a:lumMod val="9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98" name="TextBox 72">
              <a:extLst>
                <a:ext uri="{FF2B5EF4-FFF2-40B4-BE49-F238E27FC236}">
                  <a16:creationId xmlns:a16="http://schemas.microsoft.com/office/drawing/2014/main" xmlns="" id="{BD4D1414-6650-4A4A-B317-588458A48BDA}"/>
                </a:ext>
              </a:extLst>
            </p:cNvPr>
            <p:cNvSpPr txBox="1"/>
            <p:nvPr/>
          </p:nvSpPr>
          <p:spPr>
            <a:xfrm>
              <a:off x="5865067" y="4523362"/>
              <a:ext cx="10470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/>
                <a:t>SMS / E-MAIL</a:t>
              </a: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99" name="TextBox 55">
              <a:extLst>
                <a:ext uri="{FF2B5EF4-FFF2-40B4-BE49-F238E27FC236}">
                  <a16:creationId xmlns:a16="http://schemas.microsoft.com/office/drawing/2014/main" xmlns="" id="{581C7B78-A71A-4E33-874C-7CE78C6AF414}"/>
                </a:ext>
              </a:extLst>
            </p:cNvPr>
            <p:cNvSpPr txBox="1"/>
            <p:nvPr/>
          </p:nvSpPr>
          <p:spPr>
            <a:xfrm>
              <a:off x="8049842" y="4534271"/>
              <a:ext cx="13244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 AGENTE DIGITAL</a:t>
              </a:r>
            </a:p>
          </p:txBody>
        </p:sp>
        <p:sp>
          <p:nvSpPr>
            <p:cNvPr id="100" name="Seta: para a Direita 99">
              <a:extLst>
                <a:ext uri="{FF2B5EF4-FFF2-40B4-BE49-F238E27FC236}">
                  <a16:creationId xmlns:a16="http://schemas.microsoft.com/office/drawing/2014/main" xmlns="" id="{95E6AE8E-6049-465D-889C-C267881882C4}"/>
                </a:ext>
              </a:extLst>
            </p:cNvPr>
            <p:cNvSpPr/>
            <p:nvPr/>
          </p:nvSpPr>
          <p:spPr>
            <a:xfrm>
              <a:off x="5073867" y="4065588"/>
              <a:ext cx="251072" cy="282859"/>
            </a:xfrm>
            <a:prstGeom prst="rightArrow">
              <a:avLst/>
            </a:prstGeom>
            <a:solidFill>
              <a:srgbClr val="3FABF4">
                <a:lumMod val="5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Retângulo 102">
              <a:extLst>
                <a:ext uri="{FF2B5EF4-FFF2-40B4-BE49-F238E27FC236}">
                  <a16:creationId xmlns:a16="http://schemas.microsoft.com/office/drawing/2014/main" xmlns="" id="{69F651C0-164C-4CF0-88F6-7917B0CD30B6}"/>
                </a:ext>
              </a:extLst>
            </p:cNvPr>
            <p:cNvSpPr/>
            <p:nvPr/>
          </p:nvSpPr>
          <p:spPr>
            <a:xfrm>
              <a:off x="5524804" y="5206155"/>
              <a:ext cx="1796924" cy="12772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8600" marR="0" lvl="0" indent="-22860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ENCAMINHAR OFERTA </a:t>
              </a:r>
              <a:r>
                <a:rPr lang="pt-BR" sz="1100" b="1" kern="0" dirty="0"/>
                <a:t>EM AMBOS CANAIS </a:t>
              </a: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COM POSSIBILIDADE DE DECISÃO E REATIVAÇÃO ON LINE </a:t>
              </a:r>
            </a:p>
          </p:txBody>
        </p:sp>
        <p:sp>
          <p:nvSpPr>
            <p:cNvPr id="104" name="Retângulo 103">
              <a:extLst>
                <a:ext uri="{FF2B5EF4-FFF2-40B4-BE49-F238E27FC236}">
                  <a16:creationId xmlns:a16="http://schemas.microsoft.com/office/drawing/2014/main" xmlns="" id="{E16C6F32-DEC9-4A4A-9C2E-99C7BA6579F8}"/>
                </a:ext>
              </a:extLst>
            </p:cNvPr>
            <p:cNvSpPr/>
            <p:nvPr/>
          </p:nvSpPr>
          <p:spPr>
            <a:xfrm>
              <a:off x="7791526" y="5206155"/>
              <a:ext cx="1872449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IDENTIFICAR DECISOR</a:t>
              </a:r>
            </a:p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APRESENTAR OFERTA PRÉVIA DIFERENCIADA</a:t>
              </a:r>
            </a:p>
          </p:txBody>
        </p:sp>
        <p:pic>
          <p:nvPicPr>
            <p:cNvPr id="110" name="Imagem 109">
              <a:extLst>
                <a:ext uri="{FF2B5EF4-FFF2-40B4-BE49-F238E27FC236}">
                  <a16:creationId xmlns:a16="http://schemas.microsoft.com/office/drawing/2014/main" xmlns="" id="{E075C077-3439-447E-8F25-1CC4A9BAC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05465" flipH="1">
              <a:off x="6717118" y="3894817"/>
              <a:ext cx="1401092" cy="342734"/>
            </a:xfrm>
            <a:prstGeom prst="rect">
              <a:avLst/>
            </a:prstGeom>
          </p:spPr>
        </p:pic>
        <p:sp>
          <p:nvSpPr>
            <p:cNvPr id="114" name="TextBox 72">
              <a:extLst>
                <a:ext uri="{FF2B5EF4-FFF2-40B4-BE49-F238E27FC236}">
                  <a16:creationId xmlns:a16="http://schemas.microsoft.com/office/drawing/2014/main" xmlns="" id="{E5952EF3-EDAE-4208-B5BB-9975C6B49F8D}"/>
                </a:ext>
              </a:extLst>
            </p:cNvPr>
            <p:cNvSpPr txBox="1"/>
            <p:nvPr/>
          </p:nvSpPr>
          <p:spPr>
            <a:xfrm>
              <a:off x="3613718" y="4525021"/>
              <a:ext cx="125231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/>
                <a:t>TRATAMENTO E ENRIQUECIMENTO DE MAILING</a:t>
              </a: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xmlns="" id="{E369A062-C5E3-4EF3-9834-A69140B6866A}"/>
                </a:ext>
              </a:extLst>
            </p:cNvPr>
            <p:cNvSpPr/>
            <p:nvPr/>
          </p:nvSpPr>
          <p:spPr>
            <a:xfrm>
              <a:off x="3784859" y="3928661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16" name="Retângulo 115">
              <a:extLst>
                <a:ext uri="{FF2B5EF4-FFF2-40B4-BE49-F238E27FC236}">
                  <a16:creationId xmlns:a16="http://schemas.microsoft.com/office/drawing/2014/main" xmlns="" id="{AAF54CD8-5724-4D20-8AB0-A6A155B2B5B8}"/>
                </a:ext>
              </a:extLst>
            </p:cNvPr>
            <p:cNvSpPr/>
            <p:nvPr/>
          </p:nvSpPr>
          <p:spPr>
            <a:xfrm>
              <a:off x="3438137" y="5229750"/>
              <a:ext cx="1757673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1100" b="1" kern="0" dirty="0"/>
                <a:t>LIMPEZA DE BASE</a:t>
              </a:r>
            </a:p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ENRIQUECIMENTO DE BASE</a:t>
              </a:r>
            </a:p>
          </p:txBody>
        </p:sp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xmlns="" id="{BC9730FF-2A01-4452-A2BF-D400875688CE}"/>
                </a:ext>
              </a:extLst>
            </p:cNvPr>
            <p:cNvSpPr/>
            <p:nvPr/>
          </p:nvSpPr>
          <p:spPr>
            <a:xfrm>
              <a:off x="5949068" y="3935306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xmlns="" id="{A1C003F2-1F14-48B3-9688-E010FC0DAC5D}"/>
                </a:ext>
              </a:extLst>
            </p:cNvPr>
            <p:cNvSpPr/>
            <p:nvPr/>
          </p:nvSpPr>
          <p:spPr>
            <a:xfrm>
              <a:off x="8367882" y="3915345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pic>
          <p:nvPicPr>
            <p:cNvPr id="120" name="Imagen 314" descr="iconos-02-Blanco-39.png">
              <a:extLst>
                <a:ext uri="{FF2B5EF4-FFF2-40B4-BE49-F238E27FC236}">
                  <a16:creationId xmlns:a16="http://schemas.microsoft.com/office/drawing/2014/main" xmlns="" id="{6DCB2D91-8BFE-410E-8B0A-FE40C0806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6665" y="3974724"/>
              <a:ext cx="528511" cy="47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" name="Imagen 217" descr="iconos-01-Blanco-35.png">
              <a:extLst>
                <a:ext uri="{FF2B5EF4-FFF2-40B4-BE49-F238E27FC236}">
                  <a16:creationId xmlns:a16="http://schemas.microsoft.com/office/drawing/2014/main" xmlns="" id="{9AAEFC29-6E39-43B9-A34C-3E3499E12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503" y="3994744"/>
              <a:ext cx="460381" cy="410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Imagen 244" descr="iconos-02-Blanco-71.png">
              <a:extLst>
                <a:ext uri="{FF2B5EF4-FFF2-40B4-BE49-F238E27FC236}">
                  <a16:creationId xmlns:a16="http://schemas.microsoft.com/office/drawing/2014/main" xmlns="" id="{8898069E-9204-4DBF-93FD-2F5378E2C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9623" y="3992888"/>
              <a:ext cx="455613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" name="Retângulo 129">
              <a:extLst>
                <a:ext uri="{FF2B5EF4-FFF2-40B4-BE49-F238E27FC236}">
                  <a16:creationId xmlns:a16="http://schemas.microsoft.com/office/drawing/2014/main" xmlns="" id="{62456A6C-18C1-4587-BEE3-89F46ADDCF4B}"/>
                </a:ext>
              </a:extLst>
            </p:cNvPr>
            <p:cNvSpPr/>
            <p:nvPr/>
          </p:nvSpPr>
          <p:spPr>
            <a:xfrm>
              <a:off x="5865067" y="6259744"/>
              <a:ext cx="141446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800" b="1" kern="0" dirty="0"/>
                <a:t> NÃO CONVERTIDOS SERÃO DIRECIONADOS PARA PRÓXIMA ETAPA DA RÉGUA </a:t>
              </a:r>
              <a:endParaRPr lang="pt-BR" sz="800" dirty="0"/>
            </a:p>
          </p:txBody>
        </p:sp>
      </p:grpSp>
      <p:sp>
        <p:nvSpPr>
          <p:cNvPr id="132" name="CaixaDeTexto 131">
            <a:extLst>
              <a:ext uri="{FF2B5EF4-FFF2-40B4-BE49-F238E27FC236}">
                <a16:creationId xmlns:a16="http://schemas.microsoft.com/office/drawing/2014/main" xmlns="" id="{F64E9F7E-EDB0-4ACF-A1C8-52A055EBB9BF}"/>
              </a:ext>
            </a:extLst>
          </p:cNvPr>
          <p:cNvSpPr txBox="1"/>
          <p:nvPr/>
        </p:nvSpPr>
        <p:spPr>
          <a:xfrm>
            <a:off x="624270" y="6273348"/>
            <a:ext cx="3883435" cy="47705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2: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Retenção/Blindagem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xmlns="" id="{D119581C-4DE7-4E38-ACED-1B32DD9B18B7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2661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14">
            <a:extLst>
              <a:ext uri="{FF2B5EF4-FFF2-40B4-BE49-F238E27FC236}">
                <a16:creationId xmlns:a16="http://schemas.microsoft.com/office/drawing/2014/main" xmlns="" id="{09440D31-60E2-4D29-8D68-2460A63CC719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xmlns="" id="{7E0E572F-A3E8-41E1-9018-9526F763BE93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ANALYTICS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xmlns="" id="{5C7F76D1-E103-49BB-8075-B19EBC8D9418}"/>
              </a:ext>
            </a:extLst>
          </p:cNvPr>
          <p:cNvGrpSpPr/>
          <p:nvPr/>
        </p:nvGrpSpPr>
        <p:grpSpPr>
          <a:xfrm>
            <a:off x="1477163" y="1100906"/>
            <a:ext cx="8753000" cy="4656188"/>
            <a:chOff x="287469" y="990959"/>
            <a:chExt cx="8753000" cy="4656188"/>
          </a:xfrm>
        </p:grpSpPr>
        <p:sp>
          <p:nvSpPr>
            <p:cNvPr id="32" name="Seta para a direita 9">
              <a:extLst>
                <a:ext uri="{FF2B5EF4-FFF2-40B4-BE49-F238E27FC236}">
                  <a16:creationId xmlns:a16="http://schemas.microsoft.com/office/drawing/2014/main" xmlns="" id="{E7321B10-37E2-4B37-AD1E-FB5A19D567F4}"/>
                </a:ext>
              </a:extLst>
            </p:cNvPr>
            <p:cNvSpPr/>
            <p:nvPr/>
          </p:nvSpPr>
          <p:spPr>
            <a:xfrm>
              <a:off x="1042861" y="3288775"/>
              <a:ext cx="357313" cy="277748"/>
            </a:xfrm>
            <a:prstGeom prst="rightArrow">
              <a:avLst/>
            </a:prstGeom>
            <a:solidFill>
              <a:schemeClr val="bg1">
                <a:alpha val="50196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xmlns="" id="{AA267E6B-BF0E-499D-A478-FEEB7D9D8A97}"/>
                </a:ext>
              </a:extLst>
            </p:cNvPr>
            <p:cNvGrpSpPr/>
            <p:nvPr/>
          </p:nvGrpSpPr>
          <p:grpSpPr>
            <a:xfrm>
              <a:off x="287469" y="2992386"/>
              <a:ext cx="703423" cy="703118"/>
              <a:chOff x="2334709" y="2355477"/>
              <a:chExt cx="785539" cy="787144"/>
            </a:xfrm>
          </p:grpSpPr>
          <p:pic>
            <p:nvPicPr>
              <p:cNvPr id="116" name="Picture 3">
                <a:extLst>
                  <a:ext uri="{FF2B5EF4-FFF2-40B4-BE49-F238E27FC236}">
                    <a16:creationId xmlns:a16="http://schemas.microsoft.com/office/drawing/2014/main" xmlns="" id="{BDDB0A85-75A1-4100-BF20-D5A5DB5AA8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56308" y="2519379"/>
                <a:ext cx="461964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17" name="Grupo 29">
                <a:extLst>
                  <a:ext uri="{FF2B5EF4-FFF2-40B4-BE49-F238E27FC236}">
                    <a16:creationId xmlns:a16="http://schemas.microsoft.com/office/drawing/2014/main" xmlns="" id="{F7BCAE61-5921-4F4D-B071-18BC1054ADFC}"/>
                  </a:ext>
                </a:extLst>
              </p:cNvPr>
              <p:cNvGrpSpPr/>
              <p:nvPr/>
            </p:nvGrpSpPr>
            <p:grpSpPr>
              <a:xfrm>
                <a:off x="233470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7" name="Retângulo de cantos arredondados 30">
                  <a:extLst>
                    <a:ext uri="{FF2B5EF4-FFF2-40B4-BE49-F238E27FC236}">
                      <a16:creationId xmlns:a16="http://schemas.microsoft.com/office/drawing/2014/main" xmlns="" id="{AB1E342F-078B-413E-8998-91742C13D5E2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tângulo de cantos arredondados 31">
                  <a:extLst>
                    <a:ext uri="{FF2B5EF4-FFF2-40B4-BE49-F238E27FC236}">
                      <a16:creationId xmlns:a16="http://schemas.microsoft.com/office/drawing/2014/main" xmlns="" id="{921A8153-52CA-4E37-8370-95602065D567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" name="Grupo 32">
                <a:extLst>
                  <a:ext uri="{FF2B5EF4-FFF2-40B4-BE49-F238E27FC236}">
                    <a16:creationId xmlns:a16="http://schemas.microsoft.com/office/drawing/2014/main" xmlns="" id="{01405F85-C59D-4B4A-9344-20EBAC0B1DD4}"/>
                  </a:ext>
                </a:extLst>
              </p:cNvPr>
              <p:cNvGrpSpPr/>
              <p:nvPr/>
            </p:nvGrpSpPr>
            <p:grpSpPr>
              <a:xfrm>
                <a:off x="299989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5" name="Retângulo de cantos arredondados 33">
                  <a:extLst>
                    <a:ext uri="{FF2B5EF4-FFF2-40B4-BE49-F238E27FC236}">
                      <a16:creationId xmlns:a16="http://schemas.microsoft.com/office/drawing/2014/main" xmlns="" id="{86B271A1-C295-49C3-8F85-24BDDD21A8B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tângulo de cantos arredondados 34">
                  <a:extLst>
                    <a:ext uri="{FF2B5EF4-FFF2-40B4-BE49-F238E27FC236}">
                      <a16:creationId xmlns:a16="http://schemas.microsoft.com/office/drawing/2014/main" xmlns="" id="{4C827D0B-BA8E-46E6-96B7-B46CCBAE96ED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9" name="Grupo 35">
                <a:extLst>
                  <a:ext uri="{FF2B5EF4-FFF2-40B4-BE49-F238E27FC236}">
                    <a16:creationId xmlns:a16="http://schemas.microsoft.com/office/drawing/2014/main" xmlns="" id="{A7BC3A2B-63B1-4642-AE13-B4624D703A2C}"/>
                  </a:ext>
                </a:extLst>
              </p:cNvPr>
              <p:cNvGrpSpPr/>
              <p:nvPr/>
            </p:nvGrpSpPr>
            <p:grpSpPr>
              <a:xfrm>
                <a:off x="2999898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3" name="Retângulo de cantos arredondados 36">
                  <a:extLst>
                    <a:ext uri="{FF2B5EF4-FFF2-40B4-BE49-F238E27FC236}">
                      <a16:creationId xmlns:a16="http://schemas.microsoft.com/office/drawing/2014/main" xmlns="" id="{FE339262-5F4A-4D9C-9A38-5E424BB3278D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tângulo de cantos arredondados 37">
                  <a:extLst>
                    <a:ext uri="{FF2B5EF4-FFF2-40B4-BE49-F238E27FC236}">
                      <a16:creationId xmlns:a16="http://schemas.microsoft.com/office/drawing/2014/main" xmlns="" id="{BA8095AD-3F44-475B-8E67-5CFCDE8C316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" name="Grupo 38">
                <a:extLst>
                  <a:ext uri="{FF2B5EF4-FFF2-40B4-BE49-F238E27FC236}">
                    <a16:creationId xmlns:a16="http://schemas.microsoft.com/office/drawing/2014/main" xmlns="" id="{D7D16056-815D-4C46-8120-4CE387C2A748}"/>
                  </a:ext>
                </a:extLst>
              </p:cNvPr>
              <p:cNvGrpSpPr/>
              <p:nvPr/>
            </p:nvGrpSpPr>
            <p:grpSpPr>
              <a:xfrm>
                <a:off x="2334709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1" name="Retângulo de cantos arredondados 39">
                  <a:extLst>
                    <a:ext uri="{FF2B5EF4-FFF2-40B4-BE49-F238E27FC236}">
                      <a16:creationId xmlns:a16="http://schemas.microsoft.com/office/drawing/2014/main" xmlns="" id="{59E90561-D46D-4707-B38E-B280ED240CD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tângulo de cantos arredondados 40">
                  <a:extLst>
                    <a:ext uri="{FF2B5EF4-FFF2-40B4-BE49-F238E27FC236}">
                      <a16:creationId xmlns:a16="http://schemas.microsoft.com/office/drawing/2014/main" xmlns="" id="{153360C0-77C0-4F8F-8F97-C1B74FE1EB12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xmlns="" id="{F2A969AA-37D0-4E3B-BFBD-E4E8C741C665}"/>
                </a:ext>
              </a:extLst>
            </p:cNvPr>
            <p:cNvGrpSpPr/>
            <p:nvPr/>
          </p:nvGrpSpPr>
          <p:grpSpPr>
            <a:xfrm>
              <a:off x="1234850" y="990959"/>
              <a:ext cx="4150845" cy="4358811"/>
              <a:chOff x="1503828" y="831732"/>
              <a:chExt cx="4562352" cy="4358811"/>
            </a:xfrm>
          </p:grpSpPr>
          <p:grpSp>
            <p:nvGrpSpPr>
              <p:cNvPr id="99" name="Agrupar 98">
                <a:extLst>
                  <a:ext uri="{FF2B5EF4-FFF2-40B4-BE49-F238E27FC236}">
                    <a16:creationId xmlns:a16="http://schemas.microsoft.com/office/drawing/2014/main" xmlns="" id="{70AA311F-2071-4D1F-9E85-B0619FED1936}"/>
                  </a:ext>
                </a:extLst>
              </p:cNvPr>
              <p:cNvGrpSpPr/>
              <p:nvPr/>
            </p:nvGrpSpPr>
            <p:grpSpPr>
              <a:xfrm>
                <a:off x="1566397" y="831732"/>
                <a:ext cx="4448674" cy="2001427"/>
                <a:chOff x="577847" y="790017"/>
                <a:chExt cx="4448674" cy="2001427"/>
              </a:xfrm>
            </p:grpSpPr>
            <p:sp>
              <p:nvSpPr>
                <p:cNvPr id="109" name="Retângulo 108">
                  <a:extLst>
                    <a:ext uri="{FF2B5EF4-FFF2-40B4-BE49-F238E27FC236}">
                      <a16:creationId xmlns:a16="http://schemas.microsoft.com/office/drawing/2014/main" xmlns="" id="{25EC27F8-B6D5-45E7-832B-6D04C18AD186}"/>
                    </a:ext>
                  </a:extLst>
                </p:cNvPr>
                <p:cNvSpPr/>
                <p:nvPr/>
              </p:nvSpPr>
              <p:spPr>
                <a:xfrm>
                  <a:off x="577847" y="790017"/>
                  <a:ext cx="4448674" cy="573517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Inteligência e estratégia de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Ativação e Retenção</a:t>
                  </a:r>
                </a:p>
              </p:txBody>
            </p:sp>
            <p:sp>
              <p:nvSpPr>
                <p:cNvPr id="110" name="Retângulo 109">
                  <a:extLst>
                    <a:ext uri="{FF2B5EF4-FFF2-40B4-BE49-F238E27FC236}">
                      <a16:creationId xmlns:a16="http://schemas.microsoft.com/office/drawing/2014/main" xmlns="" id="{FE0879B1-9DD0-498B-B8C9-FE37ED57049D}"/>
                    </a:ext>
                  </a:extLst>
                </p:cNvPr>
                <p:cNvSpPr/>
                <p:nvPr/>
              </p:nvSpPr>
              <p:spPr>
                <a:xfrm>
                  <a:off x="577847" y="2384052"/>
                  <a:ext cx="4448673" cy="407392"/>
                </a:xfrm>
                <a:prstGeom prst="rect">
                  <a:avLst/>
                </a:prstGeom>
                <a:solidFill>
                  <a:srgbClr val="626466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1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ESTRATÉGIA MULTICANAL</a:t>
                  </a:r>
                </a:p>
              </p:txBody>
            </p:sp>
            <p:sp>
              <p:nvSpPr>
                <p:cNvPr id="111" name="Retângulo 110">
                  <a:extLst>
                    <a:ext uri="{FF2B5EF4-FFF2-40B4-BE49-F238E27FC236}">
                      <a16:creationId xmlns:a16="http://schemas.microsoft.com/office/drawing/2014/main" xmlns="" id="{17737434-9B86-4257-ACD9-48B8F3C8A863}"/>
                    </a:ext>
                  </a:extLst>
                </p:cNvPr>
                <p:cNvSpPr/>
                <p:nvPr/>
              </p:nvSpPr>
              <p:spPr>
                <a:xfrm>
                  <a:off x="2100654" y="1721610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ENRIQUECIMENTO</a:t>
                  </a:r>
                </a:p>
              </p:txBody>
            </p:sp>
            <p:sp>
              <p:nvSpPr>
                <p:cNvPr id="112" name="Retângulo 111">
                  <a:extLst>
                    <a:ext uri="{FF2B5EF4-FFF2-40B4-BE49-F238E27FC236}">
                      <a16:creationId xmlns:a16="http://schemas.microsoft.com/office/drawing/2014/main" xmlns="" id="{8811B1AE-1EE0-47E3-8620-418AF25CD5FA}"/>
                    </a:ext>
                  </a:extLst>
                </p:cNvPr>
                <p:cNvSpPr/>
                <p:nvPr/>
              </p:nvSpPr>
              <p:spPr>
                <a:xfrm>
                  <a:off x="2100655" y="1399778"/>
                  <a:ext cx="1649581" cy="281864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ANALYTICS</a:t>
                  </a:r>
                </a:p>
              </p:txBody>
            </p:sp>
            <p:sp>
              <p:nvSpPr>
                <p:cNvPr id="113" name="Retângulo 112">
                  <a:extLst>
                    <a:ext uri="{FF2B5EF4-FFF2-40B4-BE49-F238E27FC236}">
                      <a16:creationId xmlns:a16="http://schemas.microsoft.com/office/drawing/2014/main" xmlns="" id="{D43789C3-E8AE-4EA0-9BDF-A4FF32D99068}"/>
                    </a:ext>
                  </a:extLst>
                </p:cNvPr>
                <p:cNvSpPr/>
                <p:nvPr/>
              </p:nvSpPr>
              <p:spPr>
                <a:xfrm>
                  <a:off x="577847" y="1404066"/>
                  <a:ext cx="1482308" cy="931125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MONITOR MIDIAS SOCIAIS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KEEPCON</a:t>
                  </a:r>
                </a:p>
              </p:txBody>
            </p:sp>
            <p:sp>
              <p:nvSpPr>
                <p:cNvPr id="114" name="Retângulo 113">
                  <a:extLst>
                    <a:ext uri="{FF2B5EF4-FFF2-40B4-BE49-F238E27FC236}">
                      <a16:creationId xmlns:a16="http://schemas.microsoft.com/office/drawing/2014/main" xmlns="" id="{68862D8D-FD4D-46EC-9064-106863B3E285}"/>
                    </a:ext>
                  </a:extLst>
                </p:cNvPr>
                <p:cNvSpPr/>
                <p:nvPr/>
              </p:nvSpPr>
              <p:spPr>
                <a:xfrm>
                  <a:off x="3790734" y="1397713"/>
                  <a:ext cx="1235786" cy="937478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GESTÃO 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RÉGUA RETENÇÃO</a:t>
                  </a:r>
                </a:p>
              </p:txBody>
            </p:sp>
            <p:sp>
              <p:nvSpPr>
                <p:cNvPr id="115" name="Retângulo 114">
                  <a:extLst>
                    <a:ext uri="{FF2B5EF4-FFF2-40B4-BE49-F238E27FC236}">
                      <a16:creationId xmlns:a16="http://schemas.microsoft.com/office/drawing/2014/main" xmlns="" id="{7CA4120F-53F7-468D-AFF6-445C91694A2D}"/>
                    </a:ext>
                  </a:extLst>
                </p:cNvPr>
                <p:cNvSpPr/>
                <p:nvPr/>
              </p:nvSpPr>
              <p:spPr>
                <a:xfrm>
                  <a:off x="2100654" y="2043658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SEGMENTAÇÃO</a:t>
                  </a:r>
                </a:p>
              </p:txBody>
            </p:sp>
          </p:grpSp>
          <p:grpSp>
            <p:nvGrpSpPr>
              <p:cNvPr id="100" name="Agrupar 99">
                <a:extLst>
                  <a:ext uri="{FF2B5EF4-FFF2-40B4-BE49-F238E27FC236}">
                    <a16:creationId xmlns:a16="http://schemas.microsoft.com/office/drawing/2014/main" xmlns="" id="{17A0913C-A377-4D44-8A9F-3D2316D0952A}"/>
                  </a:ext>
                </a:extLst>
              </p:cNvPr>
              <p:cNvGrpSpPr/>
              <p:nvPr/>
            </p:nvGrpSpPr>
            <p:grpSpPr>
              <a:xfrm>
                <a:off x="1503828" y="3052118"/>
                <a:ext cx="4562352" cy="2138425"/>
                <a:chOff x="1503828" y="3052118"/>
                <a:chExt cx="4562352" cy="2138425"/>
              </a:xfrm>
            </p:grpSpPr>
            <p:sp>
              <p:nvSpPr>
                <p:cNvPr id="101" name="Retângulo de cantos arredondados 3">
                  <a:extLst>
                    <a:ext uri="{FF2B5EF4-FFF2-40B4-BE49-F238E27FC236}">
                      <a16:creationId xmlns:a16="http://schemas.microsoft.com/office/drawing/2014/main" xmlns="" id="{7512B497-5976-4A70-A135-3090462E2E54}"/>
                    </a:ext>
                  </a:extLst>
                </p:cNvPr>
                <p:cNvSpPr/>
                <p:nvPr/>
              </p:nvSpPr>
              <p:spPr>
                <a:xfrm>
                  <a:off x="1807822" y="3052118"/>
                  <a:ext cx="3965824" cy="396918"/>
                </a:xfrm>
                <a:prstGeom prst="roundRect">
                  <a:avLst/>
                </a:prstGeom>
                <a:solidFill>
                  <a:srgbClr val="F4750C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Plataforma </a:t>
                  </a:r>
                </a:p>
              </p:txBody>
            </p:sp>
            <p:grpSp>
              <p:nvGrpSpPr>
                <p:cNvPr id="102" name="Agrupar 101">
                  <a:extLst>
                    <a:ext uri="{FF2B5EF4-FFF2-40B4-BE49-F238E27FC236}">
                      <a16:creationId xmlns:a16="http://schemas.microsoft.com/office/drawing/2014/main" xmlns="" id="{BC580E13-D61A-481F-A6DF-C020813AC590}"/>
                    </a:ext>
                  </a:extLst>
                </p:cNvPr>
                <p:cNvGrpSpPr/>
                <p:nvPr/>
              </p:nvGrpSpPr>
              <p:grpSpPr>
                <a:xfrm>
                  <a:off x="1503828" y="3579489"/>
                  <a:ext cx="4562352" cy="1611054"/>
                  <a:chOff x="1356756" y="3719946"/>
                  <a:chExt cx="4562352" cy="1611054"/>
                </a:xfrm>
              </p:grpSpPr>
              <p:sp>
                <p:nvSpPr>
                  <p:cNvPr id="103" name="Retângulo 102">
                    <a:extLst>
                      <a:ext uri="{FF2B5EF4-FFF2-40B4-BE49-F238E27FC236}">
                        <a16:creationId xmlns:a16="http://schemas.microsoft.com/office/drawing/2014/main" xmlns="" id="{BA8B5797-AA91-401B-941C-0AE2BA6E0692}"/>
                      </a:ext>
                    </a:extLst>
                  </p:cNvPr>
                  <p:cNvSpPr/>
                  <p:nvPr/>
                </p:nvSpPr>
                <p:spPr>
                  <a:xfrm>
                    <a:off x="1356756" y="4959821"/>
                    <a:ext cx="4544042" cy="371179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INTEGRAÇÃO</a:t>
                    </a:r>
                  </a:p>
                </p:txBody>
              </p:sp>
              <p:sp>
                <p:nvSpPr>
                  <p:cNvPr id="104" name="Retângulo 103">
                    <a:extLst>
                      <a:ext uri="{FF2B5EF4-FFF2-40B4-BE49-F238E27FC236}">
                        <a16:creationId xmlns:a16="http://schemas.microsoft.com/office/drawing/2014/main" xmlns="" id="{4DF1F67F-5A5B-4671-96A4-3A94B663AE19}"/>
                      </a:ext>
                    </a:extLst>
                  </p:cNvPr>
                  <p:cNvSpPr/>
                  <p:nvPr/>
                </p:nvSpPr>
                <p:spPr>
                  <a:xfrm>
                    <a:off x="1356756" y="4598802"/>
                    <a:ext cx="4544041" cy="305827"/>
                  </a:xfrm>
                  <a:prstGeom prst="rect">
                    <a:avLst/>
                  </a:prstGeom>
                  <a:solidFill>
                    <a:srgbClr val="626466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AUTOMAÇÃO</a:t>
                    </a:r>
                  </a:p>
                </p:txBody>
              </p:sp>
              <p:sp>
                <p:nvSpPr>
                  <p:cNvPr id="105" name="Triângulo isósceles 104">
                    <a:extLst>
                      <a:ext uri="{FF2B5EF4-FFF2-40B4-BE49-F238E27FC236}">
                        <a16:creationId xmlns:a16="http://schemas.microsoft.com/office/drawing/2014/main" xmlns="" id="{FC711EFF-90D5-4091-BB92-BB7B13A9C20F}"/>
                      </a:ext>
                    </a:extLst>
                  </p:cNvPr>
                  <p:cNvSpPr/>
                  <p:nvPr/>
                </p:nvSpPr>
                <p:spPr>
                  <a:xfrm>
                    <a:off x="1411527" y="3719946"/>
                    <a:ext cx="4507581" cy="419435"/>
                  </a:xfrm>
                  <a:prstGeom prst="triangle">
                    <a:avLst/>
                  </a:prstGeom>
                  <a:solidFill>
                    <a:schemeClr val="bg1">
                      <a:alpha val="2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518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Retângulo 105">
                    <a:extLst>
                      <a:ext uri="{FF2B5EF4-FFF2-40B4-BE49-F238E27FC236}">
                        <a16:creationId xmlns:a16="http://schemas.microsoft.com/office/drawing/2014/main" xmlns="" id="{09AF472D-A615-4658-9BC5-C045820EFBFE}"/>
                      </a:ext>
                    </a:extLst>
                  </p:cNvPr>
                  <p:cNvSpPr/>
                  <p:nvPr/>
                </p:nvSpPr>
                <p:spPr>
                  <a:xfrm>
                    <a:off x="1359354" y="4228519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CRM</a:t>
                    </a:r>
                  </a:p>
                </p:txBody>
              </p:sp>
              <p:sp>
                <p:nvSpPr>
                  <p:cNvPr id="107" name="Retângulo 106">
                    <a:extLst>
                      <a:ext uri="{FF2B5EF4-FFF2-40B4-BE49-F238E27FC236}">
                        <a16:creationId xmlns:a16="http://schemas.microsoft.com/office/drawing/2014/main" xmlns="" id="{F185FEEE-4C38-4768-9CC2-7D0BE2FF6B49}"/>
                      </a:ext>
                    </a:extLst>
                  </p:cNvPr>
                  <p:cNvSpPr/>
                  <p:nvPr/>
                </p:nvSpPr>
                <p:spPr>
                  <a:xfrm>
                    <a:off x="2930487" y="4230055"/>
                    <a:ext cx="1405637" cy="305826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FRONT END</a:t>
                    </a:r>
                  </a:p>
                </p:txBody>
              </p:sp>
              <p:sp>
                <p:nvSpPr>
                  <p:cNvPr id="108" name="Retângulo 107">
                    <a:extLst>
                      <a:ext uri="{FF2B5EF4-FFF2-40B4-BE49-F238E27FC236}">
                        <a16:creationId xmlns:a16="http://schemas.microsoft.com/office/drawing/2014/main" xmlns="" id="{3F54AE1F-2F08-406C-A5C4-5FEAB3A0846F}"/>
                      </a:ext>
                    </a:extLst>
                  </p:cNvPr>
                  <p:cNvSpPr/>
                  <p:nvPr/>
                </p:nvSpPr>
                <p:spPr>
                  <a:xfrm>
                    <a:off x="4373732" y="4227372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DASHBOARDS</a:t>
                    </a:r>
                  </a:p>
                </p:txBody>
              </p:sp>
            </p:grpSp>
          </p:grpSp>
        </p:grpSp>
        <p:sp>
          <p:nvSpPr>
            <p:cNvPr id="58" name="Seta para a direita 9">
              <a:extLst>
                <a:ext uri="{FF2B5EF4-FFF2-40B4-BE49-F238E27FC236}">
                  <a16:creationId xmlns:a16="http://schemas.microsoft.com/office/drawing/2014/main" xmlns="" id="{3DCD8CFF-4309-4F8F-B3DE-9289382C7686}"/>
                </a:ext>
              </a:extLst>
            </p:cNvPr>
            <p:cNvSpPr/>
            <p:nvPr/>
          </p:nvSpPr>
          <p:spPr>
            <a:xfrm>
              <a:off x="5397683" y="2878019"/>
              <a:ext cx="436957" cy="931786"/>
            </a:xfrm>
            <a:prstGeom prst="rightArrow">
              <a:avLst/>
            </a:prstGeom>
            <a:solidFill>
              <a:schemeClr val="bg1">
                <a:lumMod val="95000"/>
                <a:lumOff val="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xmlns="" id="{CF102674-06A2-42E6-8792-2219DF2FD94C}"/>
                </a:ext>
              </a:extLst>
            </p:cNvPr>
            <p:cNvGrpSpPr/>
            <p:nvPr/>
          </p:nvGrpSpPr>
          <p:grpSpPr>
            <a:xfrm>
              <a:off x="8369889" y="3034479"/>
              <a:ext cx="670580" cy="792728"/>
              <a:chOff x="9011302" y="2355477"/>
              <a:chExt cx="785539" cy="787144"/>
            </a:xfrm>
          </p:grpSpPr>
          <p:pic>
            <p:nvPicPr>
              <p:cNvPr id="85" name="Picture 5">
                <a:extLst>
                  <a:ext uri="{FF2B5EF4-FFF2-40B4-BE49-F238E27FC236}">
                    <a16:creationId xmlns:a16="http://schemas.microsoft.com/office/drawing/2014/main" xmlns="" id="{66FB907F-6FB6-4BE8-ABEE-EF5E0AFA4D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17157" y="2510404"/>
                <a:ext cx="511865" cy="5118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87" name="Grupo 50">
                <a:extLst>
                  <a:ext uri="{FF2B5EF4-FFF2-40B4-BE49-F238E27FC236}">
                    <a16:creationId xmlns:a16="http://schemas.microsoft.com/office/drawing/2014/main" xmlns="" id="{F09912D1-0BBC-489A-8959-6D2F060FD420}"/>
                  </a:ext>
                </a:extLst>
              </p:cNvPr>
              <p:cNvGrpSpPr/>
              <p:nvPr/>
            </p:nvGrpSpPr>
            <p:grpSpPr>
              <a:xfrm>
                <a:off x="9011302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97" name="Retângulo de cantos arredondados 51">
                  <a:extLst>
                    <a:ext uri="{FF2B5EF4-FFF2-40B4-BE49-F238E27FC236}">
                      <a16:creationId xmlns:a16="http://schemas.microsoft.com/office/drawing/2014/main" xmlns="" id="{2527227C-EF25-4598-BB2A-B588F87A565A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Retângulo de cantos arredondados 52">
                  <a:extLst>
                    <a:ext uri="{FF2B5EF4-FFF2-40B4-BE49-F238E27FC236}">
                      <a16:creationId xmlns:a16="http://schemas.microsoft.com/office/drawing/2014/main" xmlns="" id="{82C58E9B-F453-423D-9E7A-29DF86FEC04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8" name="Grupo 53">
                <a:extLst>
                  <a:ext uri="{FF2B5EF4-FFF2-40B4-BE49-F238E27FC236}">
                    <a16:creationId xmlns:a16="http://schemas.microsoft.com/office/drawing/2014/main" xmlns="" id="{11FA1001-5DEF-40AB-8B3F-325185550E3B}"/>
                  </a:ext>
                </a:extLst>
              </p:cNvPr>
              <p:cNvGrpSpPr/>
              <p:nvPr/>
            </p:nvGrpSpPr>
            <p:grpSpPr>
              <a:xfrm>
                <a:off x="9676492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95" name="Retângulo de cantos arredondados 54">
                  <a:extLst>
                    <a:ext uri="{FF2B5EF4-FFF2-40B4-BE49-F238E27FC236}">
                      <a16:creationId xmlns:a16="http://schemas.microsoft.com/office/drawing/2014/main" xmlns="" id="{C00C2CC9-8131-4BFA-8E68-01262FF10BBC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tângulo de cantos arredondados 55">
                  <a:extLst>
                    <a:ext uri="{FF2B5EF4-FFF2-40B4-BE49-F238E27FC236}">
                      <a16:creationId xmlns:a16="http://schemas.microsoft.com/office/drawing/2014/main" xmlns="" id="{7D82D711-C679-4DF9-881A-9EC5B29B7A45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9" name="Grupo 56">
                <a:extLst>
                  <a:ext uri="{FF2B5EF4-FFF2-40B4-BE49-F238E27FC236}">
                    <a16:creationId xmlns:a16="http://schemas.microsoft.com/office/drawing/2014/main" xmlns="" id="{7866EFC6-1A52-4983-91CA-2C13BA770BE2}"/>
                  </a:ext>
                </a:extLst>
              </p:cNvPr>
              <p:cNvGrpSpPr/>
              <p:nvPr/>
            </p:nvGrpSpPr>
            <p:grpSpPr>
              <a:xfrm>
                <a:off x="9676491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93" name="Retângulo de cantos arredondados 57">
                  <a:extLst>
                    <a:ext uri="{FF2B5EF4-FFF2-40B4-BE49-F238E27FC236}">
                      <a16:creationId xmlns:a16="http://schemas.microsoft.com/office/drawing/2014/main" xmlns="" id="{EF7069BB-3482-458E-906A-F7A0687C8FE9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Retângulo de cantos arredondados 58">
                  <a:extLst>
                    <a:ext uri="{FF2B5EF4-FFF2-40B4-BE49-F238E27FC236}">
                      <a16:creationId xmlns:a16="http://schemas.microsoft.com/office/drawing/2014/main" xmlns="" id="{156FED28-64E1-4782-A521-80D2DA86F24E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0" name="Grupo 59">
                <a:extLst>
                  <a:ext uri="{FF2B5EF4-FFF2-40B4-BE49-F238E27FC236}">
                    <a16:creationId xmlns:a16="http://schemas.microsoft.com/office/drawing/2014/main" xmlns="" id="{AFB29B0A-BE4C-4682-A3B7-96620566C0C1}"/>
                  </a:ext>
                </a:extLst>
              </p:cNvPr>
              <p:cNvGrpSpPr/>
              <p:nvPr/>
            </p:nvGrpSpPr>
            <p:grpSpPr>
              <a:xfrm>
                <a:off x="9011302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91" name="Retângulo de cantos arredondados 60">
                  <a:extLst>
                    <a:ext uri="{FF2B5EF4-FFF2-40B4-BE49-F238E27FC236}">
                      <a16:creationId xmlns:a16="http://schemas.microsoft.com/office/drawing/2014/main" xmlns="" id="{AAEBE417-AAFB-4F18-A15E-2065E28BA629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tângulo de cantos arredondados 61">
                  <a:extLst>
                    <a:ext uri="{FF2B5EF4-FFF2-40B4-BE49-F238E27FC236}">
                      <a16:creationId xmlns:a16="http://schemas.microsoft.com/office/drawing/2014/main" xmlns="" id="{91C5AB4A-DB35-4B00-869B-87DF4BF4903C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xmlns="" id="{5BEA2919-8EED-4545-B06C-1C2F816712AD}"/>
                </a:ext>
              </a:extLst>
            </p:cNvPr>
            <p:cNvGrpSpPr/>
            <p:nvPr/>
          </p:nvGrpSpPr>
          <p:grpSpPr>
            <a:xfrm>
              <a:off x="5820086" y="1133092"/>
              <a:ext cx="2429939" cy="4514055"/>
              <a:chOff x="6030907" y="741646"/>
              <a:chExt cx="3179185" cy="5190998"/>
            </a:xfrm>
          </p:grpSpPr>
          <p:sp>
            <p:nvSpPr>
              <p:cNvPr id="62" name="Retângulo 61">
                <a:extLst>
                  <a:ext uri="{FF2B5EF4-FFF2-40B4-BE49-F238E27FC236}">
                    <a16:creationId xmlns:a16="http://schemas.microsoft.com/office/drawing/2014/main" xmlns="" id="{75C55EB2-9726-406A-BE29-2DA8FA58B57B}"/>
                  </a:ext>
                </a:extLst>
              </p:cNvPr>
              <p:cNvSpPr/>
              <p:nvPr/>
            </p:nvSpPr>
            <p:spPr>
              <a:xfrm>
                <a:off x="6147634" y="1862941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3" name="Retângulo 62">
                <a:extLst>
                  <a:ext uri="{FF2B5EF4-FFF2-40B4-BE49-F238E27FC236}">
                    <a16:creationId xmlns:a16="http://schemas.microsoft.com/office/drawing/2014/main" xmlns="" id="{DEDB5836-C3A7-499C-9DAB-B4DC8D6DFC56}"/>
                  </a:ext>
                </a:extLst>
              </p:cNvPr>
              <p:cNvSpPr/>
              <p:nvPr/>
            </p:nvSpPr>
            <p:spPr>
              <a:xfrm>
                <a:off x="6147637" y="1158265"/>
                <a:ext cx="676719" cy="688913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4" name="Retângulo 63">
                <a:extLst>
                  <a:ext uri="{FF2B5EF4-FFF2-40B4-BE49-F238E27FC236}">
                    <a16:creationId xmlns:a16="http://schemas.microsoft.com/office/drawing/2014/main" xmlns="" id="{22E28A55-2F2D-40D0-97E9-C7CC964CF8CE}"/>
                  </a:ext>
                </a:extLst>
              </p:cNvPr>
              <p:cNvSpPr/>
              <p:nvPr/>
            </p:nvSpPr>
            <p:spPr>
              <a:xfrm>
                <a:off x="7501073" y="1147248"/>
                <a:ext cx="676719" cy="688913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5" name="Retângulo 64">
                <a:extLst>
                  <a:ext uri="{FF2B5EF4-FFF2-40B4-BE49-F238E27FC236}">
                    <a16:creationId xmlns:a16="http://schemas.microsoft.com/office/drawing/2014/main" xmlns="" id="{F4FF6D59-F13E-47A8-96B5-0B04548A8CB1}"/>
                  </a:ext>
                </a:extLst>
              </p:cNvPr>
              <p:cNvSpPr/>
              <p:nvPr/>
            </p:nvSpPr>
            <p:spPr>
              <a:xfrm>
                <a:off x="6824354" y="1836158"/>
                <a:ext cx="676719" cy="715694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" name="Retângulo 65">
                <a:extLst>
                  <a:ext uri="{FF2B5EF4-FFF2-40B4-BE49-F238E27FC236}">
                    <a16:creationId xmlns:a16="http://schemas.microsoft.com/office/drawing/2014/main" xmlns="" id="{90E7CDE0-97D3-4C6D-8B22-48E7613573CB}"/>
                  </a:ext>
                </a:extLst>
              </p:cNvPr>
              <p:cNvSpPr/>
              <p:nvPr/>
            </p:nvSpPr>
            <p:spPr>
              <a:xfrm>
                <a:off x="8177790" y="1836157"/>
                <a:ext cx="676719" cy="715695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" name="Retângulo 66">
                <a:extLst>
                  <a:ext uri="{FF2B5EF4-FFF2-40B4-BE49-F238E27FC236}">
                    <a16:creationId xmlns:a16="http://schemas.microsoft.com/office/drawing/2014/main" xmlns="" id="{99732811-9529-4C39-B3A4-D4AB63A86EB2}"/>
                  </a:ext>
                </a:extLst>
              </p:cNvPr>
              <p:cNvSpPr/>
              <p:nvPr/>
            </p:nvSpPr>
            <p:spPr>
              <a:xfrm>
                <a:off x="6824353" y="1147248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xmlns="" id="{5A474AEC-5754-4543-83F1-BE9827FC1286}"/>
                  </a:ext>
                </a:extLst>
              </p:cNvPr>
              <p:cNvSpPr/>
              <p:nvPr/>
            </p:nvSpPr>
            <p:spPr>
              <a:xfrm>
                <a:off x="8177789" y="1147248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Retângulo 68">
                <a:extLst>
                  <a:ext uri="{FF2B5EF4-FFF2-40B4-BE49-F238E27FC236}">
                    <a16:creationId xmlns:a16="http://schemas.microsoft.com/office/drawing/2014/main" xmlns="" id="{E888D93C-F625-4132-8D8C-8F24A39A3244}"/>
                  </a:ext>
                </a:extLst>
              </p:cNvPr>
              <p:cNvSpPr/>
              <p:nvPr/>
            </p:nvSpPr>
            <p:spPr>
              <a:xfrm>
                <a:off x="7501072" y="1836158"/>
                <a:ext cx="676719" cy="715694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xmlns="" id="{00A895B5-14CD-4DE2-B26F-76E8250F33B2}"/>
                  </a:ext>
                </a:extLst>
              </p:cNvPr>
              <p:cNvSpPr/>
              <p:nvPr/>
            </p:nvSpPr>
            <p:spPr>
              <a:xfrm>
                <a:off x="6091509" y="2628878"/>
                <a:ext cx="2774544" cy="332712"/>
              </a:xfrm>
              <a:prstGeom prst="rect">
                <a:avLst/>
              </a:prstGeom>
              <a:solidFill>
                <a:srgbClr val="F47A1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65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VOZ</a:t>
                </a:r>
              </a:p>
            </p:txBody>
          </p:sp>
          <p:sp>
            <p:nvSpPr>
              <p:cNvPr id="71" name="CaixaDeTexto 221">
                <a:extLst>
                  <a:ext uri="{FF2B5EF4-FFF2-40B4-BE49-F238E27FC236}">
                    <a16:creationId xmlns:a16="http://schemas.microsoft.com/office/drawing/2014/main" xmlns="" id="{1B75ABE8-9DD7-4774-9B4C-C1EA3C5325D6}"/>
                  </a:ext>
                </a:extLst>
              </p:cNvPr>
              <p:cNvSpPr txBox="1"/>
              <p:nvPr/>
            </p:nvSpPr>
            <p:spPr>
              <a:xfrm>
                <a:off x="6030907" y="3024117"/>
                <a:ext cx="3078192" cy="601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DISCADOR PREDITIVO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AGENTE DIGITAL IN/OUT</a:t>
                </a:r>
              </a:p>
            </p:txBody>
          </p:sp>
          <p:sp>
            <p:nvSpPr>
              <p:cNvPr id="72" name="CaixaDeTexto 222">
                <a:extLst>
                  <a:ext uri="{FF2B5EF4-FFF2-40B4-BE49-F238E27FC236}">
                    <a16:creationId xmlns:a16="http://schemas.microsoft.com/office/drawing/2014/main" xmlns="" id="{2F86C66A-B6F9-4085-881B-72733231CF65}"/>
                  </a:ext>
                </a:extLst>
              </p:cNvPr>
              <p:cNvSpPr txBox="1"/>
              <p:nvPr/>
            </p:nvSpPr>
            <p:spPr>
              <a:xfrm>
                <a:off x="6091509" y="4092199"/>
                <a:ext cx="3118583" cy="1840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PORTAL WEB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CHAT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SMS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EMAIL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FRONT END MULTICANAL</a:t>
                </a:r>
              </a:p>
              <a:p>
                <a:pPr marL="0" marR="0" lvl="0" indent="0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Tx/>
                  <a:buNone/>
                  <a:tabLst/>
                  <a:defRPr/>
                </a:pPr>
                <a:endParaRPr kumimoji="0" lang="pt-BR" sz="1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CaixaDeTexto 223">
                <a:extLst>
                  <a:ext uri="{FF2B5EF4-FFF2-40B4-BE49-F238E27FC236}">
                    <a16:creationId xmlns:a16="http://schemas.microsoft.com/office/drawing/2014/main" xmlns="" id="{310E0048-40A2-4D19-828A-3453A61D29F2}"/>
                  </a:ext>
                </a:extLst>
              </p:cNvPr>
              <p:cNvSpPr txBox="1"/>
              <p:nvPr/>
            </p:nvSpPr>
            <p:spPr>
              <a:xfrm>
                <a:off x="6094250" y="741646"/>
                <a:ext cx="2701707" cy="42471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MULTICANALIDADE</a:t>
                </a:r>
              </a:p>
            </p:txBody>
          </p:sp>
          <p:pic>
            <p:nvPicPr>
              <p:cNvPr id="74" name="Picture 9">
                <a:extLst>
                  <a:ext uri="{FF2B5EF4-FFF2-40B4-BE49-F238E27FC236}">
                    <a16:creationId xmlns:a16="http://schemas.microsoft.com/office/drawing/2014/main" xmlns="" id="{7D042826-70FE-48E6-91FB-13C3D15B3B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674260">
                <a:off x="8276513" y="1971995"/>
                <a:ext cx="442590" cy="4579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5" name="Picture 11">
                <a:extLst>
                  <a:ext uri="{FF2B5EF4-FFF2-40B4-BE49-F238E27FC236}">
                    <a16:creationId xmlns:a16="http://schemas.microsoft.com/office/drawing/2014/main" xmlns="" id="{E31AB174-52FD-4F47-9D56-C43378B032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2377" y="1302495"/>
                <a:ext cx="415110" cy="459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6" name="Picture 13">
                <a:extLst>
                  <a:ext uri="{FF2B5EF4-FFF2-40B4-BE49-F238E27FC236}">
                    <a16:creationId xmlns:a16="http://schemas.microsoft.com/office/drawing/2014/main" xmlns="" id="{E78C3C75-5DBB-4E69-8742-AB5B91511F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8372" y="1283607"/>
                <a:ext cx="535246" cy="4603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7" name="Picture 15">
                <a:extLst>
                  <a:ext uri="{FF2B5EF4-FFF2-40B4-BE49-F238E27FC236}">
                    <a16:creationId xmlns:a16="http://schemas.microsoft.com/office/drawing/2014/main" xmlns="" id="{62ADE78F-CAFB-432A-ACB4-F6FC0F9A48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1047" y="1980978"/>
                <a:ext cx="534897" cy="4299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CaixaDeTexto 228">
                <a:extLst>
                  <a:ext uri="{FF2B5EF4-FFF2-40B4-BE49-F238E27FC236}">
                    <a16:creationId xmlns:a16="http://schemas.microsoft.com/office/drawing/2014/main" xmlns="" id="{A4D7D20E-777F-45D5-8B25-16ABD897D1DA}"/>
                  </a:ext>
                </a:extLst>
              </p:cNvPr>
              <p:cNvSpPr txBox="1"/>
              <p:nvPr/>
            </p:nvSpPr>
            <p:spPr>
              <a:xfrm>
                <a:off x="6091509" y="1901332"/>
                <a:ext cx="732844" cy="55390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53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@</a:t>
                </a:r>
              </a:p>
            </p:txBody>
          </p:sp>
          <p:pic>
            <p:nvPicPr>
              <p:cNvPr id="79" name="Imagem 78">
                <a:extLst>
                  <a:ext uri="{FF2B5EF4-FFF2-40B4-BE49-F238E27FC236}">
                    <a16:creationId xmlns:a16="http://schemas.microsoft.com/office/drawing/2014/main" xmlns="" id="{FF69C49D-E6C4-4853-BA09-1323ECFA42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64156" y="1264137"/>
                <a:ext cx="360264" cy="486744"/>
              </a:xfrm>
              <a:prstGeom prst="rect">
                <a:avLst/>
              </a:prstGeom>
            </p:spPr>
          </p:pic>
          <p:pic>
            <p:nvPicPr>
              <p:cNvPr id="80" name="Imagem 79">
                <a:extLst>
                  <a:ext uri="{FF2B5EF4-FFF2-40B4-BE49-F238E27FC236}">
                    <a16:creationId xmlns:a16="http://schemas.microsoft.com/office/drawing/2014/main" xmlns="" id="{F3881D2D-E458-49BA-AE34-35A90D1FC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35223" y="1228132"/>
                <a:ext cx="551429" cy="546653"/>
              </a:xfrm>
              <a:prstGeom prst="rect">
                <a:avLst/>
              </a:prstGeom>
            </p:spPr>
          </p:pic>
          <p:pic>
            <p:nvPicPr>
              <p:cNvPr id="81" name="Imagem 80">
                <a:extLst>
                  <a:ext uri="{FF2B5EF4-FFF2-40B4-BE49-F238E27FC236}">
                    <a16:creationId xmlns:a16="http://schemas.microsoft.com/office/drawing/2014/main" xmlns="" id="{A63BF7A7-0C3B-477F-B57A-2A1F07502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4327" y="1938861"/>
                <a:ext cx="514666" cy="524185"/>
              </a:xfrm>
              <a:prstGeom prst="rect">
                <a:avLst/>
              </a:prstGeom>
            </p:spPr>
          </p:pic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xmlns="" id="{94FAEE8F-D0A8-410F-936C-B3EBD8928008}"/>
                  </a:ext>
                </a:extLst>
              </p:cNvPr>
              <p:cNvSpPr/>
              <p:nvPr/>
            </p:nvSpPr>
            <p:spPr>
              <a:xfrm>
                <a:off x="6124590" y="3653412"/>
                <a:ext cx="2774544" cy="332712"/>
              </a:xfrm>
              <a:prstGeom prst="rect">
                <a:avLst/>
              </a:prstGeom>
              <a:solidFill>
                <a:srgbClr val="F47A1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65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TEXTO</a:t>
                </a:r>
              </a:p>
            </p:txBody>
          </p:sp>
        </p:grpSp>
        <p:sp>
          <p:nvSpPr>
            <p:cNvPr id="61" name="Seta para a direita 9">
              <a:extLst>
                <a:ext uri="{FF2B5EF4-FFF2-40B4-BE49-F238E27FC236}">
                  <a16:creationId xmlns:a16="http://schemas.microsoft.com/office/drawing/2014/main" xmlns="" id="{FE3D669E-EABF-42E1-8572-E81BFEEC9648}"/>
                </a:ext>
              </a:extLst>
            </p:cNvPr>
            <p:cNvSpPr/>
            <p:nvPr/>
          </p:nvSpPr>
          <p:spPr>
            <a:xfrm>
              <a:off x="8142744" y="3301550"/>
              <a:ext cx="357313" cy="277748"/>
            </a:xfrm>
            <a:prstGeom prst="rightArrow">
              <a:avLst/>
            </a:prstGeom>
            <a:solidFill>
              <a:schemeClr val="bg1">
                <a:alpha val="50196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125C1B38-6E7A-457F-81E4-49290AE53415}"/>
              </a:ext>
            </a:extLst>
          </p:cNvPr>
          <p:cNvSpPr txBox="1"/>
          <p:nvPr/>
        </p:nvSpPr>
        <p:spPr>
          <a:xfrm>
            <a:off x="7179397" y="6117628"/>
            <a:ext cx="3883435" cy="47705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2: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Retenção/Blindagem</a:t>
            </a:r>
          </a:p>
        </p:txBody>
      </p:sp>
      <p:sp>
        <p:nvSpPr>
          <p:cNvPr id="129" name="CaixaDeTexto 128">
            <a:extLst>
              <a:ext uri="{FF2B5EF4-FFF2-40B4-BE49-F238E27FC236}">
                <a16:creationId xmlns:a16="http://schemas.microsoft.com/office/drawing/2014/main" xmlns="" id="{713659DA-FC62-4ED7-9E7A-8D8EDB6DDABB}"/>
              </a:ext>
            </a:extLst>
          </p:cNvPr>
          <p:cNvSpPr txBox="1"/>
          <p:nvPr/>
        </p:nvSpPr>
        <p:spPr>
          <a:xfrm>
            <a:off x="1792887" y="6108776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xmlns="" id="{BF81FC9F-54AD-4B79-892E-4F3D9EA28495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20585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xmlns="" id="{B030F568-FA64-4385-8036-158743849ED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GERENCIAMENTO DE PROCESSO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D18CCBF8-EB9D-4C53-9E28-E883C3BE555A}"/>
              </a:ext>
            </a:extLst>
          </p:cNvPr>
          <p:cNvGrpSpPr/>
          <p:nvPr/>
        </p:nvGrpSpPr>
        <p:grpSpPr>
          <a:xfrm>
            <a:off x="627134" y="1017576"/>
            <a:ext cx="10693248" cy="5393631"/>
            <a:chOff x="116146" y="1152046"/>
            <a:chExt cx="10693248" cy="5393631"/>
          </a:xfrm>
        </p:grpSpPr>
        <p:sp>
          <p:nvSpPr>
            <p:cNvPr id="127" name="Retângulo 126">
              <a:extLst>
                <a:ext uri="{FF2B5EF4-FFF2-40B4-BE49-F238E27FC236}">
                  <a16:creationId xmlns:a16="http://schemas.microsoft.com/office/drawing/2014/main" xmlns="" id="{B2E01B37-8FBC-419A-AE57-92090F7875B2}"/>
                </a:ext>
              </a:extLst>
            </p:cNvPr>
            <p:cNvSpPr/>
            <p:nvPr/>
          </p:nvSpPr>
          <p:spPr>
            <a:xfrm>
              <a:off x="8208012" y="1480084"/>
              <a:ext cx="2601382" cy="5052801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Retângulo 124">
              <a:extLst>
                <a:ext uri="{FF2B5EF4-FFF2-40B4-BE49-F238E27FC236}">
                  <a16:creationId xmlns:a16="http://schemas.microsoft.com/office/drawing/2014/main" xmlns="" id="{1F6AC20E-DEC2-4189-B775-11295C924F7A}"/>
                </a:ext>
              </a:extLst>
            </p:cNvPr>
            <p:cNvSpPr/>
            <p:nvPr/>
          </p:nvSpPr>
          <p:spPr>
            <a:xfrm>
              <a:off x="5485677" y="1480084"/>
              <a:ext cx="2601382" cy="5052801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xmlns="" id="{800E9BF9-C767-43DA-AF55-FC1E08B24DB1}"/>
                </a:ext>
              </a:extLst>
            </p:cNvPr>
            <p:cNvGrpSpPr/>
            <p:nvPr/>
          </p:nvGrpSpPr>
          <p:grpSpPr>
            <a:xfrm>
              <a:off x="116146" y="1152046"/>
              <a:ext cx="10386007" cy="5393631"/>
              <a:chOff x="116146" y="1152046"/>
              <a:chExt cx="10386007" cy="5393631"/>
            </a:xfrm>
          </p:grpSpPr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xmlns="" id="{E131178F-1A2D-4633-B558-808658EF02D9}"/>
                  </a:ext>
                </a:extLst>
              </p:cNvPr>
              <p:cNvSpPr/>
              <p:nvPr/>
            </p:nvSpPr>
            <p:spPr>
              <a:xfrm>
                <a:off x="116146" y="1492876"/>
                <a:ext cx="5234443" cy="5052801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tângulo Arredondado 71">
                <a:extLst>
                  <a:ext uri="{FF2B5EF4-FFF2-40B4-BE49-F238E27FC236}">
                    <a16:creationId xmlns:a16="http://schemas.microsoft.com/office/drawing/2014/main" xmlns="" id="{31990FF7-A638-4E25-9CED-AADC9B48F2F6}"/>
                  </a:ext>
                </a:extLst>
              </p:cNvPr>
              <p:cNvSpPr/>
              <p:nvPr/>
            </p:nvSpPr>
            <p:spPr>
              <a:xfrm>
                <a:off x="3276571" y="2956988"/>
                <a:ext cx="1317089" cy="1254148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E4582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xmlns="" id="{075DCC48-5318-4878-AC62-5FD7C1D79B8E}"/>
                  </a:ext>
                </a:extLst>
              </p:cNvPr>
              <p:cNvSpPr/>
              <p:nvPr/>
            </p:nvSpPr>
            <p:spPr>
              <a:xfrm>
                <a:off x="3186923" y="3087231"/>
                <a:ext cx="144809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defRPr/>
                </a:pPr>
                <a:r>
                  <a:rPr lang="pt-BR" sz="1200" kern="0" dirty="0">
                    <a:latin typeface="Calibri"/>
                  </a:rPr>
                  <a:t>Determina propensão de comportamento com geração de análises preditivas</a:t>
                </a:r>
              </a:p>
            </p:txBody>
          </p:sp>
          <p:pic>
            <p:nvPicPr>
              <p:cNvPr id="75" name="Imagem 74">
                <a:extLst>
                  <a:ext uri="{FF2B5EF4-FFF2-40B4-BE49-F238E27FC236}">
                    <a16:creationId xmlns:a16="http://schemas.microsoft.com/office/drawing/2014/main" xmlns="" id="{8A701177-D7B7-4AFB-BEAE-C9F0A9A4D4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500409" y="3607545"/>
                <a:ext cx="669359" cy="48144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sp>
            <p:nvSpPr>
              <p:cNvPr id="77" name="CaixaDeTexto 76">
                <a:extLst>
                  <a:ext uri="{FF2B5EF4-FFF2-40B4-BE49-F238E27FC236}">
                    <a16:creationId xmlns:a16="http://schemas.microsoft.com/office/drawing/2014/main" xmlns="" id="{094EE30D-50EF-47A7-B5D1-3FDF0054F0B8}"/>
                  </a:ext>
                </a:extLst>
              </p:cNvPr>
              <p:cNvSpPr txBox="1"/>
              <p:nvPr/>
            </p:nvSpPr>
            <p:spPr>
              <a:xfrm>
                <a:off x="1099984" y="5307560"/>
                <a:ext cx="307908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b="1" dirty="0"/>
                  <a:t>Monitoramento marca + menções relevantes</a:t>
                </a:r>
              </a:p>
            </p:txBody>
          </p:sp>
          <p:pic>
            <p:nvPicPr>
              <p:cNvPr id="78" name="Picture 2" descr="Resultado de imagem para perfil">
                <a:extLst>
                  <a:ext uri="{FF2B5EF4-FFF2-40B4-BE49-F238E27FC236}">
                    <a16:creationId xmlns:a16="http://schemas.microsoft.com/office/drawing/2014/main" xmlns="" id="{1B028F40-4499-4723-A72E-59524FB4D6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199" t="2123" r="27658" b="3430"/>
              <a:stretch/>
            </p:blipFill>
            <p:spPr bwMode="auto">
              <a:xfrm>
                <a:off x="485470" y="2688523"/>
                <a:ext cx="684299" cy="66136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xmlns="" id="{C5B1CAA1-6810-45B2-8F65-186E266EFD77}"/>
                  </a:ext>
                </a:extLst>
              </p:cNvPr>
              <p:cNvSpPr/>
              <p:nvPr/>
            </p:nvSpPr>
            <p:spPr>
              <a:xfrm>
                <a:off x="1142624" y="2709201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Análise Perfil Social</a:t>
                </a:r>
                <a:endParaRPr lang="pt-BR" sz="1400" dirty="0"/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xmlns="" id="{C49FDD18-BC39-4D58-9CB9-1EDE1778F30B}"/>
                  </a:ext>
                </a:extLst>
              </p:cNvPr>
              <p:cNvSpPr/>
              <p:nvPr/>
            </p:nvSpPr>
            <p:spPr>
              <a:xfrm>
                <a:off x="1269596" y="3529535"/>
                <a:ext cx="11551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Motor semântico </a:t>
                </a:r>
                <a:endParaRPr lang="pt-BR" sz="1400" dirty="0"/>
              </a:p>
            </p:txBody>
          </p:sp>
          <p:sp>
            <p:nvSpPr>
              <p:cNvPr id="81" name="Retângulo 80">
                <a:extLst>
                  <a:ext uri="{FF2B5EF4-FFF2-40B4-BE49-F238E27FC236}">
                    <a16:creationId xmlns:a16="http://schemas.microsoft.com/office/drawing/2014/main" xmlns="" id="{5FD84F6E-726B-4B1E-B252-ABDABFBB4E07}"/>
                  </a:ext>
                </a:extLst>
              </p:cNvPr>
              <p:cNvSpPr/>
              <p:nvPr/>
            </p:nvSpPr>
            <p:spPr>
              <a:xfrm>
                <a:off x="2417427" y="3186475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xmlns="" id="{F58A8C19-A289-46B9-98DF-093895578321}"/>
                  </a:ext>
                </a:extLst>
              </p:cNvPr>
              <p:cNvSpPr txBox="1"/>
              <p:nvPr/>
            </p:nvSpPr>
            <p:spPr>
              <a:xfrm>
                <a:off x="391637" y="4744313"/>
                <a:ext cx="298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Captura + incremento de dados</a:t>
                </a:r>
              </a:p>
            </p:txBody>
          </p:sp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xmlns="" id="{CCBDE988-7F3C-4590-A1C9-22C8ADBA337C}"/>
                  </a:ext>
                </a:extLst>
              </p:cNvPr>
              <p:cNvSpPr txBox="1"/>
              <p:nvPr/>
            </p:nvSpPr>
            <p:spPr>
              <a:xfrm>
                <a:off x="3220207" y="4744313"/>
                <a:ext cx="16081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Base de clientes</a:t>
                </a:r>
              </a:p>
            </p:txBody>
          </p:sp>
          <p:sp>
            <p:nvSpPr>
              <p:cNvPr id="87" name="Retângulo: Cantos Arredondados 86">
                <a:extLst>
                  <a:ext uri="{FF2B5EF4-FFF2-40B4-BE49-F238E27FC236}">
                    <a16:creationId xmlns:a16="http://schemas.microsoft.com/office/drawing/2014/main" xmlns="" id="{D983C797-EF4A-42A4-8E4E-61E96CC2E1CE}"/>
                  </a:ext>
                </a:extLst>
              </p:cNvPr>
              <p:cNvSpPr/>
              <p:nvPr/>
            </p:nvSpPr>
            <p:spPr>
              <a:xfrm>
                <a:off x="288764" y="2376107"/>
                <a:ext cx="4656356" cy="2801852"/>
              </a:xfrm>
              <a:prstGeom prst="round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xmlns="" id="{9BF8F112-1739-4F01-A9A3-8B180BE8F12E}"/>
                  </a:ext>
                </a:extLst>
              </p:cNvPr>
              <p:cNvGrpSpPr/>
              <p:nvPr/>
            </p:nvGrpSpPr>
            <p:grpSpPr>
              <a:xfrm>
                <a:off x="2397248" y="1152046"/>
                <a:ext cx="638741" cy="638741"/>
                <a:chOff x="2451170" y="1973879"/>
                <a:chExt cx="638741" cy="638741"/>
              </a:xfrm>
            </p:grpSpPr>
            <p:sp>
              <p:nvSpPr>
                <p:cNvPr id="92" name="Elipse 91">
                  <a:extLst>
                    <a:ext uri="{FF2B5EF4-FFF2-40B4-BE49-F238E27FC236}">
                      <a16:creationId xmlns:a16="http://schemas.microsoft.com/office/drawing/2014/main" xmlns="" id="{C70BB892-68E3-42A5-9613-7176F70690EB}"/>
                    </a:ext>
                  </a:extLst>
                </p:cNvPr>
                <p:cNvSpPr/>
                <p:nvPr/>
              </p:nvSpPr>
              <p:spPr>
                <a:xfrm>
                  <a:off x="2451170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 7">
                  <a:extLst>
                    <a:ext uri="{FF2B5EF4-FFF2-40B4-BE49-F238E27FC236}">
                      <a16:creationId xmlns:a16="http://schemas.microsoft.com/office/drawing/2014/main" xmlns="" id="{B7B3E008-2849-4824-A30E-A7CC918DE9B2}"/>
                    </a:ext>
                  </a:extLst>
                </p:cNvPr>
                <p:cNvSpPr/>
                <p:nvPr/>
              </p:nvSpPr>
              <p:spPr>
                <a:xfrm>
                  <a:off x="2523842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97" name="Rectangle 7">
                <a:extLst>
                  <a:ext uri="{FF2B5EF4-FFF2-40B4-BE49-F238E27FC236}">
                    <a16:creationId xmlns:a16="http://schemas.microsoft.com/office/drawing/2014/main" xmlns="" id="{897CCD70-8F48-4AFC-9E88-A4A1DBE9048E}"/>
                  </a:ext>
                </a:extLst>
              </p:cNvPr>
              <p:cNvSpPr/>
              <p:nvPr/>
            </p:nvSpPr>
            <p:spPr>
              <a:xfrm>
                <a:off x="1946726" y="1929689"/>
                <a:ext cx="1539782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INTELIGÊNCIA</a:t>
                </a:r>
              </a:p>
            </p:txBody>
          </p:sp>
          <p:grpSp>
            <p:nvGrpSpPr>
              <p:cNvPr id="98" name="Agrupar 97">
                <a:extLst>
                  <a:ext uri="{FF2B5EF4-FFF2-40B4-BE49-F238E27FC236}">
                    <a16:creationId xmlns:a16="http://schemas.microsoft.com/office/drawing/2014/main" xmlns="" id="{23486B6C-2062-4B44-BDA5-93303399F3EA}"/>
                  </a:ext>
                </a:extLst>
              </p:cNvPr>
              <p:cNvGrpSpPr/>
              <p:nvPr/>
            </p:nvGrpSpPr>
            <p:grpSpPr>
              <a:xfrm>
                <a:off x="6339255" y="1159646"/>
                <a:ext cx="638741" cy="638741"/>
                <a:chOff x="2209124" y="1973879"/>
                <a:chExt cx="638741" cy="638741"/>
              </a:xfrm>
            </p:grpSpPr>
            <p:sp>
              <p:nvSpPr>
                <p:cNvPr id="99" name="Elipse 98">
                  <a:extLst>
                    <a:ext uri="{FF2B5EF4-FFF2-40B4-BE49-F238E27FC236}">
                      <a16:creationId xmlns:a16="http://schemas.microsoft.com/office/drawing/2014/main" xmlns="" id="{D860D3AF-4C02-4693-879C-C44459121E39}"/>
                    </a:ext>
                  </a:extLst>
                </p:cNvPr>
                <p:cNvSpPr/>
                <p:nvPr/>
              </p:nvSpPr>
              <p:spPr>
                <a:xfrm>
                  <a:off x="2209124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 7">
                  <a:extLst>
                    <a:ext uri="{FF2B5EF4-FFF2-40B4-BE49-F238E27FC236}">
                      <a16:creationId xmlns:a16="http://schemas.microsoft.com/office/drawing/2014/main" xmlns="" id="{4D5389C5-4FAD-42BC-9BDC-E7C15C33C33C}"/>
                    </a:ext>
                  </a:extLst>
                </p:cNvPr>
                <p:cNvSpPr/>
                <p:nvPr/>
              </p:nvSpPr>
              <p:spPr>
                <a:xfrm>
                  <a:off x="2281796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03" name="Rectangle 7">
                <a:extLst>
                  <a:ext uri="{FF2B5EF4-FFF2-40B4-BE49-F238E27FC236}">
                    <a16:creationId xmlns:a16="http://schemas.microsoft.com/office/drawing/2014/main" xmlns="" id="{AF197F66-DE6E-4727-8B65-D1A0413EECD3}"/>
                  </a:ext>
                </a:extLst>
              </p:cNvPr>
              <p:cNvSpPr/>
              <p:nvPr/>
            </p:nvSpPr>
            <p:spPr>
              <a:xfrm>
                <a:off x="6014012" y="1937787"/>
                <a:ext cx="1289224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pt-BR" sz="1400" b="1" dirty="0"/>
                  <a:t>ABORDAGEM</a:t>
                </a:r>
              </a:p>
            </p:txBody>
          </p:sp>
          <p:grpSp>
            <p:nvGrpSpPr>
              <p:cNvPr id="104" name="Agrupar 103">
                <a:extLst>
                  <a:ext uri="{FF2B5EF4-FFF2-40B4-BE49-F238E27FC236}">
                    <a16:creationId xmlns:a16="http://schemas.microsoft.com/office/drawing/2014/main" xmlns="" id="{FCC051C1-F6DA-4ED7-A56B-7B603D22DDF0}"/>
                  </a:ext>
                </a:extLst>
              </p:cNvPr>
              <p:cNvGrpSpPr/>
              <p:nvPr/>
            </p:nvGrpSpPr>
            <p:grpSpPr>
              <a:xfrm>
                <a:off x="9297608" y="1159646"/>
                <a:ext cx="638741" cy="638741"/>
                <a:chOff x="1832608" y="1973879"/>
                <a:chExt cx="638741" cy="638741"/>
              </a:xfrm>
            </p:grpSpPr>
            <p:sp>
              <p:nvSpPr>
                <p:cNvPr id="105" name="Elipse 104">
                  <a:extLst>
                    <a:ext uri="{FF2B5EF4-FFF2-40B4-BE49-F238E27FC236}">
                      <a16:creationId xmlns:a16="http://schemas.microsoft.com/office/drawing/2014/main" xmlns="" id="{F6E93097-E48F-4FF0-8E8B-5BAEDD4E56FB}"/>
                    </a:ext>
                  </a:extLst>
                </p:cNvPr>
                <p:cNvSpPr/>
                <p:nvPr/>
              </p:nvSpPr>
              <p:spPr>
                <a:xfrm>
                  <a:off x="1832608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7">
                  <a:extLst>
                    <a:ext uri="{FF2B5EF4-FFF2-40B4-BE49-F238E27FC236}">
                      <a16:creationId xmlns:a16="http://schemas.microsoft.com/office/drawing/2014/main" xmlns="" id="{8032E170-CA61-4F0E-8536-CD28051085D7}"/>
                    </a:ext>
                  </a:extLst>
                </p:cNvPr>
                <p:cNvSpPr/>
                <p:nvPr/>
              </p:nvSpPr>
              <p:spPr>
                <a:xfrm>
                  <a:off x="1905280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10" name="Rectangle 7">
                <a:extLst>
                  <a:ext uri="{FF2B5EF4-FFF2-40B4-BE49-F238E27FC236}">
                    <a16:creationId xmlns:a16="http://schemas.microsoft.com/office/drawing/2014/main" xmlns="" id="{67D11D5C-D09D-4071-81E6-68BE2EF4EF12}"/>
                  </a:ext>
                </a:extLst>
              </p:cNvPr>
              <p:cNvSpPr/>
              <p:nvPr/>
            </p:nvSpPr>
            <p:spPr>
              <a:xfrm>
                <a:off x="9050431" y="1950479"/>
                <a:ext cx="1163398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CONVERSÃO</a:t>
                </a:r>
              </a:p>
            </p:txBody>
          </p:sp>
          <p:pic>
            <p:nvPicPr>
              <p:cNvPr id="111" name="Picture 2" descr="Resultado de imagem para bot icon png">
                <a:extLst>
                  <a:ext uri="{FF2B5EF4-FFF2-40B4-BE49-F238E27FC236}">
                    <a16:creationId xmlns:a16="http://schemas.microsoft.com/office/drawing/2014/main" xmlns="" id="{A6326921-3FC2-4D5A-A736-FE189FDD1F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92638" y="2709201"/>
                <a:ext cx="787965" cy="713837"/>
              </a:xfrm>
              <a:prstGeom prst="rect">
                <a:avLst/>
              </a:prstGeom>
              <a:solidFill>
                <a:srgbClr val="FFFFFF"/>
              </a:solidFill>
              <a:ln w="28575">
                <a:noFill/>
              </a:ln>
            </p:spPr>
          </p:pic>
          <p:sp>
            <p:nvSpPr>
              <p:cNvPr id="112" name="Retângulo 111">
                <a:extLst>
                  <a:ext uri="{FF2B5EF4-FFF2-40B4-BE49-F238E27FC236}">
                    <a16:creationId xmlns:a16="http://schemas.microsoft.com/office/drawing/2014/main" xmlns="" id="{D4ECE2E0-09FB-4E3E-B39A-C6490FB397C6}"/>
                  </a:ext>
                </a:extLst>
              </p:cNvPr>
              <p:cNvSpPr/>
              <p:nvPr/>
            </p:nvSpPr>
            <p:spPr>
              <a:xfrm>
                <a:off x="3345792" y="2619353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Data Science</a:t>
                </a:r>
                <a:endParaRPr lang="pt-BR" sz="1400" dirty="0"/>
              </a:p>
            </p:txBody>
          </p:sp>
          <p:sp>
            <p:nvSpPr>
              <p:cNvPr id="113" name="Retângulo 112">
                <a:extLst>
                  <a:ext uri="{FF2B5EF4-FFF2-40B4-BE49-F238E27FC236}">
                    <a16:creationId xmlns:a16="http://schemas.microsoft.com/office/drawing/2014/main" xmlns="" id="{06F2979A-1648-45C2-AB75-9787D9ED4B28}"/>
                  </a:ext>
                </a:extLst>
              </p:cNvPr>
              <p:cNvSpPr/>
              <p:nvPr/>
            </p:nvSpPr>
            <p:spPr>
              <a:xfrm>
                <a:off x="5877972" y="3626360"/>
                <a:ext cx="1648985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PA DIGITAL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REGUA DE ACIONAMENTO</a:t>
                </a: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:a16="http://schemas.microsoft.com/office/drawing/2014/main" xmlns="" id="{F5D72791-2541-42FC-9F39-AAE33F2E8743}"/>
                  </a:ext>
                </a:extLst>
              </p:cNvPr>
              <p:cNvSpPr/>
              <p:nvPr/>
            </p:nvSpPr>
            <p:spPr>
              <a:xfrm>
                <a:off x="6429430" y="3742821"/>
                <a:ext cx="55496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pic>
            <p:nvPicPr>
              <p:cNvPr id="115" name="Imagem 114">
                <a:extLst>
                  <a:ext uri="{FF2B5EF4-FFF2-40B4-BE49-F238E27FC236}">
                    <a16:creationId xmlns:a16="http://schemas.microsoft.com/office/drawing/2014/main" xmlns="" id="{269ADDE6-E2B6-445E-8B0F-50B6BE5E8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778" b="95556" l="5778" r="97333">
                            <a14:foregroundMark x1="18222" y1="20889" x2="18222" y2="20889"/>
                            <a14:foregroundMark x1="47111" y1="5778" x2="47111" y2="5778"/>
                            <a14:foregroundMark x1="87556" y1="23556" x2="87556" y2="23556"/>
                            <a14:foregroundMark x1="91111" y1="45778" x2="91111" y2="45778"/>
                            <a14:foregroundMark x1="90667" y1="58222" x2="90667" y2="58222"/>
                            <a14:foregroundMark x1="91111" y1="65333" x2="91111" y2="65333"/>
                            <a14:foregroundMark x1="14222" y1="68444" x2="14222" y2="68444"/>
                            <a14:foregroundMark x1="12889" y1="81778" x2="12889" y2="81778"/>
                            <a14:foregroundMark x1="22667" y1="88000" x2="22667" y2="88000"/>
                            <a14:foregroundMark x1="7556" y1="92000" x2="7556" y2="92000"/>
                            <a14:foregroundMark x1="9333" y1="87556" x2="9333" y2="87556"/>
                            <a14:foregroundMark x1="5778" y1="95556" x2="5778" y2="95556"/>
                            <a14:foregroundMark x1="97333" y1="48444" x2="97333" y2="48444"/>
                            <a14:foregroundMark x1="5778" y1="46222" x2="5778" y2="46222"/>
                            <a14:foregroundMark x1="36444" y1="35556" x2="36444" y2="35556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254726" y="2754290"/>
                <a:ext cx="676794" cy="627557"/>
              </a:xfrm>
              <a:prstGeom prst="rect">
                <a:avLst/>
              </a:prstGeom>
              <a:noFill/>
              <a:ln w="28575">
                <a:noFill/>
              </a:ln>
            </p:spPr>
          </p:pic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xmlns="" id="{12DE341C-D53A-4CF4-A9A5-CA7CA1BA5319}"/>
                  </a:ext>
                </a:extLst>
              </p:cNvPr>
              <p:cNvSpPr/>
              <p:nvPr/>
            </p:nvSpPr>
            <p:spPr>
              <a:xfrm>
                <a:off x="8750595" y="3610083"/>
                <a:ext cx="175155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ACEITE DO LINK 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CONTINUIDADE CONTATO VIA WHATSAPP</a:t>
                </a:r>
              </a:p>
            </p:txBody>
          </p:sp>
          <p:sp>
            <p:nvSpPr>
              <p:cNvPr id="118" name="Retângulo 117">
                <a:extLst>
                  <a:ext uri="{FF2B5EF4-FFF2-40B4-BE49-F238E27FC236}">
                    <a16:creationId xmlns:a16="http://schemas.microsoft.com/office/drawing/2014/main" xmlns="" id="{280A5BC3-B435-4DAE-B986-45FC1AA5EA16}"/>
                  </a:ext>
                </a:extLst>
              </p:cNvPr>
              <p:cNvSpPr/>
              <p:nvPr/>
            </p:nvSpPr>
            <p:spPr>
              <a:xfrm>
                <a:off x="9381660" y="374282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</p:grpSp>
        <p:sp>
          <p:nvSpPr>
            <p:cNvPr id="121" name="Triângulo isósceles 120">
              <a:extLst>
                <a:ext uri="{FF2B5EF4-FFF2-40B4-BE49-F238E27FC236}">
                  <a16:creationId xmlns:a16="http://schemas.microsoft.com/office/drawing/2014/main" xmlns="" id="{62AEE765-5567-4760-B165-09A8095AE4E0}"/>
                </a:ext>
              </a:extLst>
            </p:cNvPr>
            <p:cNvSpPr/>
            <p:nvPr/>
          </p:nvSpPr>
          <p:spPr>
            <a:xfrm rot="10800000">
              <a:off x="778930" y="4309884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rgbClr val="293E6B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22" name="Triângulo isósceles 121">
              <a:extLst>
                <a:ext uri="{FF2B5EF4-FFF2-40B4-BE49-F238E27FC236}">
                  <a16:creationId xmlns:a16="http://schemas.microsoft.com/office/drawing/2014/main" xmlns="" id="{241C66A1-DE4D-4970-8E8E-37B889B930E4}"/>
                </a:ext>
              </a:extLst>
            </p:cNvPr>
            <p:cNvSpPr/>
            <p:nvPr/>
          </p:nvSpPr>
          <p:spPr>
            <a:xfrm rot="10800000">
              <a:off x="3431301" y="4302580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rgbClr val="293E6B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128" name="CaixaDeTexto 127">
            <a:extLst>
              <a:ext uri="{FF2B5EF4-FFF2-40B4-BE49-F238E27FC236}">
                <a16:creationId xmlns:a16="http://schemas.microsoft.com/office/drawing/2014/main" xmlns="" id="{6D4384C3-D730-4C8C-925E-2704BAECEFEF}"/>
              </a:ext>
            </a:extLst>
          </p:cNvPr>
          <p:cNvSpPr txBox="1"/>
          <p:nvPr/>
        </p:nvSpPr>
        <p:spPr>
          <a:xfrm>
            <a:off x="1026044" y="6159888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xmlns="" id="{C2D80600-B3C6-4F24-9FE2-583618A5B3F9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1562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1493</TotalTime>
  <Words>751</Words>
  <Application>Microsoft Office PowerPoint</Application>
  <PresentationFormat>Personalizar</PresentationFormat>
  <Paragraphs>236</Paragraphs>
  <Slides>15</Slides>
  <Notes>8</Notes>
  <HiddenSlides>5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epexe</dc:creator>
  <cp:lastModifiedBy>Microsoft</cp:lastModifiedBy>
  <cp:revision>140</cp:revision>
  <dcterms:created xsi:type="dcterms:W3CDTF">2019-01-11T16:53:46Z</dcterms:created>
  <dcterms:modified xsi:type="dcterms:W3CDTF">2019-10-21T09:33:25Z</dcterms:modified>
</cp:coreProperties>
</file>