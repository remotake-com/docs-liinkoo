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wmf" ContentType="image/x-wmf"/>
  <Default Extension="rels" ContentType="application/vnd.openxmlformats-package.relationships+xml"/>
  <Default Extension="xml" ContentType="application/xml"/>
  <Default Extension="wdp" ContentType="image/vnd.ms-photo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notesMasterIdLst>
    <p:notesMasterId r:id="rId28"/>
  </p:notesMasterIdLst>
  <p:sldIdLst>
    <p:sldId id="4678" r:id="rId2"/>
    <p:sldId id="257" r:id="rId3"/>
    <p:sldId id="4689" r:id="rId4"/>
    <p:sldId id="4692" r:id="rId5"/>
    <p:sldId id="4677" r:id="rId6"/>
    <p:sldId id="4674" r:id="rId7"/>
    <p:sldId id="4691" r:id="rId8"/>
    <p:sldId id="4693" r:id="rId9"/>
    <p:sldId id="4683" r:id="rId10"/>
    <p:sldId id="4690" r:id="rId11"/>
    <p:sldId id="4694" r:id="rId12"/>
    <p:sldId id="4695" r:id="rId13"/>
    <p:sldId id="4696" r:id="rId14"/>
    <p:sldId id="4697" r:id="rId15"/>
    <p:sldId id="4698" r:id="rId16"/>
    <p:sldId id="4699" r:id="rId17"/>
    <p:sldId id="4700" r:id="rId18"/>
    <p:sldId id="4701" r:id="rId19"/>
    <p:sldId id="4703" r:id="rId20"/>
    <p:sldId id="4702" r:id="rId21"/>
    <p:sldId id="4688" r:id="rId22"/>
    <p:sldId id="4679" r:id="rId23"/>
    <p:sldId id="4673" r:id="rId24"/>
    <p:sldId id="4676" r:id="rId25"/>
    <p:sldId id="4680" r:id="rId26"/>
    <p:sldId id="4681" r:id="rId2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 userDrawn="1">
          <p15:clr>
            <a:srgbClr val="A4A3A4"/>
          </p15:clr>
        </p15:guide>
        <p15:guide id="2" pos="170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99"/>
    <a:srgbClr val="C8EDF8"/>
    <a:srgbClr val="7BA1DF"/>
    <a:srgbClr val="F42B0A"/>
    <a:srgbClr val="F3F3F3"/>
    <a:srgbClr val="EAEAEA"/>
    <a:srgbClr val="F9F9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279" autoAdjust="0"/>
  </p:normalViewPr>
  <p:slideViewPr>
    <p:cSldViewPr snapToGrid="0">
      <p:cViewPr>
        <p:scale>
          <a:sx n="115" d="100"/>
          <a:sy n="115" d="100"/>
        </p:scale>
        <p:origin x="-432" y="174"/>
      </p:cViewPr>
      <p:guideLst>
        <p:guide orient="horz" pos="2160"/>
        <p:guide pos="170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23.wmf"/><Relationship Id="rId2" Type="http://schemas.openxmlformats.org/officeDocument/2006/relationships/image" Target="../media/image22.wmf"/><Relationship Id="rId1" Type="http://schemas.openxmlformats.org/officeDocument/2006/relationships/image" Target="../media/image21.wmf"/><Relationship Id="rId5" Type="http://schemas.openxmlformats.org/officeDocument/2006/relationships/image" Target="../media/image25.wmf"/><Relationship Id="rId4" Type="http://schemas.openxmlformats.org/officeDocument/2006/relationships/image" Target="../media/image24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D58E12-D5CD-4FEB-BB9B-740D8741091D}" type="datetimeFigureOut">
              <a:rPr lang="pt-BR" smtClean="0"/>
              <a:t>23/10/2019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7D4607-2057-4C8F-8DBA-F327B43898C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235239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61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7479A0-E59E-4D4E-AA0D-88F149C135BC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58528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Chat: cliente entra desconectado, plataforma trava para cliente e operador com frequência, mesmo quando o cliente entra desconectado preciso tabular, </a:t>
            </a:r>
          </a:p>
          <a:p>
            <a:r>
              <a:rPr lang="pt-BR" dirty="0"/>
              <a:t>Operadores ficam ociosos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7479A0-E59E-4D4E-AA0D-88F149C135BC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346431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61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7479A0-E59E-4D4E-AA0D-88F149C135BC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092682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61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7479A0-E59E-4D4E-AA0D-88F149C135BC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5820302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61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7479A0-E59E-4D4E-AA0D-88F149C135BC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6186970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Chat: cliente entra desconectado, plataforma trava para cliente e operador com frequência, mesmo quando o cliente entra desconectado preciso tabular, </a:t>
            </a:r>
          </a:p>
          <a:p>
            <a:r>
              <a:rPr lang="pt-BR" dirty="0"/>
              <a:t>Operadores ficam ociosos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7479A0-E59E-4D4E-AA0D-88F149C135BC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9700243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61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7479A0-E59E-4D4E-AA0D-88F149C135BC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606594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bg>
      <p:bgPr>
        <a:gradFill rotWithShape="1">
          <a:gsLst>
            <a:gs pos="10000">
              <a:schemeClr val="tx1">
                <a:lumMod val="65000"/>
              </a:schemeClr>
            </a:gs>
            <a:gs pos="100000">
              <a:schemeClr val="bg2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B2B22-2D13-DA42-981B-3A66370B0456}" type="datetimeFigureOut">
              <a:rPr lang="en-US" smtClean="0"/>
              <a:t>10/23/2019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CD1BA-FA43-C64B-AF9D-A5FEACBBA63E}" type="slidenum">
              <a:rPr lang="en-US" smtClean="0"/>
              <a:t>‹nº›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093359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B2B22-2D13-DA42-981B-3A66370B0456}" type="datetimeFigureOut">
              <a:rPr lang="en-US" smtClean="0"/>
              <a:t>10/23/2019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CD1BA-FA43-C64B-AF9D-A5FEACBBA63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55440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bg>
      <p:bgPr>
        <a:gradFill rotWithShape="1">
          <a:gsLst>
            <a:gs pos="10000">
              <a:schemeClr val="tx1">
                <a:lumMod val="75000"/>
              </a:schemeClr>
            </a:gs>
            <a:gs pos="100000">
              <a:schemeClr val="bg2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B2B22-2D13-DA42-981B-3A66370B0456}" type="datetimeFigureOut">
              <a:rPr lang="en-US" smtClean="0"/>
              <a:t>10/23/2019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CD1BA-FA43-C64B-AF9D-A5FEACBBA63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73777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B2B22-2D13-DA42-981B-3A66370B0456}" type="datetimeFigureOut">
              <a:rPr lang="en-US" smtClean="0"/>
              <a:t>10/23/2019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CD1BA-FA43-C64B-AF9D-A5FEACBBA63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23073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B2B22-2D13-DA42-981B-3A66370B0456}" type="datetimeFigureOut">
              <a:rPr lang="en-US" smtClean="0"/>
              <a:t>10/23/2019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CD1BA-FA43-C64B-AF9D-A5FEACBBA63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32316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mente Título">
    <p:bg>
      <p:bgPr>
        <a:gradFill rotWithShape="1">
          <a:gsLst>
            <a:gs pos="10000">
              <a:schemeClr val="tx1">
                <a:lumMod val="65000"/>
              </a:schemeClr>
            </a:gs>
            <a:gs pos="100000">
              <a:schemeClr val="bg2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6" descr="Related image">
            <a:extLst>
              <a:ext uri="{FF2B5EF4-FFF2-40B4-BE49-F238E27FC236}">
                <a16:creationId xmlns="" xmlns:a16="http://schemas.microsoft.com/office/drawing/2014/main" id="{4DFB8C75-2C4F-49A0-ACF3-691F91A8706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alphaModFix amt="4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Oval 14">
            <a:extLst>
              <a:ext uri="{FF2B5EF4-FFF2-40B4-BE49-F238E27FC236}">
                <a16:creationId xmlns="" xmlns:a16="http://schemas.microsoft.com/office/drawing/2014/main" id="{345801E5-559B-4855-82E5-8D2D2CCEB42F}"/>
              </a:ext>
            </a:extLst>
          </p:cNvPr>
          <p:cNvSpPr/>
          <p:nvPr userDrawn="1"/>
        </p:nvSpPr>
        <p:spPr>
          <a:xfrm rot="20956176">
            <a:off x="-700419" y="-33825"/>
            <a:ext cx="1133938" cy="1133938"/>
          </a:xfrm>
          <a:prstGeom prst="ellipse">
            <a:avLst/>
          </a:prstGeom>
          <a:solidFill>
            <a:schemeClr val="accent5">
              <a:lumMod val="5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prstClr val="white"/>
              </a:solidFill>
            </a:endParaRPr>
          </a:p>
        </p:txBody>
      </p:sp>
      <p:cxnSp>
        <p:nvCxnSpPr>
          <p:cNvPr id="9" name="Conector reto 8">
            <a:extLst>
              <a:ext uri="{FF2B5EF4-FFF2-40B4-BE49-F238E27FC236}">
                <a16:creationId xmlns="" xmlns:a16="http://schemas.microsoft.com/office/drawing/2014/main" id="{C05BADF5-7EE5-4F29-B174-874272399353}"/>
              </a:ext>
            </a:extLst>
          </p:cNvPr>
          <p:cNvCxnSpPr>
            <a:cxnSpLocks/>
          </p:cNvCxnSpPr>
          <p:nvPr userDrawn="1"/>
        </p:nvCxnSpPr>
        <p:spPr>
          <a:xfrm>
            <a:off x="427232" y="644291"/>
            <a:ext cx="11094208" cy="0"/>
          </a:xfrm>
          <a:prstGeom prst="line">
            <a:avLst/>
          </a:prstGeom>
          <a:solidFill>
            <a:srgbClr val="FF6600">
              <a:alpha val="42000"/>
            </a:srgbClr>
          </a:solidFill>
          <a:ln w="57150">
            <a:solidFill>
              <a:schemeClr val="accent5">
                <a:lumMod val="50000"/>
                <a:alpha val="42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pic>
        <p:nvPicPr>
          <p:cNvPr id="10" name="Imagem 11">
            <a:extLst>
              <a:ext uri="{FF2B5EF4-FFF2-40B4-BE49-F238E27FC236}">
                <a16:creationId xmlns="" xmlns:a16="http://schemas.microsoft.com/office/drawing/2014/main" id="{38F8C29E-2096-47E6-B50D-C3BEB03D1E6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392005" y="6277330"/>
            <a:ext cx="1722806" cy="499262"/>
          </a:xfrm>
          <a:prstGeom prst="rect">
            <a:avLst/>
          </a:prstGeom>
        </p:spPr>
      </p:pic>
      <p:pic>
        <p:nvPicPr>
          <p:cNvPr id="2" name="Imagem 1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801" y="6149818"/>
            <a:ext cx="1146050" cy="6278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66620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Conheça o papel do servidor de dados">
            <a:extLst>
              <a:ext uri="{FF2B5EF4-FFF2-40B4-BE49-F238E27FC236}">
                <a16:creationId xmlns="" xmlns:a16="http://schemas.microsoft.com/office/drawing/2014/main" id="{276EB87D-1582-42AB-B72B-DEE229A2AFB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042035" y="0"/>
            <a:ext cx="14447520" cy="70637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325560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com Legenda">
    <p:bg>
      <p:bgPr>
        <a:gradFill rotWithShape="1">
          <a:gsLst>
            <a:gs pos="10000">
              <a:schemeClr val="tx1">
                <a:lumMod val="65000"/>
              </a:schemeClr>
            </a:gs>
            <a:gs pos="100000">
              <a:schemeClr val="bg2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 descr="Uma imagem contendo no interior, laptop, computador, aberto&#10;&#10;Descrição gerada automaticamente">
            <a:extLst>
              <a:ext uri="{FF2B5EF4-FFF2-40B4-BE49-F238E27FC236}">
                <a16:creationId xmlns="" xmlns:a16="http://schemas.microsoft.com/office/drawing/2014/main" id="{7DA3707D-2C3F-4DF1-B4DC-3B4B96E3556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294638"/>
            <a:ext cx="12192000" cy="10155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61173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iapositivo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8" name="Picture 10">
            <a:extLst>
              <a:ext uri="{FF2B5EF4-FFF2-40B4-BE49-F238E27FC236}">
                <a16:creationId xmlns="" xmlns:a16="http://schemas.microsoft.com/office/drawing/2014/main" id="{EBD05272-D5C3-4D98-998A-E3D1F377566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717042"/>
            <a:ext cx="12179431" cy="81236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Imagem 8">
            <a:extLst>
              <a:ext uri="{FF2B5EF4-FFF2-40B4-BE49-F238E27FC236}">
                <a16:creationId xmlns="" xmlns:a16="http://schemas.microsoft.com/office/drawing/2014/main" id="{DF90E069-83FD-46B5-8AFB-37C4339ABC7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61861" y="314216"/>
            <a:ext cx="2623245" cy="760206"/>
          </a:xfrm>
          <a:prstGeom prst="rect">
            <a:avLst/>
          </a:prstGeom>
        </p:spPr>
      </p:pic>
      <p:pic>
        <p:nvPicPr>
          <p:cNvPr id="2056" name="Picture 8" descr="Image result for mcdonalds">
            <a:extLst>
              <a:ext uri="{FF2B5EF4-FFF2-40B4-BE49-F238E27FC236}">
                <a16:creationId xmlns="" xmlns:a16="http://schemas.microsoft.com/office/drawing/2014/main" id="{1464E124-CAFC-4328-9AD5-BF094A6B1BE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7198" y="5042589"/>
            <a:ext cx="1532573" cy="15325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56521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iapositivo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8" name="Picture 10">
            <a:extLst>
              <a:ext uri="{FF2B5EF4-FFF2-40B4-BE49-F238E27FC236}">
                <a16:creationId xmlns="" xmlns:a16="http://schemas.microsoft.com/office/drawing/2014/main" id="{EBD05272-D5C3-4D98-998A-E3D1F377566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alphaModFix amt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"/>
            <a:ext cx="1219581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Oval 14">
            <a:extLst>
              <a:ext uri="{FF2B5EF4-FFF2-40B4-BE49-F238E27FC236}">
                <a16:creationId xmlns="" xmlns:a16="http://schemas.microsoft.com/office/drawing/2014/main" id="{779BF8EE-A8BA-4D40-8BA1-DFC96F917F61}"/>
              </a:ext>
            </a:extLst>
          </p:cNvPr>
          <p:cNvSpPr/>
          <p:nvPr userDrawn="1"/>
        </p:nvSpPr>
        <p:spPr>
          <a:xfrm rot="20956176">
            <a:off x="-700419" y="-33825"/>
            <a:ext cx="1133938" cy="1133938"/>
          </a:xfrm>
          <a:prstGeom prst="ellipse">
            <a:avLst/>
          </a:prstGeom>
          <a:solidFill>
            <a:schemeClr val="accent5">
              <a:lumMod val="5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prstClr val="white"/>
              </a:solidFill>
            </a:endParaRPr>
          </a:p>
        </p:txBody>
      </p:sp>
      <p:cxnSp>
        <p:nvCxnSpPr>
          <p:cNvPr id="11" name="Conector reto 10">
            <a:extLst>
              <a:ext uri="{FF2B5EF4-FFF2-40B4-BE49-F238E27FC236}">
                <a16:creationId xmlns="" xmlns:a16="http://schemas.microsoft.com/office/drawing/2014/main" id="{10A977F0-328E-4829-BCCC-FBB3D790A468}"/>
              </a:ext>
            </a:extLst>
          </p:cNvPr>
          <p:cNvCxnSpPr>
            <a:cxnSpLocks/>
          </p:cNvCxnSpPr>
          <p:nvPr userDrawn="1"/>
        </p:nvCxnSpPr>
        <p:spPr>
          <a:xfrm>
            <a:off x="427232" y="644291"/>
            <a:ext cx="11094208" cy="0"/>
          </a:xfrm>
          <a:prstGeom prst="line">
            <a:avLst/>
          </a:prstGeom>
          <a:solidFill>
            <a:srgbClr val="FF6600">
              <a:alpha val="42000"/>
            </a:srgbClr>
          </a:solidFill>
          <a:ln w="57150">
            <a:solidFill>
              <a:schemeClr val="accent5">
                <a:lumMod val="50000"/>
                <a:alpha val="42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</p:spTree>
    <p:extLst>
      <p:ext uri="{BB962C8B-B14F-4D97-AF65-F5344CB8AC3E}">
        <p14:creationId xmlns:p14="http://schemas.microsoft.com/office/powerpoint/2010/main" val="40657632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apositivo de Título">
    <p:bg>
      <p:bgPr>
        <a:gradFill rotWithShape="1">
          <a:gsLst>
            <a:gs pos="10000">
              <a:schemeClr val="bg2">
                <a:tint val="97000"/>
                <a:hueMod val="92000"/>
                <a:satMod val="169000"/>
                <a:lumMod val="164000"/>
                <a:alpha val="61000"/>
              </a:schemeClr>
            </a:gs>
            <a:gs pos="100000">
              <a:schemeClr val="bg2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8" name="Picture 10">
            <a:extLst>
              <a:ext uri="{FF2B5EF4-FFF2-40B4-BE49-F238E27FC236}">
                <a16:creationId xmlns="" xmlns:a16="http://schemas.microsoft.com/office/drawing/2014/main" id="{EBD05272-D5C3-4D98-998A-E3D1F377566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alphaModFix amt="61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5760"/>
                    </a14:imgEffect>
                    <a14:imgEffect>
                      <a14:brightnessContrast brigh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"/>
            <a:ext cx="1219581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0350478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B2B22-2D13-DA42-981B-3A66370B0456}" type="datetimeFigureOut">
              <a:rPr lang="en-US" smtClean="0"/>
              <a:t>10/23/2019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CD1BA-FA43-C64B-AF9D-A5FEACBBA63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714919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B2B22-2D13-DA42-981B-3A66370B0456}" type="datetimeFigureOut">
              <a:rPr lang="en-US" smtClean="0"/>
              <a:t>10/23/2019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CD1BA-FA43-C64B-AF9D-A5FEACBBA63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468668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B2B22-2D13-DA42-981B-3A66370B0456}" type="datetimeFigureOut">
              <a:rPr lang="en-US" smtClean="0"/>
              <a:t>10/23/2019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CD1BA-FA43-C64B-AF9D-A5FEACBBA63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540176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B2B22-2D13-DA42-981B-3A66370B0456}" type="datetimeFigureOut">
              <a:rPr lang="en-US" smtClean="0"/>
              <a:t>10/23/2019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CD1BA-FA43-C64B-AF9D-A5FEACBBA63E}" type="slidenum">
              <a:rPr lang="en-US" smtClean="0"/>
              <a:t>‹nº›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58356510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B2B22-2D13-DA42-981B-3A66370B0456}" type="datetimeFigureOut">
              <a:rPr lang="en-US" smtClean="0"/>
              <a:t>10/23/2019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CD1BA-FA43-C64B-AF9D-A5FEACBBA63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585429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o 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B2B22-2D13-DA42-981B-3A66370B0456}" type="datetimeFigureOut">
              <a:rPr lang="en-US" smtClean="0"/>
              <a:t>10/23/2019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CD1BA-FA43-C64B-AF9D-A5FEACBBA63E}" type="slidenum">
              <a:rPr lang="en-US" smtClean="0"/>
              <a:t>‹nº›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0016110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iro ou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B2B22-2D13-DA42-981B-3A66370B0456}" type="datetimeFigureOut">
              <a:rPr lang="en-US" smtClean="0"/>
              <a:t>10/23/2019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CD1BA-FA43-C64B-AF9D-A5FEACBBA63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150928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B2B22-2D13-DA42-981B-3A66370B0456}" type="datetimeFigureOut">
              <a:rPr lang="en-US" smtClean="0"/>
              <a:t>10/23/2019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CD1BA-FA43-C64B-AF9D-A5FEACBBA63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313159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B2B22-2D13-DA42-981B-3A66370B0456}" type="datetimeFigureOut">
              <a:rPr lang="en-US" smtClean="0"/>
              <a:t>10/23/2019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CD1BA-FA43-C64B-AF9D-A5FEACBBA63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64894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62DB2B22-2D13-DA42-981B-3A66370B0456}" type="datetimeFigureOut">
              <a:rPr lang="en-US" smtClean="0"/>
              <a:t>10/23/2019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65DCD1BA-FA43-C64B-AF9D-A5FEACBBA63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472077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72" r:id="rId9"/>
    <p:sldLayoutId id="2147483692" r:id="rId10"/>
    <p:sldLayoutId id="2147483691" r:id="rId11"/>
    <p:sldLayoutId id="2147483682" r:id="rId12"/>
    <p:sldLayoutId id="2147483683" r:id="rId13"/>
    <p:sldLayoutId id="2147483684" r:id="rId14"/>
    <p:sldLayoutId id="2147483685" r:id="rId15"/>
    <p:sldLayoutId id="2147483686" r:id="rId16"/>
    <p:sldLayoutId id="2147483687" r:id="rId17"/>
    <p:sldLayoutId id="2147483688" r:id="rId18"/>
    <p:sldLayoutId id="2147483689" r:id="rId19"/>
    <p:sldLayoutId id="2147483690" r:id="rId20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9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3" Type="http://schemas.openxmlformats.org/officeDocument/2006/relationships/image" Target="../media/image16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6" Type="http://schemas.microsoft.com/office/2007/relationships/hdphoto" Target="../media/hdphoto4.wdp"/><Relationship Id="rId5" Type="http://schemas.openxmlformats.org/officeDocument/2006/relationships/image" Target="../media/image17.png"/><Relationship Id="rId4" Type="http://schemas.microsoft.com/office/2007/relationships/hdphoto" Target="../media/hdphoto3.wdp"/><Relationship Id="rId9" Type="http://schemas.openxmlformats.org/officeDocument/2006/relationships/image" Target="../media/image19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13" Type="http://schemas.openxmlformats.org/officeDocument/2006/relationships/oleObject" Target="../embeddings/oleObject3.bin"/><Relationship Id="rId18" Type="http://schemas.openxmlformats.org/officeDocument/2006/relationships/image" Target="../media/image25.wmf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12" Type="http://schemas.openxmlformats.org/officeDocument/2006/relationships/image" Target="../media/image22.wmf"/><Relationship Id="rId17" Type="http://schemas.openxmlformats.org/officeDocument/2006/relationships/oleObject" Target="../embeddings/oleObject5.bin"/><Relationship Id="rId2" Type="http://schemas.openxmlformats.org/officeDocument/2006/relationships/slideLayout" Target="../slideLayouts/slideLayout6.xml"/><Relationship Id="rId16" Type="http://schemas.openxmlformats.org/officeDocument/2006/relationships/image" Target="../media/image24.wmf"/><Relationship Id="rId1" Type="http://schemas.openxmlformats.org/officeDocument/2006/relationships/vmlDrawing" Target="../drawings/vmlDrawing1.vml"/><Relationship Id="rId6" Type="http://schemas.openxmlformats.org/officeDocument/2006/relationships/image" Target="../media/image29.png"/><Relationship Id="rId11" Type="http://schemas.openxmlformats.org/officeDocument/2006/relationships/oleObject" Target="../embeddings/oleObject2.bin"/><Relationship Id="rId5" Type="http://schemas.openxmlformats.org/officeDocument/2006/relationships/image" Target="../media/image28.png"/><Relationship Id="rId15" Type="http://schemas.openxmlformats.org/officeDocument/2006/relationships/oleObject" Target="../embeddings/oleObject4.bin"/><Relationship Id="rId10" Type="http://schemas.openxmlformats.org/officeDocument/2006/relationships/image" Target="../media/image21.wmf"/><Relationship Id="rId19" Type="http://schemas.openxmlformats.org/officeDocument/2006/relationships/image" Target="../media/image32.png"/><Relationship Id="rId4" Type="http://schemas.openxmlformats.org/officeDocument/2006/relationships/image" Target="../media/image27.png"/><Relationship Id="rId9" Type="http://schemas.openxmlformats.org/officeDocument/2006/relationships/oleObject" Target="../embeddings/oleObject1.bin"/><Relationship Id="rId14" Type="http://schemas.openxmlformats.org/officeDocument/2006/relationships/image" Target="../media/image23.w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emf"/><Relationship Id="rId2" Type="http://schemas.openxmlformats.org/officeDocument/2006/relationships/image" Target="../media/image33.emf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6.emf"/><Relationship Id="rId4" Type="http://schemas.openxmlformats.org/officeDocument/2006/relationships/image" Target="../media/image35.emf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8" Type="http://schemas.microsoft.com/office/2007/relationships/hdphoto" Target="../media/hdphoto5.wdp"/><Relationship Id="rId13" Type="http://schemas.openxmlformats.org/officeDocument/2006/relationships/image" Target="../media/image55.png"/><Relationship Id="rId3" Type="http://schemas.openxmlformats.org/officeDocument/2006/relationships/image" Target="../media/image48.png"/><Relationship Id="rId7" Type="http://schemas.openxmlformats.org/officeDocument/2006/relationships/image" Target="../media/image52.png"/><Relationship Id="rId12" Type="http://schemas.openxmlformats.org/officeDocument/2006/relationships/image" Target="../media/image54.png"/><Relationship Id="rId17" Type="http://schemas.microsoft.com/office/2007/relationships/hdphoto" Target="../media/hdphoto2.wdp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13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1.png"/><Relationship Id="rId11" Type="http://schemas.microsoft.com/office/2007/relationships/hdphoto" Target="../media/hdphoto6.wdp"/><Relationship Id="rId5" Type="http://schemas.openxmlformats.org/officeDocument/2006/relationships/image" Target="../media/image50.png"/><Relationship Id="rId15" Type="http://schemas.microsoft.com/office/2007/relationships/hdphoto" Target="../media/hdphoto7.wdp"/><Relationship Id="rId10" Type="http://schemas.openxmlformats.org/officeDocument/2006/relationships/image" Target="../media/image53.png"/><Relationship Id="rId4" Type="http://schemas.openxmlformats.org/officeDocument/2006/relationships/image" Target="../media/image49.png"/><Relationship Id="rId9" Type="http://schemas.openxmlformats.org/officeDocument/2006/relationships/image" Target="../media/image14.png"/><Relationship Id="rId14" Type="http://schemas.openxmlformats.org/officeDocument/2006/relationships/image" Target="../media/image5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0.png"/><Relationship Id="rId5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emf"/><Relationship Id="rId3" Type="http://schemas.openxmlformats.org/officeDocument/2006/relationships/image" Target="../media/image61.emf"/><Relationship Id="rId7" Type="http://schemas.openxmlformats.org/officeDocument/2006/relationships/image" Target="../media/image65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64.emf"/><Relationship Id="rId11" Type="http://schemas.openxmlformats.org/officeDocument/2006/relationships/image" Target="../media/image68.emf"/><Relationship Id="rId5" Type="http://schemas.openxmlformats.org/officeDocument/2006/relationships/image" Target="../media/image63.emf"/><Relationship Id="rId10" Type="http://schemas.openxmlformats.org/officeDocument/2006/relationships/image" Target="../media/image67.emf"/><Relationship Id="rId4" Type="http://schemas.openxmlformats.org/officeDocument/2006/relationships/image" Target="../media/image62.emf"/><Relationship Id="rId9" Type="http://schemas.openxmlformats.org/officeDocument/2006/relationships/image" Target="../media/image66.emf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7" Type="http://schemas.microsoft.com/office/2007/relationships/hdphoto" Target="../media/hdphoto5.wdp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2.png"/><Relationship Id="rId5" Type="http://schemas.openxmlformats.org/officeDocument/2006/relationships/image" Target="../media/image14.png"/><Relationship Id="rId4" Type="http://schemas.openxmlformats.org/officeDocument/2006/relationships/image" Target="../media/image70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Lágrima 4">
            <a:extLst>
              <a:ext uri="{FF2B5EF4-FFF2-40B4-BE49-F238E27FC236}">
                <a16:creationId xmlns="" xmlns:a16="http://schemas.microsoft.com/office/drawing/2014/main" id="{AB8CB157-9271-4C09-9D51-821C244DFE28}"/>
              </a:ext>
            </a:extLst>
          </p:cNvPr>
          <p:cNvSpPr/>
          <p:nvPr/>
        </p:nvSpPr>
        <p:spPr>
          <a:xfrm>
            <a:off x="6096001" y="-1267692"/>
            <a:ext cx="6908506" cy="6799812"/>
          </a:xfrm>
          <a:prstGeom prst="teardrop">
            <a:avLst/>
          </a:prstGeom>
          <a:solidFill>
            <a:srgbClr val="FF6600">
              <a:alpha val="4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pt-BR">
              <a:solidFill>
                <a:prstClr val="white"/>
              </a:solidFill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="" xmlns:a16="http://schemas.microsoft.com/office/drawing/2014/main" id="{F37BB114-B973-4869-852C-24FBF98B02D4}"/>
              </a:ext>
            </a:extLst>
          </p:cNvPr>
          <p:cNvSpPr txBox="1"/>
          <p:nvPr/>
        </p:nvSpPr>
        <p:spPr>
          <a:xfrm>
            <a:off x="6183630" y="658697"/>
            <a:ext cx="6015463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/>
            <a:r>
              <a:rPr lang="pt-BR" sz="2400" b="1" dirty="0">
                <a:latin typeface="Trebuchet MS" panose="020B0603020202020204" pitchFamily="34" charset="0"/>
              </a:rPr>
              <a:t>Restaurantes Inteligentes </a:t>
            </a:r>
            <a:r>
              <a:rPr lang="pt-BR" sz="2400" b="1" dirty="0" err="1">
                <a:latin typeface="Trebuchet MS" panose="020B0603020202020204" pitchFamily="34" charset="0"/>
              </a:rPr>
              <a:t>McDonalds</a:t>
            </a:r>
            <a:endParaRPr lang="pt-BR" sz="2400" b="1" dirty="0">
              <a:latin typeface="Trebuchet MS" panose="020B0603020202020204" pitchFamily="34" charset="0"/>
            </a:endParaRPr>
          </a:p>
          <a:p>
            <a:pPr algn="ctr" defTabSz="457200"/>
            <a:endParaRPr lang="pt-BR" sz="1000" b="1" dirty="0">
              <a:latin typeface="Trebuchet MS" panose="020B0603020202020204" pitchFamily="34" charset="0"/>
            </a:endParaRPr>
          </a:p>
          <a:p>
            <a:pPr algn="ctr" defTabSz="457200"/>
            <a:r>
              <a:rPr lang="pt-BR" sz="2400" b="1" dirty="0">
                <a:latin typeface="Trebuchet MS" panose="020B0603020202020204" pitchFamily="34" charset="0"/>
              </a:rPr>
              <a:t>Gerenciamento Automático de Processos</a:t>
            </a:r>
          </a:p>
          <a:p>
            <a:pPr algn="ctr" defTabSz="457200"/>
            <a:endParaRPr lang="pt-BR" sz="2400" b="1" dirty="0">
              <a:solidFill>
                <a:prstClr val="white"/>
              </a:solidFill>
              <a:latin typeface="Trebuchet MS" panose="020B0603020202020204" pitchFamily="34" charset="0"/>
            </a:endParaRPr>
          </a:p>
        </p:txBody>
      </p:sp>
      <p:cxnSp>
        <p:nvCxnSpPr>
          <p:cNvPr id="7" name="Conector reto 6">
            <a:extLst>
              <a:ext uri="{FF2B5EF4-FFF2-40B4-BE49-F238E27FC236}">
                <a16:creationId xmlns="" xmlns:a16="http://schemas.microsoft.com/office/drawing/2014/main" id="{1BD0E3ED-3C47-4614-9E3F-761989D8B16D}"/>
              </a:ext>
            </a:extLst>
          </p:cNvPr>
          <p:cNvCxnSpPr/>
          <p:nvPr/>
        </p:nvCxnSpPr>
        <p:spPr>
          <a:xfrm>
            <a:off x="7308117" y="1924488"/>
            <a:ext cx="4890976" cy="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aixaDeTexto 7">
            <a:extLst>
              <a:ext uri="{FF2B5EF4-FFF2-40B4-BE49-F238E27FC236}">
                <a16:creationId xmlns="" xmlns:a16="http://schemas.microsoft.com/office/drawing/2014/main" id="{8C712A0D-570A-4AF6-BB35-EEAA19CF799F}"/>
              </a:ext>
            </a:extLst>
          </p:cNvPr>
          <p:cNvSpPr txBox="1"/>
          <p:nvPr/>
        </p:nvSpPr>
        <p:spPr>
          <a:xfrm>
            <a:off x="6726245" y="2101339"/>
            <a:ext cx="58537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/>
            <a:r>
              <a:rPr lang="pt-BR" sz="1200" b="1" i="1" dirty="0">
                <a:solidFill>
                  <a:srgbClr val="FFFF00"/>
                </a:solidFill>
                <a:latin typeface="Trebuchet MS" panose="020B0603020202020204" pitchFamily="34" charset="0"/>
              </a:rPr>
              <a:t>Outubro/2019</a:t>
            </a:r>
            <a:endParaRPr lang="pt-BR" sz="2000" b="1" i="1" dirty="0">
              <a:solidFill>
                <a:srgbClr val="FFFF00"/>
              </a:solidFill>
              <a:latin typeface="Trebuchet MS" panose="020B0603020202020204" pitchFamily="34" charset="0"/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="" xmlns:a16="http://schemas.microsoft.com/office/drawing/2014/main" id="{3C3104D8-7C50-41C3-BBEE-9E8FEF1374B9}"/>
              </a:ext>
            </a:extLst>
          </p:cNvPr>
          <p:cNvSpPr txBox="1"/>
          <p:nvPr/>
        </p:nvSpPr>
        <p:spPr>
          <a:xfrm>
            <a:off x="6726245" y="3639221"/>
            <a:ext cx="58537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/>
            <a:r>
              <a:rPr lang="pt-BR" sz="1200" b="1" i="1" dirty="0">
                <a:solidFill>
                  <a:srgbClr val="FFFF00"/>
                </a:solidFill>
                <a:latin typeface="Trebuchet MS" panose="020B0603020202020204" pitchFamily="34" charset="0"/>
              </a:rPr>
              <a:t>Eduardo Pexe</a:t>
            </a:r>
          </a:p>
          <a:p>
            <a:pPr algn="ctr" defTabSz="457200"/>
            <a:r>
              <a:rPr lang="pt-BR" sz="1200" b="1" i="1" dirty="0">
                <a:solidFill>
                  <a:srgbClr val="FFFF00"/>
                </a:solidFill>
                <a:latin typeface="Trebuchet MS" panose="020B0603020202020204" pitchFamily="34" charset="0"/>
              </a:rPr>
              <a:t>Javier Garcia</a:t>
            </a:r>
          </a:p>
          <a:p>
            <a:pPr algn="ctr" defTabSz="457200"/>
            <a:r>
              <a:rPr lang="pt-BR" sz="1200" b="1" i="1" dirty="0">
                <a:solidFill>
                  <a:srgbClr val="FFFF00"/>
                </a:solidFill>
                <a:latin typeface="Trebuchet MS" panose="020B0603020202020204" pitchFamily="34" charset="0"/>
              </a:rPr>
              <a:t>Willians Longo</a:t>
            </a:r>
          </a:p>
        </p:txBody>
      </p:sp>
      <p:pic>
        <p:nvPicPr>
          <p:cNvPr id="10" name="Imagem 9">
            <a:extLst>
              <a:ext uri="{FF2B5EF4-FFF2-40B4-BE49-F238E27FC236}">
                <a16:creationId xmlns="" xmlns:a16="http://schemas.microsoft.com/office/drawing/2014/main" id="{EFF8C02B-7015-42EA-B611-FD9C077579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62" y="56176"/>
            <a:ext cx="3620797" cy="1049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81445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P spid="8" grpId="0"/>
      <p:bldP spid="9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tx1">
                <a:lumMod val="75000"/>
              </a:schemeClr>
            </a:gs>
            <a:gs pos="100000">
              <a:schemeClr val="bg2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>
            <a:extLst>
              <a:ext uri="{FF2B5EF4-FFF2-40B4-BE49-F238E27FC236}">
                <a16:creationId xmlns="" xmlns:a16="http://schemas.microsoft.com/office/drawing/2014/main" id="{9C8B3718-7911-466E-90D7-6093ED8E38A1}"/>
              </a:ext>
            </a:extLst>
          </p:cNvPr>
          <p:cNvSpPr/>
          <p:nvPr/>
        </p:nvSpPr>
        <p:spPr>
          <a:xfrm>
            <a:off x="5527343" y="0"/>
            <a:ext cx="6664657" cy="6860516"/>
          </a:xfrm>
          <a:prstGeom prst="rect">
            <a:avLst/>
          </a:prstGeom>
          <a:solidFill>
            <a:srgbClr val="110C0C">
              <a:alpha val="6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grpSp>
        <p:nvGrpSpPr>
          <p:cNvPr id="8" name="Grupo 71">
            <a:extLst>
              <a:ext uri="{FF2B5EF4-FFF2-40B4-BE49-F238E27FC236}">
                <a16:creationId xmlns="" xmlns:a16="http://schemas.microsoft.com/office/drawing/2014/main" id="{5D8F9812-1DD3-47A4-82F7-3DB9A203AFA5}"/>
              </a:ext>
            </a:extLst>
          </p:cNvPr>
          <p:cNvGrpSpPr/>
          <p:nvPr/>
        </p:nvGrpSpPr>
        <p:grpSpPr>
          <a:xfrm>
            <a:off x="5559078" y="51723"/>
            <a:ext cx="6553319" cy="651423"/>
            <a:chOff x="3818964" y="2871625"/>
            <a:chExt cx="5042138" cy="651423"/>
          </a:xfrm>
          <a:solidFill>
            <a:srgbClr val="66FFFF"/>
          </a:solidFill>
        </p:grpSpPr>
        <p:sp>
          <p:nvSpPr>
            <p:cNvPr id="9" name="Arredondar Retângulo no Mesmo Canto Lateral 72">
              <a:extLst>
                <a:ext uri="{FF2B5EF4-FFF2-40B4-BE49-F238E27FC236}">
                  <a16:creationId xmlns="" xmlns:a16="http://schemas.microsoft.com/office/drawing/2014/main" id="{D87219C4-BF62-4D57-988D-EFD2A42BE47D}"/>
                </a:ext>
              </a:extLst>
            </p:cNvPr>
            <p:cNvSpPr/>
            <p:nvPr/>
          </p:nvSpPr>
          <p:spPr>
            <a:xfrm flipV="1">
              <a:off x="3818964" y="2871625"/>
              <a:ext cx="5042138" cy="651423"/>
            </a:xfrm>
            <a:prstGeom prst="round2Same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pt-BR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10" name="Retângulo 9">
              <a:extLst>
                <a:ext uri="{FF2B5EF4-FFF2-40B4-BE49-F238E27FC236}">
                  <a16:creationId xmlns="" xmlns:a16="http://schemas.microsoft.com/office/drawing/2014/main" id="{EA46D906-F092-48F7-9628-1687AA957A7D}"/>
                </a:ext>
              </a:extLst>
            </p:cNvPr>
            <p:cNvSpPr/>
            <p:nvPr/>
          </p:nvSpPr>
          <p:spPr>
            <a:xfrm>
              <a:off x="3843263" y="2899009"/>
              <a:ext cx="4925858" cy="584776"/>
            </a:xfrm>
            <a:prstGeom prst="rect">
              <a:avLst/>
            </a:prstGeom>
            <a:grpFill/>
          </p:spPr>
          <p:txBody>
            <a:bodyPr wrap="square">
              <a:spAutoFit/>
            </a:bodyPr>
            <a:lstStyle/>
            <a:p>
              <a:pPr algn="ctr" defTabSz="1218864">
                <a:defRPr/>
              </a:pPr>
              <a:r>
                <a:rPr lang="pt-BR" sz="3200" b="1" dirty="0">
                  <a:solidFill>
                    <a:schemeClr val="accent1">
                      <a:lumMod val="50000"/>
                    </a:schemeClr>
                  </a:solidFill>
                  <a:latin typeface="Calibri" panose="020F0502020204030204"/>
                  <a:ea typeface="Open Sans Extrabold" pitchFamily="34" charset="0"/>
                  <a:cs typeface="Open Sans Extrabold" pitchFamily="34" charset="0"/>
                </a:rPr>
                <a:t>Missão Valores e Visão </a:t>
              </a:r>
            </a:p>
          </p:txBody>
        </p:sp>
      </p:grpSp>
      <p:sp>
        <p:nvSpPr>
          <p:cNvPr id="11" name="CaixaDeTexto 10">
            <a:extLst>
              <a:ext uri="{FF2B5EF4-FFF2-40B4-BE49-F238E27FC236}">
                <a16:creationId xmlns="" xmlns:a16="http://schemas.microsoft.com/office/drawing/2014/main" id="{E3FEAFD3-A99E-4B2A-B22F-8AB170B0B9BB}"/>
              </a:ext>
            </a:extLst>
          </p:cNvPr>
          <p:cNvSpPr txBox="1"/>
          <p:nvPr/>
        </p:nvSpPr>
        <p:spPr>
          <a:xfrm>
            <a:off x="5704764" y="1345839"/>
            <a:ext cx="6276847" cy="38318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Clr>
                <a:srgbClr val="FF6600"/>
              </a:buClr>
              <a:buFont typeface="Wingdings" panose="05000000000000000000" pitchFamily="2" charset="2"/>
              <a:buChar char="Ø"/>
            </a:pPr>
            <a:r>
              <a:rPr lang="pt-BR" b="1" i="1" dirty="0">
                <a:latin typeface="+mj-lt"/>
              </a:rPr>
              <a:t>Missão: - Proporcionar aos Clientes e Parceiros através de Processos Tecnológicos ganho de eficiência financeira.</a:t>
            </a:r>
          </a:p>
          <a:p>
            <a:pPr marL="285750" indent="-285750">
              <a:lnSpc>
                <a:spcPct val="150000"/>
              </a:lnSpc>
              <a:buClr>
                <a:srgbClr val="FF6600"/>
              </a:buClr>
              <a:buFont typeface="Wingdings" panose="05000000000000000000" pitchFamily="2" charset="2"/>
              <a:buChar char="Ø"/>
            </a:pPr>
            <a:endParaRPr lang="pt-BR" b="1" i="1" dirty="0">
              <a:latin typeface="+mj-lt"/>
            </a:endParaRPr>
          </a:p>
          <a:p>
            <a:pPr marL="285750" indent="-285750">
              <a:lnSpc>
                <a:spcPct val="150000"/>
              </a:lnSpc>
              <a:buClr>
                <a:srgbClr val="FF6600"/>
              </a:buClr>
              <a:buFont typeface="Wingdings" panose="05000000000000000000" pitchFamily="2" charset="2"/>
              <a:buChar char="Ø"/>
            </a:pPr>
            <a:r>
              <a:rPr lang="pt-BR" b="1" i="1" dirty="0">
                <a:latin typeface="+mj-lt"/>
              </a:rPr>
              <a:t>Valores: - Compromisso,  Transparência, Empatia e Versatilidade.</a:t>
            </a:r>
          </a:p>
          <a:p>
            <a:pPr marL="285750" indent="-285750">
              <a:lnSpc>
                <a:spcPct val="150000"/>
              </a:lnSpc>
              <a:buClr>
                <a:srgbClr val="FF6600"/>
              </a:buClr>
              <a:buFont typeface="Wingdings" panose="05000000000000000000" pitchFamily="2" charset="2"/>
              <a:buChar char="Ø"/>
            </a:pPr>
            <a:endParaRPr lang="pt-BR" b="1" i="1" dirty="0">
              <a:latin typeface="+mj-lt"/>
            </a:endParaRPr>
          </a:p>
          <a:p>
            <a:pPr marL="285750" indent="-285750">
              <a:lnSpc>
                <a:spcPct val="150000"/>
              </a:lnSpc>
              <a:buClr>
                <a:srgbClr val="FF6600"/>
              </a:buClr>
              <a:buFont typeface="Wingdings" panose="05000000000000000000" pitchFamily="2" charset="2"/>
              <a:buChar char="Ø"/>
            </a:pPr>
            <a:r>
              <a:rPr lang="pt-BR" b="1" i="1" dirty="0">
                <a:latin typeface="+mj-lt"/>
              </a:rPr>
              <a:t>Visão: - Ser Referencia em Soluções Inovadoras.</a:t>
            </a:r>
          </a:p>
          <a:p>
            <a:pPr marL="285750" indent="-285750">
              <a:lnSpc>
                <a:spcPct val="150000"/>
              </a:lnSpc>
              <a:buClr>
                <a:srgbClr val="FF6600"/>
              </a:buClr>
              <a:buFont typeface="Wingdings" panose="05000000000000000000" pitchFamily="2" charset="2"/>
              <a:buChar char="Ø"/>
            </a:pPr>
            <a:endParaRPr lang="pt-BR" b="1" i="1" dirty="0">
              <a:latin typeface="+mj-lt"/>
            </a:endParaRPr>
          </a:p>
        </p:txBody>
      </p:sp>
      <p:pic>
        <p:nvPicPr>
          <p:cNvPr id="15" name="Imagem 11">
            <a:extLst>
              <a:ext uri="{FF2B5EF4-FFF2-40B4-BE49-F238E27FC236}">
                <a16:creationId xmlns="" xmlns:a16="http://schemas.microsoft.com/office/drawing/2014/main" id="{44267804-7BCD-460C-B26B-04BA94C627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89591" y="6279631"/>
            <a:ext cx="1722806" cy="499262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="" xmlns:a16="http://schemas.microsoft.com/office/drawing/2014/main" id="{EFF8C02B-7015-42EA-B611-FD9C077579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66" y="15232"/>
            <a:ext cx="3620797" cy="1049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82928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tx1">
                <a:lumMod val="75000"/>
              </a:schemeClr>
            </a:gs>
            <a:gs pos="100000">
              <a:schemeClr val="bg2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>
            <a:extLst>
              <a:ext uri="{FF2B5EF4-FFF2-40B4-BE49-F238E27FC236}">
                <a16:creationId xmlns="" xmlns:a16="http://schemas.microsoft.com/office/drawing/2014/main" id="{9C8B3718-7911-466E-90D7-6093ED8E38A1}"/>
              </a:ext>
            </a:extLst>
          </p:cNvPr>
          <p:cNvSpPr/>
          <p:nvPr/>
        </p:nvSpPr>
        <p:spPr>
          <a:xfrm>
            <a:off x="7620000" y="0"/>
            <a:ext cx="4572000" cy="6860516"/>
          </a:xfrm>
          <a:prstGeom prst="rect">
            <a:avLst/>
          </a:prstGeom>
          <a:solidFill>
            <a:srgbClr val="110C0C">
              <a:alpha val="6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grpSp>
        <p:nvGrpSpPr>
          <p:cNvPr id="8" name="Grupo 71">
            <a:extLst>
              <a:ext uri="{FF2B5EF4-FFF2-40B4-BE49-F238E27FC236}">
                <a16:creationId xmlns="" xmlns:a16="http://schemas.microsoft.com/office/drawing/2014/main" id="{5D8F9812-1DD3-47A4-82F7-3DB9A203AFA5}"/>
              </a:ext>
            </a:extLst>
          </p:cNvPr>
          <p:cNvGrpSpPr/>
          <p:nvPr/>
        </p:nvGrpSpPr>
        <p:grpSpPr>
          <a:xfrm>
            <a:off x="7699602" y="51723"/>
            <a:ext cx="4412795" cy="651423"/>
            <a:chOff x="3818964" y="2871625"/>
            <a:chExt cx="5042138" cy="651423"/>
          </a:xfrm>
          <a:solidFill>
            <a:srgbClr val="66FFFF"/>
          </a:solidFill>
        </p:grpSpPr>
        <p:sp>
          <p:nvSpPr>
            <p:cNvPr id="9" name="Arredondar Retângulo no Mesmo Canto Lateral 72">
              <a:extLst>
                <a:ext uri="{FF2B5EF4-FFF2-40B4-BE49-F238E27FC236}">
                  <a16:creationId xmlns="" xmlns:a16="http://schemas.microsoft.com/office/drawing/2014/main" id="{D87219C4-BF62-4D57-988D-EFD2A42BE47D}"/>
                </a:ext>
              </a:extLst>
            </p:cNvPr>
            <p:cNvSpPr/>
            <p:nvPr/>
          </p:nvSpPr>
          <p:spPr>
            <a:xfrm flipV="1">
              <a:off x="3818964" y="2871625"/>
              <a:ext cx="5042138" cy="651423"/>
            </a:xfrm>
            <a:prstGeom prst="round2Same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pt-BR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10" name="Retângulo 9">
              <a:extLst>
                <a:ext uri="{FF2B5EF4-FFF2-40B4-BE49-F238E27FC236}">
                  <a16:creationId xmlns="" xmlns:a16="http://schemas.microsoft.com/office/drawing/2014/main" id="{EA46D906-F092-48F7-9628-1687AA957A7D}"/>
                </a:ext>
              </a:extLst>
            </p:cNvPr>
            <p:cNvSpPr/>
            <p:nvPr/>
          </p:nvSpPr>
          <p:spPr>
            <a:xfrm>
              <a:off x="3843263" y="2899009"/>
              <a:ext cx="4925858" cy="584776"/>
            </a:xfrm>
            <a:prstGeom prst="rect">
              <a:avLst/>
            </a:prstGeom>
            <a:grpFill/>
          </p:spPr>
          <p:txBody>
            <a:bodyPr wrap="square">
              <a:spAutoFit/>
            </a:bodyPr>
            <a:lstStyle/>
            <a:p>
              <a:pPr algn="ctr" defTabSz="1218864">
                <a:defRPr/>
              </a:pPr>
              <a:r>
                <a:rPr lang="pt-BR" sz="3200" b="1" dirty="0">
                  <a:solidFill>
                    <a:schemeClr val="accent1">
                      <a:lumMod val="50000"/>
                    </a:schemeClr>
                  </a:solidFill>
                  <a:latin typeface="Calibri" panose="020F0502020204030204"/>
                  <a:ea typeface="Open Sans Extrabold" pitchFamily="34" charset="0"/>
                  <a:cs typeface="Open Sans Extrabold" pitchFamily="34" charset="0"/>
                </a:rPr>
                <a:t>#AGENDA</a:t>
              </a:r>
            </a:p>
          </p:txBody>
        </p:sp>
      </p:grpSp>
      <p:sp>
        <p:nvSpPr>
          <p:cNvPr id="11" name="CaixaDeTexto 10">
            <a:extLst>
              <a:ext uri="{FF2B5EF4-FFF2-40B4-BE49-F238E27FC236}">
                <a16:creationId xmlns="" xmlns:a16="http://schemas.microsoft.com/office/drawing/2014/main" id="{E3FEAFD3-A99E-4B2A-B22F-8AB170B0B9BB}"/>
              </a:ext>
            </a:extLst>
          </p:cNvPr>
          <p:cNvSpPr txBox="1"/>
          <p:nvPr/>
        </p:nvSpPr>
        <p:spPr>
          <a:xfrm>
            <a:off x="7620000" y="1345839"/>
            <a:ext cx="4492397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Clr>
                <a:srgbClr val="FF6600"/>
              </a:buClr>
              <a:buFont typeface="Wingdings" panose="05000000000000000000" pitchFamily="2" charset="2"/>
              <a:buChar char="Ø"/>
            </a:pPr>
            <a:r>
              <a:rPr lang="pt-BR" b="1" i="1" dirty="0"/>
              <a:t>Metodologia Processos </a:t>
            </a:r>
            <a:r>
              <a:rPr lang="pt-BR" b="1" i="1" dirty="0" err="1"/>
              <a:t>Liinkoo</a:t>
            </a:r>
            <a:endParaRPr lang="pt-BR" b="1" i="1" dirty="0"/>
          </a:p>
          <a:p>
            <a:pPr marL="285750" indent="-285750">
              <a:lnSpc>
                <a:spcPct val="150000"/>
              </a:lnSpc>
              <a:buClr>
                <a:srgbClr val="FF6600"/>
              </a:buClr>
              <a:buFont typeface="Wingdings" panose="05000000000000000000" pitchFamily="2" charset="2"/>
              <a:buChar char="Ø"/>
            </a:pPr>
            <a:r>
              <a:rPr lang="pt-BR" b="1" i="1" dirty="0">
                <a:latin typeface="+mj-lt"/>
              </a:rPr>
              <a:t>Objetivo – Restaurante Inteligente</a:t>
            </a:r>
          </a:p>
          <a:p>
            <a:pPr marL="285750" indent="-285750">
              <a:lnSpc>
                <a:spcPct val="150000"/>
              </a:lnSpc>
              <a:buClr>
                <a:srgbClr val="FF6600"/>
              </a:buClr>
              <a:buFont typeface="Wingdings" panose="05000000000000000000" pitchFamily="2" charset="2"/>
              <a:buChar char="Ø"/>
            </a:pPr>
            <a:r>
              <a:rPr lang="pt-BR" b="1" i="1" dirty="0"/>
              <a:t>Gerenciamento Processos</a:t>
            </a:r>
            <a:endParaRPr lang="pt-BR" b="1" i="1" dirty="0">
              <a:latin typeface="+mj-lt"/>
            </a:endParaRPr>
          </a:p>
          <a:p>
            <a:pPr marL="285750" indent="-285750">
              <a:lnSpc>
                <a:spcPct val="150000"/>
              </a:lnSpc>
              <a:buClr>
                <a:srgbClr val="FF6600"/>
              </a:buClr>
              <a:buFont typeface="Wingdings" panose="05000000000000000000" pitchFamily="2" charset="2"/>
              <a:buChar char="Ø"/>
            </a:pPr>
            <a:r>
              <a:rPr lang="pt-BR" b="1" i="1" dirty="0">
                <a:latin typeface="+mj-lt"/>
              </a:rPr>
              <a:t>Topologia</a:t>
            </a:r>
          </a:p>
          <a:p>
            <a:pPr marL="285750" indent="-285750">
              <a:lnSpc>
                <a:spcPct val="150000"/>
              </a:lnSpc>
              <a:buClr>
                <a:srgbClr val="FF6600"/>
              </a:buClr>
              <a:buFont typeface="Wingdings" panose="05000000000000000000" pitchFamily="2" charset="2"/>
              <a:buChar char="Ø"/>
            </a:pPr>
            <a:r>
              <a:rPr lang="pt-BR" b="1" i="1" dirty="0">
                <a:latin typeface="+mj-lt"/>
              </a:rPr>
              <a:t>Arquitetura Funcional</a:t>
            </a:r>
          </a:p>
          <a:p>
            <a:pPr marL="285750" indent="-285750">
              <a:lnSpc>
                <a:spcPct val="150000"/>
              </a:lnSpc>
              <a:buClr>
                <a:srgbClr val="FF6600"/>
              </a:buClr>
              <a:buFont typeface="Wingdings" panose="05000000000000000000" pitchFamily="2" charset="2"/>
              <a:buChar char="Ø"/>
            </a:pPr>
            <a:r>
              <a:rPr lang="pt-BR" b="1" i="1" dirty="0">
                <a:latin typeface="+mj-lt"/>
              </a:rPr>
              <a:t>Próximos Passos</a:t>
            </a:r>
          </a:p>
          <a:p>
            <a:pPr marL="285750" indent="-285750">
              <a:lnSpc>
                <a:spcPct val="150000"/>
              </a:lnSpc>
              <a:buClr>
                <a:srgbClr val="FF6600"/>
              </a:buClr>
              <a:buFont typeface="Wingdings" panose="05000000000000000000" pitchFamily="2" charset="2"/>
              <a:buChar char="Ø"/>
            </a:pPr>
            <a:r>
              <a:rPr lang="pt-BR" b="1" i="1" dirty="0">
                <a:latin typeface="+mj-lt"/>
              </a:rPr>
              <a:t>Dinâmica de Trabalho</a:t>
            </a:r>
          </a:p>
          <a:p>
            <a:pPr marL="285750" indent="-285750">
              <a:lnSpc>
                <a:spcPct val="150000"/>
              </a:lnSpc>
              <a:buClr>
                <a:srgbClr val="FF6600"/>
              </a:buClr>
              <a:buFont typeface="Wingdings" panose="05000000000000000000" pitchFamily="2" charset="2"/>
              <a:buChar char="Ø"/>
            </a:pPr>
            <a:r>
              <a:rPr lang="pt-BR" b="1" i="1" dirty="0">
                <a:latin typeface="+mj-lt"/>
              </a:rPr>
              <a:t>Governança de Dados</a:t>
            </a:r>
          </a:p>
          <a:p>
            <a:pPr marL="285750" indent="-285750">
              <a:lnSpc>
                <a:spcPct val="150000"/>
              </a:lnSpc>
              <a:buClr>
                <a:srgbClr val="FF6600"/>
              </a:buClr>
              <a:buFont typeface="Wingdings" panose="05000000000000000000" pitchFamily="2" charset="2"/>
              <a:buChar char="Ø"/>
            </a:pPr>
            <a:r>
              <a:rPr lang="pt-BR" b="1" i="1" dirty="0"/>
              <a:t>Cases</a:t>
            </a:r>
            <a:endParaRPr lang="pt-BR" b="1" i="1" dirty="0">
              <a:latin typeface="+mj-lt"/>
            </a:endParaRPr>
          </a:p>
          <a:p>
            <a:pPr marL="285750" indent="-285750">
              <a:lnSpc>
                <a:spcPct val="150000"/>
              </a:lnSpc>
              <a:buClr>
                <a:srgbClr val="FF6600"/>
              </a:buClr>
              <a:buFont typeface="Wingdings" panose="05000000000000000000" pitchFamily="2" charset="2"/>
              <a:buChar char="Ø"/>
            </a:pPr>
            <a:r>
              <a:rPr lang="pt-BR" b="1" i="1" dirty="0">
                <a:latin typeface="+mj-lt"/>
              </a:rPr>
              <a:t>Perguntas e Respostas</a:t>
            </a:r>
          </a:p>
        </p:txBody>
      </p:sp>
      <p:pic>
        <p:nvPicPr>
          <p:cNvPr id="14" name="Picture 8" descr="Image result for mcdonalds">
            <a:extLst>
              <a:ext uri="{FF2B5EF4-FFF2-40B4-BE49-F238E27FC236}">
                <a16:creationId xmlns="" xmlns:a16="http://schemas.microsoft.com/office/drawing/2014/main" id="{8B18C505-2908-474B-A9F7-6FEEFDCE56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4356" y="462328"/>
            <a:ext cx="1532573" cy="15325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Imagem 11">
            <a:extLst>
              <a:ext uri="{FF2B5EF4-FFF2-40B4-BE49-F238E27FC236}">
                <a16:creationId xmlns="" xmlns:a16="http://schemas.microsoft.com/office/drawing/2014/main" id="{44267804-7BCD-460C-B26B-04BA94C627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89591" y="6279631"/>
            <a:ext cx="1722806" cy="499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63749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14">
            <a:extLst>
              <a:ext uri="{FF2B5EF4-FFF2-40B4-BE49-F238E27FC236}">
                <a16:creationId xmlns="" xmlns:a16="http://schemas.microsoft.com/office/drawing/2014/main" id="{360FBCF4-B73A-4949-A121-8FE9C64F12FB}"/>
              </a:ext>
            </a:extLst>
          </p:cNvPr>
          <p:cNvSpPr/>
          <p:nvPr/>
        </p:nvSpPr>
        <p:spPr>
          <a:xfrm rot="20956176">
            <a:off x="-700419" y="-33825"/>
            <a:ext cx="1133938" cy="1133938"/>
          </a:xfrm>
          <a:prstGeom prst="ellipse">
            <a:avLst/>
          </a:prstGeom>
          <a:solidFill>
            <a:schemeClr val="accent5">
              <a:lumMod val="5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65" name="CaixaDeTexto 64">
            <a:extLst>
              <a:ext uri="{FF2B5EF4-FFF2-40B4-BE49-F238E27FC236}">
                <a16:creationId xmlns="" xmlns:a16="http://schemas.microsoft.com/office/drawing/2014/main" id="{BE0AD456-56A1-4F89-9375-690147B32F3D}"/>
              </a:ext>
            </a:extLst>
          </p:cNvPr>
          <p:cNvSpPr txBox="1"/>
          <p:nvPr/>
        </p:nvSpPr>
        <p:spPr>
          <a:xfrm>
            <a:off x="687726" y="920290"/>
            <a:ext cx="11809378" cy="33855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pt-BR"/>
            </a:defPPr>
            <a:lvl1pPr>
              <a:defRPr sz="2000" b="1" i="1">
                <a:solidFill>
                  <a:srgbClr val="FFFFFF"/>
                </a:solidFill>
                <a:latin typeface="Calibri" panose="020F0502020204030204" pitchFamily="34" charset="0"/>
                <a:cs typeface="Tahoma" pitchFamily="34" charset="0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r>
              <a:rPr lang="pt-BR" sz="1600" dirty="0">
                <a:solidFill>
                  <a:schemeClr val="tx1"/>
                </a:solidFill>
              </a:rPr>
              <a:t>Aumentando a produtividade através do gerenciamento de processos através do RPA</a:t>
            </a:r>
          </a:p>
        </p:txBody>
      </p:sp>
      <p:sp>
        <p:nvSpPr>
          <p:cNvPr id="137" name="CaixaDeTexto 136">
            <a:extLst>
              <a:ext uri="{FF2B5EF4-FFF2-40B4-BE49-F238E27FC236}">
                <a16:creationId xmlns="" xmlns:a16="http://schemas.microsoft.com/office/drawing/2014/main" id="{2069E9CF-4458-4287-B35C-C94A13891184}"/>
              </a:ext>
            </a:extLst>
          </p:cNvPr>
          <p:cNvSpPr txBox="1"/>
          <p:nvPr/>
        </p:nvSpPr>
        <p:spPr>
          <a:xfrm>
            <a:off x="511317" y="167641"/>
            <a:ext cx="84281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0" lang="pt-BR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Rounded MT Bold" panose="020F0704030504030204" pitchFamily="34" charset="0"/>
              </a:rPr>
              <a:t>RESTAURANTE INTELIGENTE</a:t>
            </a:r>
          </a:p>
        </p:txBody>
      </p:sp>
      <p:grpSp>
        <p:nvGrpSpPr>
          <p:cNvPr id="15" name="Agrupar 14">
            <a:extLst>
              <a:ext uri="{FF2B5EF4-FFF2-40B4-BE49-F238E27FC236}">
                <a16:creationId xmlns="" xmlns:a16="http://schemas.microsoft.com/office/drawing/2014/main" id="{AA66FB32-44CB-48EC-A1A1-E263EBF5BB88}"/>
              </a:ext>
            </a:extLst>
          </p:cNvPr>
          <p:cNvGrpSpPr/>
          <p:nvPr/>
        </p:nvGrpSpPr>
        <p:grpSpPr>
          <a:xfrm>
            <a:off x="1218236" y="1505146"/>
            <a:ext cx="9742605" cy="4092886"/>
            <a:chOff x="1238144" y="1885004"/>
            <a:chExt cx="9742605" cy="3971480"/>
          </a:xfrm>
        </p:grpSpPr>
        <p:grpSp>
          <p:nvGrpSpPr>
            <p:cNvPr id="13" name="Agrupar 12">
              <a:extLst>
                <a:ext uri="{FF2B5EF4-FFF2-40B4-BE49-F238E27FC236}">
                  <a16:creationId xmlns="" xmlns:a16="http://schemas.microsoft.com/office/drawing/2014/main" id="{4EB721E4-4402-4959-810C-BD854924EA28}"/>
                </a:ext>
              </a:extLst>
            </p:cNvPr>
            <p:cNvGrpSpPr/>
            <p:nvPr/>
          </p:nvGrpSpPr>
          <p:grpSpPr>
            <a:xfrm>
              <a:off x="1238144" y="1885004"/>
              <a:ext cx="9742605" cy="3971480"/>
              <a:chOff x="1238144" y="1885004"/>
              <a:chExt cx="9742605" cy="3971480"/>
            </a:xfrm>
          </p:grpSpPr>
          <p:sp>
            <p:nvSpPr>
              <p:cNvPr id="75" name="Seta para a direita 100">
                <a:extLst>
                  <a:ext uri="{FF2B5EF4-FFF2-40B4-BE49-F238E27FC236}">
                    <a16:creationId xmlns="" xmlns:a16="http://schemas.microsoft.com/office/drawing/2014/main" id="{6DBB1613-5874-4F1B-81FA-CCE652EF8850}"/>
                  </a:ext>
                </a:extLst>
              </p:cNvPr>
              <p:cNvSpPr/>
              <p:nvPr/>
            </p:nvSpPr>
            <p:spPr>
              <a:xfrm>
                <a:off x="4338143" y="3593419"/>
                <a:ext cx="428341" cy="1246929"/>
              </a:xfrm>
              <a:prstGeom prst="rightArrow">
                <a:avLst>
                  <a:gd name="adj1" fmla="val 48016"/>
                  <a:gd name="adj2" fmla="val 78571"/>
                </a:avLst>
              </a:prstGeom>
              <a:solidFill>
                <a:schemeClr val="accent6">
                  <a:lumMod val="75000"/>
                </a:schemeClr>
              </a:solidFill>
              <a:ln>
                <a:solidFill>
                  <a:srgbClr val="293E6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>
                  <a:solidFill>
                    <a:schemeClr val="tx1"/>
                  </a:solidFill>
                </a:endParaRPr>
              </a:p>
            </p:txBody>
          </p:sp>
          <p:sp>
            <p:nvSpPr>
              <p:cNvPr id="77" name="Retângulo: Cantos Arredondados 76">
                <a:extLst>
                  <a:ext uri="{FF2B5EF4-FFF2-40B4-BE49-F238E27FC236}">
                    <a16:creationId xmlns="" xmlns:a16="http://schemas.microsoft.com/office/drawing/2014/main" id="{39EEC25F-C741-4678-B454-261662E4595D}"/>
                  </a:ext>
                </a:extLst>
              </p:cNvPr>
              <p:cNvSpPr/>
              <p:nvPr/>
            </p:nvSpPr>
            <p:spPr>
              <a:xfrm>
                <a:off x="1238144" y="1885004"/>
                <a:ext cx="6192937" cy="432048"/>
              </a:xfrm>
              <a:prstGeom prst="roundRect">
                <a:avLst/>
              </a:prstGeom>
              <a:solidFill>
                <a:schemeClr val="bg1">
                  <a:lumMod val="95000"/>
                  <a:lumOff val="5000"/>
                </a:schemeClr>
              </a:solidFill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b="1" u="sng" dirty="0">
                    <a:solidFill>
                      <a:schemeClr val="tx1"/>
                    </a:solidFill>
                  </a:rPr>
                  <a:t>Cenário Atual – AÇÃO REATIVA</a:t>
                </a:r>
              </a:p>
            </p:txBody>
          </p:sp>
          <p:sp>
            <p:nvSpPr>
              <p:cNvPr id="100" name="Retângulo 99">
                <a:extLst>
                  <a:ext uri="{FF2B5EF4-FFF2-40B4-BE49-F238E27FC236}">
                    <a16:creationId xmlns="" xmlns:a16="http://schemas.microsoft.com/office/drawing/2014/main" id="{91BD1ED5-BBA0-4BE4-B44E-68DBD15761E6}"/>
                  </a:ext>
                </a:extLst>
              </p:cNvPr>
              <p:cNvSpPr/>
              <p:nvPr/>
            </p:nvSpPr>
            <p:spPr>
              <a:xfrm>
                <a:off x="4844613" y="2494701"/>
                <a:ext cx="2592000" cy="403397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 w="285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1600" b="1" dirty="0">
                    <a:solidFill>
                      <a:schemeClr val="tx1"/>
                    </a:solidFill>
                  </a:rPr>
                  <a:t>Entrada Principal</a:t>
                </a:r>
              </a:p>
            </p:txBody>
          </p:sp>
          <p:sp>
            <p:nvSpPr>
              <p:cNvPr id="101" name="Retângulo 100">
                <a:extLst>
                  <a:ext uri="{FF2B5EF4-FFF2-40B4-BE49-F238E27FC236}">
                    <a16:creationId xmlns="" xmlns:a16="http://schemas.microsoft.com/office/drawing/2014/main" id="{0E5762E3-9AD8-4959-B4D5-3B0003050F4C}"/>
                  </a:ext>
                </a:extLst>
              </p:cNvPr>
              <p:cNvSpPr/>
              <p:nvPr/>
            </p:nvSpPr>
            <p:spPr>
              <a:xfrm>
                <a:off x="4857272" y="3041883"/>
                <a:ext cx="2573810" cy="2446881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 w="285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pt-BR" sz="1600" b="1">
                  <a:solidFill>
                    <a:schemeClr val="tx1"/>
                  </a:solidFill>
                </a:endParaRPr>
              </a:p>
            </p:txBody>
          </p:sp>
          <p:sp>
            <p:nvSpPr>
              <p:cNvPr id="103" name="Trapezoide 102">
                <a:extLst>
                  <a:ext uri="{FF2B5EF4-FFF2-40B4-BE49-F238E27FC236}">
                    <a16:creationId xmlns="" xmlns:a16="http://schemas.microsoft.com/office/drawing/2014/main" id="{D0E30CA8-E98B-4CF3-A7F1-E28CA1C818F4}"/>
                  </a:ext>
                </a:extLst>
              </p:cNvPr>
              <p:cNvSpPr/>
              <p:nvPr/>
            </p:nvSpPr>
            <p:spPr>
              <a:xfrm>
                <a:off x="8937743" y="2567488"/>
                <a:ext cx="1500485" cy="558194"/>
              </a:xfrm>
              <a:prstGeom prst="trapezoid">
                <a:avLst/>
              </a:prstGeom>
              <a:solidFill>
                <a:schemeClr val="bg2">
                  <a:lumMod val="75000"/>
                </a:schemeClr>
              </a:solidFill>
              <a:ln w="285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1600" b="1">
                  <a:solidFill>
                    <a:schemeClr val="tx1"/>
                  </a:solidFill>
                </a:endParaRPr>
              </a:p>
            </p:txBody>
          </p:sp>
          <p:sp>
            <p:nvSpPr>
              <p:cNvPr id="104" name="Retângulo 103">
                <a:extLst>
                  <a:ext uri="{FF2B5EF4-FFF2-40B4-BE49-F238E27FC236}">
                    <a16:creationId xmlns="" xmlns:a16="http://schemas.microsoft.com/office/drawing/2014/main" id="{3191D4BD-03B0-4F56-8E4D-D39461DFB7D3}"/>
                  </a:ext>
                </a:extLst>
              </p:cNvPr>
              <p:cNvSpPr/>
              <p:nvPr/>
            </p:nvSpPr>
            <p:spPr>
              <a:xfrm>
                <a:off x="8155128" y="2493142"/>
                <a:ext cx="2825621" cy="404991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 w="285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1600" b="1" dirty="0">
                    <a:solidFill>
                      <a:schemeClr val="tx1"/>
                    </a:solidFill>
                  </a:rPr>
                  <a:t>Processamento</a:t>
                </a:r>
              </a:p>
            </p:txBody>
          </p:sp>
          <p:sp>
            <p:nvSpPr>
              <p:cNvPr id="105" name="Trapezoide 104">
                <a:extLst>
                  <a:ext uri="{FF2B5EF4-FFF2-40B4-BE49-F238E27FC236}">
                    <a16:creationId xmlns="" xmlns:a16="http://schemas.microsoft.com/office/drawing/2014/main" id="{9AAB5609-9FA2-42AC-B067-8EA5C6E7BABC}"/>
                  </a:ext>
                </a:extLst>
              </p:cNvPr>
              <p:cNvSpPr/>
              <p:nvPr/>
            </p:nvSpPr>
            <p:spPr>
              <a:xfrm rot="10800000">
                <a:off x="8952912" y="3845661"/>
                <a:ext cx="1470145" cy="558194"/>
              </a:xfrm>
              <a:prstGeom prst="trapezoid">
                <a:avLst/>
              </a:prstGeom>
              <a:solidFill>
                <a:schemeClr val="bg2">
                  <a:lumMod val="75000"/>
                </a:schemeClr>
              </a:solidFill>
              <a:ln w="285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1600" b="1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06" name="Agrupar 105">
                <a:extLst>
                  <a:ext uri="{FF2B5EF4-FFF2-40B4-BE49-F238E27FC236}">
                    <a16:creationId xmlns="" xmlns:a16="http://schemas.microsoft.com/office/drawing/2014/main" id="{B871AB24-31DC-4105-ABB5-74B444B6E0A0}"/>
                  </a:ext>
                </a:extLst>
              </p:cNvPr>
              <p:cNvGrpSpPr/>
              <p:nvPr/>
            </p:nvGrpSpPr>
            <p:grpSpPr>
              <a:xfrm>
                <a:off x="9606822" y="4169527"/>
                <a:ext cx="1263583" cy="518354"/>
                <a:chOff x="7024417" y="5549623"/>
                <a:chExt cx="1263583" cy="494865"/>
              </a:xfrm>
            </p:grpSpPr>
            <p:sp>
              <p:nvSpPr>
                <p:cNvPr id="107" name="Retângulo 106">
                  <a:extLst>
                    <a:ext uri="{FF2B5EF4-FFF2-40B4-BE49-F238E27FC236}">
                      <a16:creationId xmlns="" xmlns:a16="http://schemas.microsoft.com/office/drawing/2014/main" id="{239CCC33-B533-4DEA-B46B-DBDBE8065D3B}"/>
                    </a:ext>
                  </a:extLst>
                </p:cNvPr>
                <p:cNvSpPr/>
                <p:nvPr/>
              </p:nvSpPr>
              <p:spPr>
                <a:xfrm>
                  <a:off x="7024417" y="5549623"/>
                  <a:ext cx="1263583" cy="494865"/>
                </a:xfrm>
                <a:prstGeom prst="rect">
                  <a:avLst/>
                </a:prstGeom>
                <a:solidFill>
                  <a:schemeClr val="bg2">
                    <a:lumMod val="75000"/>
                  </a:schemeClr>
                </a:solidFill>
                <a:ln w="285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pt-BR" sz="1600" b="1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8" name="CaixaDeTexto 107">
                  <a:extLst>
                    <a:ext uri="{FF2B5EF4-FFF2-40B4-BE49-F238E27FC236}">
                      <a16:creationId xmlns="" xmlns:a16="http://schemas.microsoft.com/office/drawing/2014/main" id="{F5313F5D-76AD-4414-9C16-37291CFC5B46}"/>
                    </a:ext>
                  </a:extLst>
                </p:cNvPr>
                <p:cNvSpPr txBox="1"/>
                <p:nvPr/>
              </p:nvSpPr>
              <p:spPr>
                <a:xfrm>
                  <a:off x="7054674" y="5686676"/>
                  <a:ext cx="1233326" cy="293830"/>
                </a:xfrm>
                <a:prstGeom prst="rect">
                  <a:avLst/>
                </a:prstGeom>
                <a:solidFill>
                  <a:schemeClr val="bg2">
                    <a:lumMod val="75000"/>
                  </a:schemeClr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pt-BR" sz="1400" b="1" dirty="0"/>
                    <a:t>Humano</a:t>
                  </a:r>
                </a:p>
              </p:txBody>
            </p:sp>
          </p:grpSp>
          <p:sp>
            <p:nvSpPr>
              <p:cNvPr id="110" name="CaixaDeTexto 109">
                <a:extLst>
                  <a:ext uri="{FF2B5EF4-FFF2-40B4-BE49-F238E27FC236}">
                    <a16:creationId xmlns="" xmlns:a16="http://schemas.microsoft.com/office/drawing/2014/main" id="{FB36AFCF-869A-459D-8410-C6FDD003E2ED}"/>
                  </a:ext>
                </a:extLst>
              </p:cNvPr>
              <p:cNvSpPr txBox="1"/>
              <p:nvPr/>
            </p:nvSpPr>
            <p:spPr>
              <a:xfrm>
                <a:off x="9559325" y="4759991"/>
                <a:ext cx="1263583" cy="8362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000" b="1" i="1" dirty="0">
                    <a:solidFill>
                      <a:srgbClr val="FFFF00"/>
                    </a:solidFill>
                  </a:rPr>
                  <a:t>Permitir interação humana para processos não automatizados</a:t>
                </a:r>
              </a:p>
            </p:txBody>
          </p:sp>
          <p:sp>
            <p:nvSpPr>
              <p:cNvPr id="111" name="CaixaDeTexto 110">
                <a:extLst>
                  <a:ext uri="{FF2B5EF4-FFF2-40B4-BE49-F238E27FC236}">
                    <a16:creationId xmlns="" xmlns:a16="http://schemas.microsoft.com/office/drawing/2014/main" id="{E3C0B8DC-518C-44E2-B200-83E5990DAB4D}"/>
                  </a:ext>
                </a:extLst>
              </p:cNvPr>
              <p:cNvSpPr txBox="1"/>
              <p:nvPr/>
            </p:nvSpPr>
            <p:spPr>
              <a:xfrm>
                <a:off x="8242953" y="4723560"/>
                <a:ext cx="1238955" cy="8362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000" b="1" i="1" dirty="0">
                    <a:solidFill>
                      <a:srgbClr val="FFFF00"/>
                    </a:solidFill>
                  </a:rPr>
                  <a:t>Implantação de RPA para gerenciamento digital de informações</a:t>
                </a:r>
              </a:p>
            </p:txBody>
          </p:sp>
          <p:sp>
            <p:nvSpPr>
              <p:cNvPr id="112" name="Retângulo: Cantos Arredondados 111">
                <a:extLst>
                  <a:ext uri="{FF2B5EF4-FFF2-40B4-BE49-F238E27FC236}">
                    <a16:creationId xmlns="" xmlns:a16="http://schemas.microsoft.com/office/drawing/2014/main" id="{E9CACC0C-5B04-4FDF-AE1C-59DE49A9852F}"/>
                  </a:ext>
                </a:extLst>
              </p:cNvPr>
              <p:cNvSpPr/>
              <p:nvPr/>
            </p:nvSpPr>
            <p:spPr>
              <a:xfrm>
                <a:off x="8297262" y="3106339"/>
                <a:ext cx="2559771" cy="790867"/>
              </a:xfrm>
              <a:prstGeom prst="roundRect">
                <a:avLst/>
              </a:prstGeom>
              <a:solidFill>
                <a:schemeClr val="bg1"/>
              </a:solidFill>
              <a:ln w="38100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>
                  <a:solidFill>
                    <a:schemeClr val="tx1"/>
                  </a:solidFill>
                </a:endParaRPr>
              </a:p>
            </p:txBody>
          </p:sp>
          <p:sp>
            <p:nvSpPr>
              <p:cNvPr id="114" name="Retângulo 113">
                <a:extLst>
                  <a:ext uri="{FF2B5EF4-FFF2-40B4-BE49-F238E27FC236}">
                    <a16:creationId xmlns="" xmlns:a16="http://schemas.microsoft.com/office/drawing/2014/main" id="{13628FB7-C5EB-49F4-A3CC-D301EA9C5CC7}"/>
                  </a:ext>
                </a:extLst>
              </p:cNvPr>
              <p:cNvSpPr/>
              <p:nvPr/>
            </p:nvSpPr>
            <p:spPr>
              <a:xfrm>
                <a:off x="9340686" y="3639234"/>
                <a:ext cx="1630312" cy="2616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pt-BR" sz="1100" b="1" dirty="0"/>
                  <a:t>Interação Humana</a:t>
                </a:r>
              </a:p>
            </p:txBody>
          </p:sp>
          <p:sp>
            <p:nvSpPr>
              <p:cNvPr id="115" name="Triângulo isósceles 114">
                <a:extLst>
                  <a:ext uri="{FF2B5EF4-FFF2-40B4-BE49-F238E27FC236}">
                    <a16:creationId xmlns="" xmlns:a16="http://schemas.microsoft.com/office/drawing/2014/main" id="{3C685145-15C6-441E-B120-B5B4BE67269D}"/>
                  </a:ext>
                </a:extLst>
              </p:cNvPr>
              <p:cNvSpPr/>
              <p:nvPr/>
            </p:nvSpPr>
            <p:spPr>
              <a:xfrm rot="10800000">
                <a:off x="2303122" y="2492340"/>
                <a:ext cx="1042517" cy="388675"/>
              </a:xfrm>
              <a:prstGeom prst="triangle">
                <a:avLst>
                  <a:gd name="adj" fmla="val 48710"/>
                </a:avLst>
              </a:prstGeom>
              <a:solidFill>
                <a:schemeClr val="accent6">
                  <a:lumMod val="75000"/>
                </a:schemeClr>
              </a:solidFill>
              <a:ln>
                <a:solidFill>
                  <a:srgbClr val="293E6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116" name="Conector reto 115">
                <a:extLst>
                  <a:ext uri="{FF2B5EF4-FFF2-40B4-BE49-F238E27FC236}">
                    <a16:creationId xmlns="" xmlns:a16="http://schemas.microsoft.com/office/drawing/2014/main" id="{DC1B6BF8-C697-4815-A269-B4514556AF1E}"/>
                  </a:ext>
                </a:extLst>
              </p:cNvPr>
              <p:cNvCxnSpPr/>
              <p:nvPr/>
            </p:nvCxnSpPr>
            <p:spPr>
              <a:xfrm>
                <a:off x="7988058" y="2364484"/>
                <a:ext cx="0" cy="3492000"/>
              </a:xfrm>
              <a:prstGeom prst="line">
                <a:avLst/>
              </a:prstGeom>
              <a:ln w="2857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0" name="Retângulo 119">
                <a:extLst>
                  <a:ext uri="{FF2B5EF4-FFF2-40B4-BE49-F238E27FC236}">
                    <a16:creationId xmlns="" xmlns:a16="http://schemas.microsoft.com/office/drawing/2014/main" id="{28B5F28F-EB55-45FD-9296-51BBEC5CBBC1}"/>
                  </a:ext>
                </a:extLst>
              </p:cNvPr>
              <p:cNvSpPr/>
              <p:nvPr/>
            </p:nvSpPr>
            <p:spPr>
              <a:xfrm>
                <a:off x="7985389" y="3619010"/>
                <a:ext cx="1630312" cy="2616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pt-BR" sz="1100" b="1" dirty="0"/>
                  <a:t>Automação</a:t>
                </a:r>
              </a:p>
            </p:txBody>
          </p:sp>
          <p:sp>
            <p:nvSpPr>
              <p:cNvPr id="121" name="Retângulo 120">
                <a:extLst>
                  <a:ext uri="{FF2B5EF4-FFF2-40B4-BE49-F238E27FC236}">
                    <a16:creationId xmlns="" xmlns:a16="http://schemas.microsoft.com/office/drawing/2014/main" id="{0069429A-AC39-4CD4-BE3E-9261CDDF8622}"/>
                  </a:ext>
                </a:extLst>
              </p:cNvPr>
              <p:cNvSpPr/>
              <p:nvPr/>
            </p:nvSpPr>
            <p:spPr>
              <a:xfrm>
                <a:off x="8285034" y="4169527"/>
                <a:ext cx="1196875" cy="525349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 w="285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pt-BR" sz="1600" b="1">
                  <a:solidFill>
                    <a:schemeClr val="tx1"/>
                  </a:solidFill>
                </a:endParaRPr>
              </a:p>
            </p:txBody>
          </p:sp>
          <p:sp>
            <p:nvSpPr>
              <p:cNvPr id="122" name="CaixaDeTexto 121">
                <a:extLst>
                  <a:ext uri="{FF2B5EF4-FFF2-40B4-BE49-F238E27FC236}">
                    <a16:creationId xmlns="" xmlns:a16="http://schemas.microsoft.com/office/drawing/2014/main" id="{0AB5E536-EBD8-4FE0-845C-C349F38BD96F}"/>
                  </a:ext>
                </a:extLst>
              </p:cNvPr>
              <p:cNvSpPr txBox="1"/>
              <p:nvPr/>
            </p:nvSpPr>
            <p:spPr>
              <a:xfrm>
                <a:off x="8310854" y="4294474"/>
                <a:ext cx="1154051" cy="307777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b="1" dirty="0"/>
                  <a:t>RPA</a:t>
                </a:r>
              </a:p>
            </p:txBody>
          </p:sp>
          <p:sp>
            <p:nvSpPr>
              <p:cNvPr id="2" name="AutoShape 4" descr="Resultado de imagem para imagem de chat png">
                <a:extLst>
                  <a:ext uri="{FF2B5EF4-FFF2-40B4-BE49-F238E27FC236}">
                    <a16:creationId xmlns="" xmlns:a16="http://schemas.microsoft.com/office/drawing/2014/main" id="{EDB2A0E6-1AFE-48BC-9391-166EBE1430C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6148662" y="3334138"/>
                <a:ext cx="304800" cy="3048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t-BR"/>
              </a:p>
            </p:txBody>
          </p:sp>
          <p:sp>
            <p:nvSpPr>
              <p:cNvPr id="8" name="AutoShape 6" descr="Resultado de imagem para imagem de chat png">
                <a:extLst>
                  <a:ext uri="{FF2B5EF4-FFF2-40B4-BE49-F238E27FC236}">
                    <a16:creationId xmlns="" xmlns:a16="http://schemas.microsoft.com/office/drawing/2014/main" id="{7F26E892-3109-4B3A-85C5-76F1E085CE0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6301062" y="3486538"/>
                <a:ext cx="304800" cy="3048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t-BR"/>
              </a:p>
            </p:txBody>
          </p:sp>
          <p:sp>
            <p:nvSpPr>
              <p:cNvPr id="130" name="CaixaDeTexto 129">
                <a:extLst>
                  <a:ext uri="{FF2B5EF4-FFF2-40B4-BE49-F238E27FC236}">
                    <a16:creationId xmlns="" xmlns:a16="http://schemas.microsoft.com/office/drawing/2014/main" id="{1690BCCE-47BD-4678-B3C2-56CEB5D043C2}"/>
                  </a:ext>
                </a:extLst>
              </p:cNvPr>
              <p:cNvSpPr txBox="1"/>
              <p:nvPr/>
            </p:nvSpPr>
            <p:spPr>
              <a:xfrm>
                <a:off x="5269046" y="4592916"/>
                <a:ext cx="1750991" cy="7386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b="1" dirty="0"/>
                  <a:t>REGISTRO CHAMADO/OS POR VOZ</a:t>
                </a:r>
              </a:p>
            </p:txBody>
          </p:sp>
          <p:sp>
            <p:nvSpPr>
              <p:cNvPr id="134" name="Retângulo: Cantos Arredondados 133">
                <a:extLst>
                  <a:ext uri="{FF2B5EF4-FFF2-40B4-BE49-F238E27FC236}">
                    <a16:creationId xmlns="" xmlns:a16="http://schemas.microsoft.com/office/drawing/2014/main" id="{AAB8BE99-647C-4FB0-B288-FBB50F3CE5FA}"/>
                  </a:ext>
                </a:extLst>
              </p:cNvPr>
              <p:cNvSpPr/>
              <p:nvPr/>
            </p:nvSpPr>
            <p:spPr>
              <a:xfrm>
                <a:off x="8160872" y="1894011"/>
                <a:ext cx="2808995" cy="432048"/>
              </a:xfrm>
              <a:prstGeom prst="roundRect">
                <a:avLst/>
              </a:prstGeom>
              <a:solidFill>
                <a:schemeClr val="bg1">
                  <a:lumMod val="95000"/>
                  <a:lumOff val="5000"/>
                </a:schemeClr>
              </a:solidFill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b="1" u="sng" dirty="0">
                    <a:solidFill>
                      <a:schemeClr val="tx1"/>
                    </a:solidFill>
                  </a:rPr>
                  <a:t>Proposta </a:t>
                </a:r>
                <a:r>
                  <a:rPr lang="pt-BR" b="1" u="sng" dirty="0" err="1">
                    <a:solidFill>
                      <a:schemeClr val="tx1"/>
                    </a:solidFill>
                  </a:rPr>
                  <a:t>Liinkoo</a:t>
                </a:r>
                <a:endParaRPr lang="pt-BR" b="1" u="sng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36" name="Triângulo isósceles 135">
                <a:extLst>
                  <a:ext uri="{FF2B5EF4-FFF2-40B4-BE49-F238E27FC236}">
                    <a16:creationId xmlns="" xmlns:a16="http://schemas.microsoft.com/office/drawing/2014/main" id="{71DB6105-BFE2-413A-8056-806CF8CB2EA6}"/>
                  </a:ext>
                </a:extLst>
              </p:cNvPr>
              <p:cNvSpPr/>
              <p:nvPr/>
            </p:nvSpPr>
            <p:spPr>
              <a:xfrm rot="5400000">
                <a:off x="6118687" y="3443586"/>
                <a:ext cx="3491998" cy="598359"/>
              </a:xfrm>
              <a:prstGeom prst="triangle">
                <a:avLst/>
              </a:prstGeom>
              <a:solidFill>
                <a:schemeClr val="accent6">
                  <a:lumMod val="75000"/>
                </a:schemeClr>
              </a:solidFill>
              <a:ln>
                <a:solidFill>
                  <a:srgbClr val="293E6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41" name="Retângulo 140">
                <a:extLst>
                  <a:ext uri="{FF2B5EF4-FFF2-40B4-BE49-F238E27FC236}">
                    <a16:creationId xmlns="" xmlns:a16="http://schemas.microsoft.com/office/drawing/2014/main" id="{7CA22279-FF7D-4777-9585-6363BC48A446}"/>
                  </a:ext>
                </a:extLst>
              </p:cNvPr>
              <p:cNvSpPr/>
              <p:nvPr/>
            </p:nvSpPr>
            <p:spPr>
              <a:xfrm>
                <a:off x="1334902" y="3016940"/>
                <a:ext cx="2844000" cy="678894"/>
              </a:xfrm>
              <a:prstGeom prst="rect">
                <a:avLst/>
              </a:prstGeom>
              <a:solidFill>
                <a:srgbClr val="00A59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>
                  <a:solidFill>
                    <a:schemeClr val="tx1"/>
                  </a:solidFill>
                </a:endParaRPr>
              </a:p>
            </p:txBody>
          </p:sp>
          <p:sp>
            <p:nvSpPr>
              <p:cNvPr id="142" name="Retângulo 141">
                <a:extLst>
                  <a:ext uri="{FF2B5EF4-FFF2-40B4-BE49-F238E27FC236}">
                    <a16:creationId xmlns="" xmlns:a16="http://schemas.microsoft.com/office/drawing/2014/main" id="{BE866BD6-0AB3-4926-8C04-C6B74A57BE4B}"/>
                  </a:ext>
                </a:extLst>
              </p:cNvPr>
              <p:cNvSpPr/>
              <p:nvPr/>
            </p:nvSpPr>
            <p:spPr>
              <a:xfrm>
                <a:off x="1334898" y="3844710"/>
                <a:ext cx="2844000" cy="678894"/>
              </a:xfrm>
              <a:prstGeom prst="rect">
                <a:avLst/>
              </a:prstGeom>
              <a:solidFill>
                <a:srgbClr val="FF79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>
                  <a:solidFill>
                    <a:schemeClr val="tx1"/>
                  </a:solidFill>
                </a:endParaRPr>
              </a:p>
            </p:txBody>
          </p:sp>
          <p:sp>
            <p:nvSpPr>
              <p:cNvPr id="143" name="Retângulo 142">
                <a:extLst>
                  <a:ext uri="{FF2B5EF4-FFF2-40B4-BE49-F238E27FC236}">
                    <a16:creationId xmlns="" xmlns:a16="http://schemas.microsoft.com/office/drawing/2014/main" id="{A2584EEF-731C-4753-B4D9-1D363B95072E}"/>
                  </a:ext>
                </a:extLst>
              </p:cNvPr>
              <p:cNvSpPr/>
              <p:nvPr/>
            </p:nvSpPr>
            <p:spPr>
              <a:xfrm>
                <a:off x="1334896" y="4661949"/>
                <a:ext cx="2844000" cy="678894"/>
              </a:xfrm>
              <a:prstGeom prst="rect">
                <a:avLst/>
              </a:prstGeom>
              <a:solidFill>
                <a:srgbClr val="92D4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44" name="Paralelogramo 143">
                <a:extLst>
                  <a:ext uri="{FF2B5EF4-FFF2-40B4-BE49-F238E27FC236}">
                    <a16:creationId xmlns="" xmlns:a16="http://schemas.microsoft.com/office/drawing/2014/main" id="{D8946015-1A05-4192-8B5E-72A61D24D05A}"/>
                  </a:ext>
                </a:extLst>
              </p:cNvPr>
              <p:cNvSpPr/>
              <p:nvPr/>
            </p:nvSpPr>
            <p:spPr>
              <a:xfrm flipH="1">
                <a:off x="1334896" y="3699832"/>
                <a:ext cx="2844000" cy="157936"/>
              </a:xfrm>
              <a:prstGeom prst="parallelogram">
                <a:avLst>
                  <a:gd name="adj" fmla="val 175545"/>
                </a:avLst>
              </a:prstGeom>
              <a:solidFill>
                <a:srgbClr val="00686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>
                  <a:solidFill>
                    <a:schemeClr val="tx1"/>
                  </a:solidFill>
                </a:endParaRPr>
              </a:p>
            </p:txBody>
          </p:sp>
          <p:sp>
            <p:nvSpPr>
              <p:cNvPr id="145" name="Retângulo: Cantos Arredondados 144">
                <a:extLst>
                  <a:ext uri="{FF2B5EF4-FFF2-40B4-BE49-F238E27FC236}">
                    <a16:creationId xmlns="" xmlns:a16="http://schemas.microsoft.com/office/drawing/2014/main" id="{20F36981-37A6-487A-A3D5-BDF8CF00C736}"/>
                  </a:ext>
                </a:extLst>
              </p:cNvPr>
              <p:cNvSpPr/>
              <p:nvPr/>
            </p:nvSpPr>
            <p:spPr>
              <a:xfrm>
                <a:off x="2146776" y="3056304"/>
                <a:ext cx="1944216" cy="602251"/>
              </a:xfrm>
              <a:prstGeom prst="round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pt-BR" sz="1400" b="1" dirty="0">
                    <a:solidFill>
                      <a:schemeClr val="tx1"/>
                    </a:solidFill>
                  </a:rPr>
                  <a:t>Atividades Repetitivas</a:t>
                </a:r>
              </a:p>
            </p:txBody>
          </p:sp>
          <p:sp>
            <p:nvSpPr>
              <p:cNvPr id="146" name="Retângulo: Cantos Arredondados 145">
                <a:extLst>
                  <a:ext uri="{FF2B5EF4-FFF2-40B4-BE49-F238E27FC236}">
                    <a16:creationId xmlns="" xmlns:a16="http://schemas.microsoft.com/office/drawing/2014/main" id="{CE031490-8625-43A2-900E-D0573CFE5909}"/>
                  </a:ext>
                </a:extLst>
              </p:cNvPr>
              <p:cNvSpPr/>
              <p:nvPr/>
            </p:nvSpPr>
            <p:spPr>
              <a:xfrm>
                <a:off x="2070457" y="3881686"/>
                <a:ext cx="2020531" cy="602251"/>
              </a:xfrm>
              <a:prstGeom prst="round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pt-BR" sz="1400" b="1" dirty="0">
                    <a:solidFill>
                      <a:schemeClr val="tx1"/>
                    </a:solidFill>
                  </a:rPr>
                  <a:t>Baixa Eficiência </a:t>
                </a:r>
              </a:p>
              <a:p>
                <a:r>
                  <a:rPr lang="pt-BR" sz="1400" b="1" dirty="0">
                    <a:solidFill>
                      <a:schemeClr val="tx1"/>
                    </a:solidFill>
                  </a:rPr>
                  <a:t>Processos</a:t>
                </a:r>
              </a:p>
            </p:txBody>
          </p:sp>
          <p:sp>
            <p:nvSpPr>
              <p:cNvPr id="147" name="Retângulo: Cantos Arredondados 146">
                <a:extLst>
                  <a:ext uri="{FF2B5EF4-FFF2-40B4-BE49-F238E27FC236}">
                    <a16:creationId xmlns="" xmlns:a16="http://schemas.microsoft.com/office/drawing/2014/main" id="{720C11AC-7A14-4377-820B-529E827F41A2}"/>
                  </a:ext>
                </a:extLst>
              </p:cNvPr>
              <p:cNvSpPr/>
              <p:nvPr/>
            </p:nvSpPr>
            <p:spPr>
              <a:xfrm>
                <a:off x="2070462" y="4699600"/>
                <a:ext cx="2089911" cy="602251"/>
              </a:xfrm>
              <a:prstGeom prst="round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pt-BR" sz="1400" b="1" dirty="0">
                    <a:solidFill>
                      <a:schemeClr val="tx1"/>
                    </a:solidFill>
                  </a:rPr>
                  <a:t>Vinculação Manual</a:t>
                </a:r>
              </a:p>
            </p:txBody>
          </p:sp>
          <p:grpSp>
            <p:nvGrpSpPr>
              <p:cNvPr id="148" name="Agrupar 147">
                <a:extLst>
                  <a:ext uri="{FF2B5EF4-FFF2-40B4-BE49-F238E27FC236}">
                    <a16:creationId xmlns="" xmlns:a16="http://schemas.microsoft.com/office/drawing/2014/main" id="{27E80F7F-862F-4FC1-9050-4D898F63738E}"/>
                  </a:ext>
                </a:extLst>
              </p:cNvPr>
              <p:cNvGrpSpPr/>
              <p:nvPr/>
            </p:nvGrpSpPr>
            <p:grpSpPr>
              <a:xfrm>
                <a:off x="1469324" y="3908272"/>
                <a:ext cx="551770" cy="551770"/>
                <a:chOff x="864878" y="2628000"/>
                <a:chExt cx="669156" cy="669156"/>
              </a:xfrm>
            </p:grpSpPr>
            <p:sp>
              <p:nvSpPr>
                <p:cNvPr id="149" name="Elipse 148">
                  <a:extLst>
                    <a:ext uri="{FF2B5EF4-FFF2-40B4-BE49-F238E27FC236}">
                      <a16:creationId xmlns="" xmlns:a16="http://schemas.microsoft.com/office/drawing/2014/main" id="{52B9BDE4-2F65-4B9E-96F6-D58499768364}"/>
                    </a:ext>
                  </a:extLst>
                </p:cNvPr>
                <p:cNvSpPr/>
                <p:nvPr/>
              </p:nvSpPr>
              <p:spPr>
                <a:xfrm>
                  <a:off x="864878" y="2628000"/>
                  <a:ext cx="669156" cy="669156"/>
                </a:xfrm>
                <a:prstGeom prst="ellipse">
                  <a:avLst/>
                </a:prstGeom>
                <a:solidFill>
                  <a:schemeClr val="bg1"/>
                </a:solidFill>
                <a:ln w="57150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>
                    <a:solidFill>
                      <a:schemeClr val="tx1"/>
                    </a:solidFill>
                  </a:endParaRPr>
                </a:p>
              </p:txBody>
            </p:sp>
            <p:pic>
              <p:nvPicPr>
                <p:cNvPr id="150" name="Imagem 149">
                  <a:extLst>
                    <a:ext uri="{FF2B5EF4-FFF2-40B4-BE49-F238E27FC236}">
                      <a16:creationId xmlns="" xmlns:a16="http://schemas.microsoft.com/office/drawing/2014/main" id="{22C31F5D-7DCC-4A5E-B184-448157A8B4C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983334" y="2758687"/>
                  <a:ext cx="407953" cy="407953"/>
                </a:xfrm>
                <a:prstGeom prst="rect">
                  <a:avLst/>
                </a:prstGeom>
                <a:noFill/>
                <a:ln w="6350">
                  <a:noFill/>
                  <a:prstDash val="sysDash"/>
                </a:ln>
              </p:spPr>
            </p:pic>
          </p:grpSp>
          <p:grpSp>
            <p:nvGrpSpPr>
              <p:cNvPr id="151" name="Agrupar 150">
                <a:extLst>
                  <a:ext uri="{FF2B5EF4-FFF2-40B4-BE49-F238E27FC236}">
                    <a16:creationId xmlns="" xmlns:a16="http://schemas.microsoft.com/office/drawing/2014/main" id="{514E71D1-4250-444B-9FCD-F818AFC8DA6E}"/>
                  </a:ext>
                </a:extLst>
              </p:cNvPr>
              <p:cNvGrpSpPr/>
              <p:nvPr/>
            </p:nvGrpSpPr>
            <p:grpSpPr>
              <a:xfrm>
                <a:off x="1469328" y="3082321"/>
                <a:ext cx="551770" cy="551770"/>
                <a:chOff x="864878" y="1693715"/>
                <a:chExt cx="669156" cy="669156"/>
              </a:xfrm>
            </p:grpSpPr>
            <p:sp>
              <p:nvSpPr>
                <p:cNvPr id="152" name="Elipse 151">
                  <a:extLst>
                    <a:ext uri="{FF2B5EF4-FFF2-40B4-BE49-F238E27FC236}">
                      <a16:creationId xmlns="" xmlns:a16="http://schemas.microsoft.com/office/drawing/2014/main" id="{1EF669B9-0B1F-482C-82D9-458A631BA3BD}"/>
                    </a:ext>
                  </a:extLst>
                </p:cNvPr>
                <p:cNvSpPr/>
                <p:nvPr/>
              </p:nvSpPr>
              <p:spPr>
                <a:xfrm>
                  <a:off x="864878" y="1693715"/>
                  <a:ext cx="669156" cy="669156"/>
                </a:xfrm>
                <a:prstGeom prst="ellipse">
                  <a:avLst/>
                </a:prstGeom>
                <a:solidFill>
                  <a:schemeClr val="bg1"/>
                </a:solidFill>
                <a:ln w="57150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>
                    <a:solidFill>
                      <a:schemeClr val="tx1"/>
                    </a:solidFill>
                  </a:endParaRPr>
                </a:p>
              </p:txBody>
            </p:sp>
            <p:pic>
              <p:nvPicPr>
                <p:cNvPr id="153" name="Imagem 152">
                  <a:extLst>
                    <a:ext uri="{FF2B5EF4-FFF2-40B4-BE49-F238E27FC236}">
                      <a16:creationId xmlns="" xmlns:a16="http://schemas.microsoft.com/office/drawing/2014/main" id="{1FB4E75C-A0DF-406D-88CE-24ACDF5F0EA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4"/>
                <a:srcRect l="10080" t="12312" r="9281" b="13769"/>
                <a:stretch/>
              </p:blipFill>
              <p:spPr>
                <a:xfrm>
                  <a:off x="976357" y="1837263"/>
                  <a:ext cx="442230" cy="409966"/>
                </a:xfrm>
                <a:prstGeom prst="rect">
                  <a:avLst/>
                </a:prstGeom>
                <a:solidFill>
                  <a:srgbClr val="F9F9F9"/>
                </a:solidFill>
                <a:ln w="6350">
                  <a:noFill/>
                  <a:prstDash val="sysDash"/>
                </a:ln>
              </p:spPr>
            </p:pic>
          </p:grpSp>
          <p:grpSp>
            <p:nvGrpSpPr>
              <p:cNvPr id="154" name="Agrupar 153">
                <a:extLst>
                  <a:ext uri="{FF2B5EF4-FFF2-40B4-BE49-F238E27FC236}">
                    <a16:creationId xmlns="" xmlns:a16="http://schemas.microsoft.com/office/drawing/2014/main" id="{64D84684-A6BD-4761-B9F6-523B610DDED6}"/>
                  </a:ext>
                </a:extLst>
              </p:cNvPr>
              <p:cNvGrpSpPr/>
              <p:nvPr/>
            </p:nvGrpSpPr>
            <p:grpSpPr>
              <a:xfrm>
                <a:off x="1469322" y="4725511"/>
                <a:ext cx="551770" cy="551770"/>
                <a:chOff x="864871" y="3554893"/>
                <a:chExt cx="669156" cy="669156"/>
              </a:xfrm>
            </p:grpSpPr>
            <p:sp>
              <p:nvSpPr>
                <p:cNvPr id="155" name="Elipse 154">
                  <a:extLst>
                    <a:ext uri="{FF2B5EF4-FFF2-40B4-BE49-F238E27FC236}">
                      <a16:creationId xmlns="" xmlns:a16="http://schemas.microsoft.com/office/drawing/2014/main" id="{9503DE7A-5543-4DF3-BBEC-19922926872D}"/>
                    </a:ext>
                  </a:extLst>
                </p:cNvPr>
                <p:cNvSpPr/>
                <p:nvPr/>
              </p:nvSpPr>
              <p:spPr>
                <a:xfrm>
                  <a:off x="864871" y="3554893"/>
                  <a:ext cx="669156" cy="669156"/>
                </a:xfrm>
                <a:prstGeom prst="ellipse">
                  <a:avLst/>
                </a:prstGeom>
                <a:solidFill>
                  <a:schemeClr val="bg1"/>
                </a:solidFill>
                <a:ln w="57150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>
                    <a:solidFill>
                      <a:schemeClr val="tx1"/>
                    </a:solidFill>
                  </a:endParaRPr>
                </a:p>
              </p:txBody>
            </p:sp>
            <p:pic>
              <p:nvPicPr>
                <p:cNvPr id="156" name="Imagem 155">
                  <a:extLst>
                    <a:ext uri="{FF2B5EF4-FFF2-40B4-BE49-F238E27FC236}">
                      <a16:creationId xmlns="" xmlns:a16="http://schemas.microsoft.com/office/drawing/2014/main" id="{F090E1E3-6E10-45A2-8118-3252DDF3881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987094" y="3703276"/>
                  <a:ext cx="393903" cy="393903"/>
                </a:xfrm>
                <a:prstGeom prst="rect">
                  <a:avLst/>
                </a:prstGeom>
                <a:noFill/>
                <a:ln w="6350">
                  <a:noFill/>
                  <a:prstDash val="sysDash"/>
                </a:ln>
              </p:spPr>
            </p:pic>
          </p:grpSp>
          <p:sp>
            <p:nvSpPr>
              <p:cNvPr id="157" name="Paralelogramo 156">
                <a:extLst>
                  <a:ext uri="{FF2B5EF4-FFF2-40B4-BE49-F238E27FC236}">
                    <a16:creationId xmlns="" xmlns:a16="http://schemas.microsoft.com/office/drawing/2014/main" id="{37C44DB8-6CDA-44EB-AE99-99320FB6CC38}"/>
                  </a:ext>
                </a:extLst>
              </p:cNvPr>
              <p:cNvSpPr/>
              <p:nvPr/>
            </p:nvSpPr>
            <p:spPr>
              <a:xfrm flipH="1">
                <a:off x="1334896" y="4523884"/>
                <a:ext cx="2844000" cy="138065"/>
              </a:xfrm>
              <a:prstGeom prst="parallelogram">
                <a:avLst>
                  <a:gd name="adj" fmla="val 175545"/>
                </a:avLst>
              </a:prstGeom>
              <a:solidFill>
                <a:srgbClr val="B858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>
                  <a:solidFill>
                    <a:schemeClr val="tx1"/>
                  </a:solidFill>
                </a:endParaRPr>
              </a:p>
            </p:txBody>
          </p:sp>
          <p:sp>
            <p:nvSpPr>
              <p:cNvPr id="158" name="Paralelogramo 157">
                <a:extLst>
                  <a:ext uri="{FF2B5EF4-FFF2-40B4-BE49-F238E27FC236}">
                    <a16:creationId xmlns="" xmlns:a16="http://schemas.microsoft.com/office/drawing/2014/main" id="{0BF67F3A-C366-49BD-81D3-4328019B8549}"/>
                  </a:ext>
                </a:extLst>
              </p:cNvPr>
              <p:cNvSpPr/>
              <p:nvPr/>
            </p:nvSpPr>
            <p:spPr>
              <a:xfrm flipH="1">
                <a:off x="1330728" y="5337290"/>
                <a:ext cx="2844000" cy="138065"/>
              </a:xfrm>
              <a:prstGeom prst="parallelogram">
                <a:avLst>
                  <a:gd name="adj" fmla="val 175545"/>
                </a:avLst>
              </a:prstGeom>
              <a:solidFill>
                <a:schemeClr val="accent4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>
                  <a:solidFill>
                    <a:schemeClr val="tx1"/>
                  </a:solidFill>
                </a:endParaRPr>
              </a:p>
            </p:txBody>
          </p:sp>
        </p:grpSp>
        <p:pic>
          <p:nvPicPr>
            <p:cNvPr id="159" name="Imagem 158">
              <a:extLst>
                <a:ext uri="{FF2B5EF4-FFF2-40B4-BE49-F238E27FC236}">
                  <a16:creationId xmlns="" xmlns:a16="http://schemas.microsoft.com/office/drawing/2014/main" id="{1403EEA3-0617-4C97-804C-EA5BA932011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651119" y="3482632"/>
              <a:ext cx="986195" cy="986195"/>
            </a:xfrm>
            <a:prstGeom prst="ellipse">
              <a:avLst/>
            </a:prstGeom>
            <a:noFill/>
            <a:ln w="6350">
              <a:solidFill>
                <a:schemeClr val="bg1">
                  <a:lumMod val="75000"/>
                </a:schemeClr>
              </a:solidFill>
              <a:prstDash val="sysDash"/>
            </a:ln>
          </p:spPr>
        </p:pic>
      </p:grpSp>
      <p:cxnSp>
        <p:nvCxnSpPr>
          <p:cNvPr id="53" name="Conector reto 52">
            <a:extLst>
              <a:ext uri="{FF2B5EF4-FFF2-40B4-BE49-F238E27FC236}">
                <a16:creationId xmlns="" xmlns:a16="http://schemas.microsoft.com/office/drawing/2014/main" id="{B07EB094-3297-4605-A060-C49B35287D2D}"/>
              </a:ext>
            </a:extLst>
          </p:cNvPr>
          <p:cNvCxnSpPr>
            <a:cxnSpLocks/>
          </p:cNvCxnSpPr>
          <p:nvPr/>
        </p:nvCxnSpPr>
        <p:spPr>
          <a:xfrm>
            <a:off x="427232" y="644291"/>
            <a:ext cx="11094208" cy="0"/>
          </a:xfrm>
          <a:prstGeom prst="line">
            <a:avLst/>
          </a:prstGeom>
          <a:solidFill>
            <a:srgbClr val="FF6600">
              <a:alpha val="42000"/>
            </a:srgbClr>
          </a:solidFill>
          <a:ln w="57150">
            <a:solidFill>
              <a:schemeClr val="accent5">
                <a:lumMod val="50000"/>
                <a:alpha val="42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pic>
        <p:nvPicPr>
          <p:cNvPr id="54" name="Imagem 53">
            <a:extLst>
              <a:ext uri="{FF2B5EF4-FFF2-40B4-BE49-F238E27FC236}">
                <a16:creationId xmlns="" xmlns:a16="http://schemas.microsoft.com/office/drawing/2014/main" id="{181D8382-7CBF-4D94-9602-F424299F6FC0}"/>
              </a:ext>
            </a:extLst>
          </p:cNvPr>
          <p:cNvPicPr>
            <a:picLocks noChangeAspect="1"/>
          </p:cNvPicPr>
          <p:nvPr/>
        </p:nvPicPr>
        <p:blipFill>
          <a:blip r:embed="rId7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0000" b="90000" l="10000" r="90000">
                        <a14:foregroundMark x1="61607" y1="46875" x2="61607" y2="46875"/>
                        <a14:foregroundMark x1="40625" y1="48214" x2="40625" y2="48214"/>
                        <a14:foregroundMark x1="42857" y1="58036" x2="42857" y2="58036"/>
                        <a14:foregroundMark x1="64732" y1="60714" x2="64732" y2="60714"/>
                        <a14:foregroundMark x1="50446" y1="50446" x2="50446" y2="50446"/>
                        <a14:foregroundMark x1="46429" y1="44643" x2="46429" y2="44643"/>
                        <a14:foregroundMark x1="46429" y1="43304" x2="46429" y2="43304"/>
                        <a14:foregroundMark x1="38839" y1="56696" x2="38839" y2="56696"/>
                        <a14:foregroundMark x1="35268" y1="61161" x2="36607" y2="61161"/>
                        <a14:foregroundMark x1="50893" y1="62500" x2="50893" y2="62500"/>
                        <a14:foregroundMark x1="48214" y1="69643" x2="48214" y2="69643"/>
                        <a14:foregroundMark x1="49554" y1="70536" x2="49554" y2="70536"/>
                        <a14:foregroundMark x1="61161" y1="64286" x2="61607" y2="62500"/>
                        <a14:foregroundMark x1="67411" y1="56696" x2="67411" y2="56696"/>
                        <a14:foregroundMark x1="67411" y1="51339" x2="67411" y2="51339"/>
                        <a14:foregroundMark x1="65625" y1="44196" x2="65625" y2="44196"/>
                        <a14:foregroundMark x1="53571" y1="53125" x2="53571" y2="53125"/>
                        <a14:foregroundMark x1="50446" y1="57143" x2="50446" y2="57143"/>
                        <a14:foregroundMark x1="48661" y1="57143" x2="48661" y2="57143"/>
                        <a14:foregroundMark x1="48661" y1="49554" x2="48661" y2="49554"/>
                        <a14:foregroundMark x1="34375" y1="44196" x2="34375" y2="44196"/>
                        <a14:foregroundMark x1="30357" y1="48661" x2="30357" y2="48661"/>
                        <a14:foregroundMark x1="30357" y1="51339" x2="30357" y2="53125"/>
                        <a14:foregroundMark x1="32143" y1="58036" x2="32143" y2="58036"/>
                        <a14:foregroundMark x1="32589" y1="59375" x2="32589" y2="59375"/>
                        <a14:foregroundMark x1="35714" y1="63839" x2="35268" y2="65179"/>
                        <a14:foregroundMark x1="33482" y1="65179" x2="33482" y2="65179"/>
                        <a14:foregroundMark x1="32143" y1="60268" x2="32143" y2="60268"/>
                        <a14:foregroundMark x1="33482" y1="43304" x2="33482" y2="43304"/>
                        <a14:foregroundMark x1="36607" y1="42411" x2="36607" y2="42411"/>
                        <a14:foregroundMark x1="40625" y1="42857" x2="48214" y2="42857"/>
                        <a14:foregroundMark x1="54464" y1="42857" x2="54464" y2="42857"/>
                        <a14:foregroundMark x1="57589" y1="42857" x2="61607" y2="42857"/>
                        <a14:foregroundMark x1="65625" y1="43304" x2="65625" y2="43304"/>
                        <a14:foregroundMark x1="66964" y1="45982" x2="67411" y2="48661"/>
                        <a14:foregroundMark x1="67411" y1="50893" x2="67411" y2="52232"/>
                        <a14:foregroundMark x1="50893" y1="30357" x2="50893" y2="30357"/>
                        <a14:foregroundMark x1="75446" y1="51786" x2="75446" y2="51786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485656" y="2798242"/>
            <a:ext cx="620332" cy="597132"/>
          </a:xfrm>
          <a:prstGeom prst="rect">
            <a:avLst/>
          </a:prstGeom>
        </p:spPr>
      </p:pic>
      <p:pic>
        <p:nvPicPr>
          <p:cNvPr id="55" name="Picture 2" descr="Resultado de imagem para bot icon png">
            <a:extLst>
              <a:ext uri="{FF2B5EF4-FFF2-40B4-BE49-F238E27FC236}">
                <a16:creationId xmlns="" xmlns:a16="http://schemas.microsoft.com/office/drawing/2014/main" id="{E738C275-86AC-435E-A434-3A5D9D7E24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96564" y="2862093"/>
            <a:ext cx="552166" cy="5282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6" name="Retângulo: Cantos Arredondados 55">
            <a:extLst>
              <a:ext uri="{FF2B5EF4-FFF2-40B4-BE49-F238E27FC236}">
                <a16:creationId xmlns="" xmlns:a16="http://schemas.microsoft.com/office/drawing/2014/main" id="{D45EBC80-A133-4D19-B688-881FE1FD8DC1}"/>
              </a:ext>
            </a:extLst>
          </p:cNvPr>
          <p:cNvSpPr/>
          <p:nvPr/>
        </p:nvSpPr>
        <p:spPr>
          <a:xfrm>
            <a:off x="8151846" y="5731900"/>
            <a:ext cx="2808995" cy="589406"/>
          </a:xfrm>
          <a:prstGeom prst="roundRect">
            <a:avLst/>
          </a:prstGeom>
          <a:solidFill>
            <a:schemeClr val="bg1">
              <a:lumMod val="95000"/>
              <a:lumOff val="5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u="sng" dirty="0">
                <a:solidFill>
                  <a:schemeClr val="tx1"/>
                </a:solidFill>
              </a:rPr>
              <a:t>BPM CORRETIVO E PREVENTIVO</a:t>
            </a:r>
          </a:p>
        </p:txBody>
      </p:sp>
      <p:sp>
        <p:nvSpPr>
          <p:cNvPr id="57" name="Triângulo isósceles 56">
            <a:extLst>
              <a:ext uri="{FF2B5EF4-FFF2-40B4-BE49-F238E27FC236}">
                <a16:creationId xmlns="" xmlns:a16="http://schemas.microsoft.com/office/drawing/2014/main" id="{3C82ADAC-0F3C-470C-B732-0892A4E116FE}"/>
              </a:ext>
            </a:extLst>
          </p:cNvPr>
          <p:cNvSpPr/>
          <p:nvPr/>
        </p:nvSpPr>
        <p:spPr>
          <a:xfrm rot="10800000">
            <a:off x="8223045" y="5272231"/>
            <a:ext cx="2683484" cy="417373"/>
          </a:xfrm>
          <a:prstGeom prst="triangle">
            <a:avLst>
              <a:gd name="adj" fmla="val 50000"/>
            </a:avLst>
          </a:prstGeom>
          <a:solidFill>
            <a:schemeClr val="accent6">
              <a:lumMod val="75000"/>
            </a:schemeClr>
          </a:solidFill>
          <a:ln>
            <a:solidFill>
              <a:srgbClr val="293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601574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1000">
              <a:schemeClr val="tx1">
                <a:lumMod val="65000"/>
              </a:schemeClr>
            </a:gs>
            <a:gs pos="100000">
              <a:schemeClr val="bg2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Oval 14">
            <a:extLst>
              <a:ext uri="{FF2B5EF4-FFF2-40B4-BE49-F238E27FC236}">
                <a16:creationId xmlns="" xmlns:a16="http://schemas.microsoft.com/office/drawing/2014/main" id="{09440D31-60E2-4D29-8D68-2460A63CC719}"/>
              </a:ext>
            </a:extLst>
          </p:cNvPr>
          <p:cNvSpPr/>
          <p:nvPr/>
        </p:nvSpPr>
        <p:spPr>
          <a:xfrm rot="20956176">
            <a:off x="-700419" y="-33825"/>
            <a:ext cx="1133938" cy="1133938"/>
          </a:xfrm>
          <a:prstGeom prst="ellipse">
            <a:avLst/>
          </a:prstGeom>
          <a:solidFill>
            <a:schemeClr val="accent5">
              <a:lumMod val="50000"/>
              <a:alpha val="4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prstClr val="white"/>
              </a:solidFill>
            </a:endParaRPr>
          </a:p>
        </p:txBody>
      </p:sp>
      <p:sp>
        <p:nvSpPr>
          <p:cNvPr id="86" name="CaixaDeTexto 85">
            <a:extLst>
              <a:ext uri="{FF2B5EF4-FFF2-40B4-BE49-F238E27FC236}">
                <a16:creationId xmlns="" xmlns:a16="http://schemas.microsoft.com/office/drawing/2014/main" id="{7E0E572F-A3E8-41E1-9018-9526F763BE93}"/>
              </a:ext>
            </a:extLst>
          </p:cNvPr>
          <p:cNvSpPr txBox="1"/>
          <p:nvPr/>
        </p:nvSpPr>
        <p:spPr>
          <a:xfrm>
            <a:off x="511317" y="167641"/>
            <a:ext cx="84835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Rounded MT Bold" panose="020F0704030504030204" pitchFamily="34" charset="0"/>
                <a:ea typeface="+mn-ea"/>
                <a:cs typeface="+mn-cs"/>
              </a:rPr>
              <a:t>METODOLOGIA LIINKOO PARA GERENCIAMENTO DE PROCESSOS</a:t>
            </a:r>
          </a:p>
        </p:txBody>
      </p:sp>
      <p:grpSp>
        <p:nvGrpSpPr>
          <p:cNvPr id="31" name="Agrupar 30">
            <a:extLst>
              <a:ext uri="{FF2B5EF4-FFF2-40B4-BE49-F238E27FC236}">
                <a16:creationId xmlns="" xmlns:a16="http://schemas.microsoft.com/office/drawing/2014/main" id="{5C7F76D1-E103-49BB-8075-B19EBC8D9418}"/>
              </a:ext>
            </a:extLst>
          </p:cNvPr>
          <p:cNvGrpSpPr/>
          <p:nvPr/>
        </p:nvGrpSpPr>
        <p:grpSpPr>
          <a:xfrm>
            <a:off x="6096000" y="1246607"/>
            <a:ext cx="5098226" cy="4358811"/>
            <a:chOff x="287469" y="990959"/>
            <a:chExt cx="5098226" cy="4358811"/>
          </a:xfrm>
        </p:grpSpPr>
        <p:grpSp>
          <p:nvGrpSpPr>
            <p:cNvPr id="33" name="Agrupar 32">
              <a:extLst>
                <a:ext uri="{FF2B5EF4-FFF2-40B4-BE49-F238E27FC236}">
                  <a16:creationId xmlns="" xmlns:a16="http://schemas.microsoft.com/office/drawing/2014/main" id="{AA267E6B-BF0E-499D-A478-FEEB7D9D8A97}"/>
                </a:ext>
              </a:extLst>
            </p:cNvPr>
            <p:cNvGrpSpPr/>
            <p:nvPr/>
          </p:nvGrpSpPr>
          <p:grpSpPr>
            <a:xfrm>
              <a:off x="287469" y="2992386"/>
              <a:ext cx="703423" cy="703118"/>
              <a:chOff x="2334709" y="2355477"/>
              <a:chExt cx="785539" cy="787144"/>
            </a:xfrm>
          </p:grpSpPr>
          <p:grpSp>
            <p:nvGrpSpPr>
              <p:cNvPr id="117" name="Grupo 29">
                <a:extLst>
                  <a:ext uri="{FF2B5EF4-FFF2-40B4-BE49-F238E27FC236}">
                    <a16:creationId xmlns="" xmlns:a16="http://schemas.microsoft.com/office/drawing/2014/main" id="{F7BCAE61-5921-4F4D-B071-18BC1054ADFC}"/>
                  </a:ext>
                </a:extLst>
              </p:cNvPr>
              <p:cNvGrpSpPr/>
              <p:nvPr/>
            </p:nvGrpSpPr>
            <p:grpSpPr>
              <a:xfrm>
                <a:off x="2334709" y="2355477"/>
                <a:ext cx="120349" cy="120351"/>
                <a:chOff x="1982296" y="1466660"/>
                <a:chExt cx="307371" cy="307371"/>
              </a:xfrm>
            </p:grpSpPr>
            <p:sp>
              <p:nvSpPr>
                <p:cNvPr id="127" name="Retângulo de cantos arredondados 30">
                  <a:extLst>
                    <a:ext uri="{FF2B5EF4-FFF2-40B4-BE49-F238E27FC236}">
                      <a16:creationId xmlns="" xmlns:a16="http://schemas.microsoft.com/office/drawing/2014/main" id="{AB1E342F-078B-413E-8998-91742C13D5E2}"/>
                    </a:ext>
                  </a:extLst>
                </p:cNvPr>
                <p:cNvSpPr/>
                <p:nvPr/>
              </p:nvSpPr>
              <p:spPr>
                <a:xfrm>
                  <a:off x="2102647" y="1466660"/>
                  <a:ext cx="66672" cy="307371"/>
                </a:xfrm>
                <a:prstGeom prst="roundRect">
                  <a:avLst/>
                </a:prstGeom>
                <a:solidFill>
                  <a:srgbClr val="6E7073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>
                  <a:defPPr>
                    <a:defRPr lang="pt-BR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115671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2277" b="0" i="0" u="none" strike="noStrike" kern="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28" name="Retângulo de cantos arredondados 31">
                  <a:extLst>
                    <a:ext uri="{FF2B5EF4-FFF2-40B4-BE49-F238E27FC236}">
                      <a16:creationId xmlns="" xmlns:a16="http://schemas.microsoft.com/office/drawing/2014/main" id="{921A8153-52CA-4E37-8370-95602065D567}"/>
                    </a:ext>
                  </a:extLst>
                </p:cNvPr>
                <p:cNvSpPr/>
                <p:nvPr/>
              </p:nvSpPr>
              <p:spPr>
                <a:xfrm rot="5400000">
                  <a:off x="2102646" y="1466661"/>
                  <a:ext cx="66672" cy="307371"/>
                </a:xfrm>
                <a:prstGeom prst="roundRect">
                  <a:avLst/>
                </a:prstGeom>
                <a:solidFill>
                  <a:srgbClr val="6E7073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>
                  <a:defPPr>
                    <a:defRPr lang="pt-BR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115671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2277" b="0" i="0" u="none" strike="noStrike" kern="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18" name="Grupo 32">
                <a:extLst>
                  <a:ext uri="{FF2B5EF4-FFF2-40B4-BE49-F238E27FC236}">
                    <a16:creationId xmlns="" xmlns:a16="http://schemas.microsoft.com/office/drawing/2014/main" id="{01405F85-C59D-4B4A-9344-20EBAC0B1DD4}"/>
                  </a:ext>
                </a:extLst>
              </p:cNvPr>
              <p:cNvGrpSpPr/>
              <p:nvPr/>
            </p:nvGrpSpPr>
            <p:grpSpPr>
              <a:xfrm>
                <a:off x="2999899" y="2355477"/>
                <a:ext cx="120349" cy="120351"/>
                <a:chOff x="1982296" y="1466660"/>
                <a:chExt cx="307371" cy="307371"/>
              </a:xfrm>
            </p:grpSpPr>
            <p:sp>
              <p:nvSpPr>
                <p:cNvPr id="125" name="Retângulo de cantos arredondados 33">
                  <a:extLst>
                    <a:ext uri="{FF2B5EF4-FFF2-40B4-BE49-F238E27FC236}">
                      <a16:creationId xmlns="" xmlns:a16="http://schemas.microsoft.com/office/drawing/2014/main" id="{86B271A1-C295-49C3-8F85-24BDDD21A8B6}"/>
                    </a:ext>
                  </a:extLst>
                </p:cNvPr>
                <p:cNvSpPr/>
                <p:nvPr/>
              </p:nvSpPr>
              <p:spPr>
                <a:xfrm>
                  <a:off x="2102647" y="1466660"/>
                  <a:ext cx="66672" cy="307371"/>
                </a:xfrm>
                <a:prstGeom prst="roundRect">
                  <a:avLst/>
                </a:prstGeom>
                <a:solidFill>
                  <a:srgbClr val="6E7073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>
                  <a:defPPr>
                    <a:defRPr lang="pt-BR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115671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2277" b="0" i="0" u="none" strike="noStrike" kern="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26" name="Retângulo de cantos arredondados 34">
                  <a:extLst>
                    <a:ext uri="{FF2B5EF4-FFF2-40B4-BE49-F238E27FC236}">
                      <a16:creationId xmlns="" xmlns:a16="http://schemas.microsoft.com/office/drawing/2014/main" id="{4C827D0B-BA8E-46E6-96B7-B46CCBAE96ED}"/>
                    </a:ext>
                  </a:extLst>
                </p:cNvPr>
                <p:cNvSpPr/>
                <p:nvPr/>
              </p:nvSpPr>
              <p:spPr>
                <a:xfrm rot="5400000">
                  <a:off x="2102646" y="1466661"/>
                  <a:ext cx="66672" cy="307371"/>
                </a:xfrm>
                <a:prstGeom prst="roundRect">
                  <a:avLst/>
                </a:prstGeom>
                <a:solidFill>
                  <a:srgbClr val="6E7073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>
                  <a:defPPr>
                    <a:defRPr lang="pt-BR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115671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2277" b="0" i="0" u="none" strike="noStrike" kern="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19" name="Grupo 35">
                <a:extLst>
                  <a:ext uri="{FF2B5EF4-FFF2-40B4-BE49-F238E27FC236}">
                    <a16:creationId xmlns="" xmlns:a16="http://schemas.microsoft.com/office/drawing/2014/main" id="{A7BC3A2B-63B1-4642-AE13-B4624D703A2C}"/>
                  </a:ext>
                </a:extLst>
              </p:cNvPr>
              <p:cNvGrpSpPr/>
              <p:nvPr/>
            </p:nvGrpSpPr>
            <p:grpSpPr>
              <a:xfrm>
                <a:off x="2999898" y="3022270"/>
                <a:ext cx="120349" cy="120351"/>
                <a:chOff x="1982296" y="1466660"/>
                <a:chExt cx="307371" cy="307371"/>
              </a:xfrm>
            </p:grpSpPr>
            <p:sp>
              <p:nvSpPr>
                <p:cNvPr id="123" name="Retângulo de cantos arredondados 36">
                  <a:extLst>
                    <a:ext uri="{FF2B5EF4-FFF2-40B4-BE49-F238E27FC236}">
                      <a16:creationId xmlns="" xmlns:a16="http://schemas.microsoft.com/office/drawing/2014/main" id="{FE339262-5F4A-4D9C-9A38-5E424BB3278D}"/>
                    </a:ext>
                  </a:extLst>
                </p:cNvPr>
                <p:cNvSpPr/>
                <p:nvPr/>
              </p:nvSpPr>
              <p:spPr>
                <a:xfrm>
                  <a:off x="2102647" y="1466660"/>
                  <a:ext cx="66672" cy="307371"/>
                </a:xfrm>
                <a:prstGeom prst="roundRect">
                  <a:avLst/>
                </a:prstGeom>
                <a:solidFill>
                  <a:srgbClr val="6E7073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>
                  <a:defPPr>
                    <a:defRPr lang="pt-BR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115671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2277" b="0" i="0" u="none" strike="noStrike" kern="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24" name="Retângulo de cantos arredondados 37">
                  <a:extLst>
                    <a:ext uri="{FF2B5EF4-FFF2-40B4-BE49-F238E27FC236}">
                      <a16:creationId xmlns="" xmlns:a16="http://schemas.microsoft.com/office/drawing/2014/main" id="{BA8095AD-3F44-475B-8E67-5CFCDE8C3169}"/>
                    </a:ext>
                  </a:extLst>
                </p:cNvPr>
                <p:cNvSpPr/>
                <p:nvPr/>
              </p:nvSpPr>
              <p:spPr>
                <a:xfrm rot="5400000">
                  <a:off x="2102646" y="1466661"/>
                  <a:ext cx="66672" cy="307371"/>
                </a:xfrm>
                <a:prstGeom prst="roundRect">
                  <a:avLst/>
                </a:prstGeom>
                <a:solidFill>
                  <a:srgbClr val="6E7073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>
                  <a:defPPr>
                    <a:defRPr lang="pt-BR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115671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2277" b="0" i="0" u="none" strike="noStrike" kern="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20" name="Grupo 38">
                <a:extLst>
                  <a:ext uri="{FF2B5EF4-FFF2-40B4-BE49-F238E27FC236}">
                    <a16:creationId xmlns="" xmlns:a16="http://schemas.microsoft.com/office/drawing/2014/main" id="{D7D16056-815D-4C46-8120-4CE387C2A748}"/>
                  </a:ext>
                </a:extLst>
              </p:cNvPr>
              <p:cNvGrpSpPr/>
              <p:nvPr/>
            </p:nvGrpSpPr>
            <p:grpSpPr>
              <a:xfrm>
                <a:off x="2334709" y="3022270"/>
                <a:ext cx="120349" cy="120351"/>
                <a:chOff x="1982296" y="1466660"/>
                <a:chExt cx="307371" cy="307371"/>
              </a:xfrm>
            </p:grpSpPr>
            <p:sp>
              <p:nvSpPr>
                <p:cNvPr id="121" name="Retângulo de cantos arredondados 39">
                  <a:extLst>
                    <a:ext uri="{FF2B5EF4-FFF2-40B4-BE49-F238E27FC236}">
                      <a16:creationId xmlns="" xmlns:a16="http://schemas.microsoft.com/office/drawing/2014/main" id="{59E90561-D46D-4707-B38E-B280ED240CD6}"/>
                    </a:ext>
                  </a:extLst>
                </p:cNvPr>
                <p:cNvSpPr/>
                <p:nvPr/>
              </p:nvSpPr>
              <p:spPr>
                <a:xfrm>
                  <a:off x="2102647" y="1466660"/>
                  <a:ext cx="66672" cy="307371"/>
                </a:xfrm>
                <a:prstGeom prst="roundRect">
                  <a:avLst/>
                </a:prstGeom>
                <a:solidFill>
                  <a:srgbClr val="6E7073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>
                  <a:defPPr>
                    <a:defRPr lang="pt-BR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115671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2277" b="0" i="0" u="none" strike="noStrike" kern="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22" name="Retângulo de cantos arredondados 40">
                  <a:extLst>
                    <a:ext uri="{FF2B5EF4-FFF2-40B4-BE49-F238E27FC236}">
                      <a16:creationId xmlns="" xmlns:a16="http://schemas.microsoft.com/office/drawing/2014/main" id="{153360C0-77C0-4F8F-8F97-C1B74FE1EB12}"/>
                    </a:ext>
                  </a:extLst>
                </p:cNvPr>
                <p:cNvSpPr/>
                <p:nvPr/>
              </p:nvSpPr>
              <p:spPr>
                <a:xfrm rot="5400000">
                  <a:off x="2102646" y="1466661"/>
                  <a:ext cx="66672" cy="307371"/>
                </a:xfrm>
                <a:prstGeom prst="roundRect">
                  <a:avLst/>
                </a:prstGeom>
                <a:solidFill>
                  <a:srgbClr val="6E7073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>
                  <a:defPPr>
                    <a:defRPr lang="pt-BR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115671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2277" b="0" i="0" u="none" strike="noStrike" kern="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57" name="Agrupar 56">
              <a:extLst>
                <a:ext uri="{FF2B5EF4-FFF2-40B4-BE49-F238E27FC236}">
                  <a16:creationId xmlns="" xmlns:a16="http://schemas.microsoft.com/office/drawing/2014/main" id="{F2A969AA-37D0-4E3B-BFBD-E4E8C741C665}"/>
                </a:ext>
              </a:extLst>
            </p:cNvPr>
            <p:cNvGrpSpPr/>
            <p:nvPr/>
          </p:nvGrpSpPr>
          <p:grpSpPr>
            <a:xfrm>
              <a:off x="1234850" y="990959"/>
              <a:ext cx="4150845" cy="4358811"/>
              <a:chOff x="1503828" y="831732"/>
              <a:chExt cx="4562352" cy="4358811"/>
            </a:xfrm>
          </p:grpSpPr>
          <p:grpSp>
            <p:nvGrpSpPr>
              <p:cNvPr id="99" name="Agrupar 98">
                <a:extLst>
                  <a:ext uri="{FF2B5EF4-FFF2-40B4-BE49-F238E27FC236}">
                    <a16:creationId xmlns="" xmlns:a16="http://schemas.microsoft.com/office/drawing/2014/main" id="{70AA311F-2071-4D1F-9E85-B0619FED1936}"/>
                  </a:ext>
                </a:extLst>
              </p:cNvPr>
              <p:cNvGrpSpPr/>
              <p:nvPr/>
            </p:nvGrpSpPr>
            <p:grpSpPr>
              <a:xfrm>
                <a:off x="1566397" y="831732"/>
                <a:ext cx="4448674" cy="2001427"/>
                <a:chOff x="577847" y="790017"/>
                <a:chExt cx="4448674" cy="2001427"/>
              </a:xfrm>
            </p:grpSpPr>
            <p:sp>
              <p:nvSpPr>
                <p:cNvPr id="109" name="Retângulo 108">
                  <a:extLst>
                    <a:ext uri="{FF2B5EF4-FFF2-40B4-BE49-F238E27FC236}">
                      <a16:creationId xmlns="" xmlns:a16="http://schemas.microsoft.com/office/drawing/2014/main" id="{25EC27F8-B6D5-45E7-832B-6D04C18AD186}"/>
                    </a:ext>
                  </a:extLst>
                </p:cNvPr>
                <p:cNvSpPr/>
                <p:nvPr/>
              </p:nvSpPr>
              <p:spPr>
                <a:xfrm>
                  <a:off x="577847" y="790017"/>
                  <a:ext cx="4448674" cy="573517"/>
                </a:xfrm>
                <a:prstGeom prst="rect">
                  <a:avLst/>
                </a:prstGeom>
                <a:solidFill>
                  <a:schemeClr val="bg2">
                    <a:lumMod val="75000"/>
                  </a:scheme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>
                  <a:defPPr>
                    <a:defRPr lang="pt-BR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1156716" rtl="0" eaLnBrk="1" fontAlgn="auto" latinLnBrk="0" hangingPunct="1">
                    <a:lnSpc>
                      <a:spcPct val="8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pt-BR" sz="1800" b="1" i="0" u="none" strike="noStrike" kern="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latin typeface="Calibri"/>
                      <a:ea typeface="+mn-ea"/>
                      <a:cs typeface="+mn-cs"/>
                    </a:rPr>
                    <a:t>Inteligência Artificial e Estratégia </a:t>
                  </a:r>
                  <a:r>
                    <a:rPr lang="pt-BR" b="1" kern="0" dirty="0">
                      <a:latin typeface="Calibri"/>
                    </a:rPr>
                    <a:t>no</a:t>
                  </a:r>
                </a:p>
                <a:p>
                  <a:pPr marL="0" marR="0" lvl="0" indent="0" algn="ctr" defTabSz="1156716" rtl="0" eaLnBrk="1" fontAlgn="auto" latinLnBrk="0" hangingPunct="1">
                    <a:lnSpc>
                      <a:spcPct val="8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pt-BR" sz="1800" b="1" i="0" u="none" strike="noStrike" kern="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latin typeface="Calibri"/>
                      <a:ea typeface="+mn-ea"/>
                      <a:cs typeface="+mn-cs"/>
                    </a:rPr>
                    <a:t>Gerenciamento de Processos</a:t>
                  </a:r>
                </a:p>
              </p:txBody>
            </p:sp>
            <p:sp>
              <p:nvSpPr>
                <p:cNvPr id="110" name="Retângulo 109">
                  <a:extLst>
                    <a:ext uri="{FF2B5EF4-FFF2-40B4-BE49-F238E27FC236}">
                      <a16:creationId xmlns="" xmlns:a16="http://schemas.microsoft.com/office/drawing/2014/main" id="{FE0879B1-9DD0-498B-B8C9-FE37ED57049D}"/>
                    </a:ext>
                  </a:extLst>
                </p:cNvPr>
                <p:cNvSpPr/>
                <p:nvPr/>
              </p:nvSpPr>
              <p:spPr>
                <a:xfrm>
                  <a:off x="577847" y="2384052"/>
                  <a:ext cx="4448673" cy="407392"/>
                </a:xfrm>
                <a:prstGeom prst="rect">
                  <a:avLst/>
                </a:prstGeom>
                <a:solidFill>
                  <a:srgbClr val="626466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>
                  <a:defPPr>
                    <a:defRPr lang="pt-BR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1" indent="0" algn="ctr" defTabSz="115671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pt-BR" sz="1400" b="0" i="0" u="none" strike="noStrike" kern="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latin typeface="Calibri"/>
                      <a:ea typeface="+mn-ea"/>
                      <a:cs typeface="+mn-cs"/>
                    </a:rPr>
                    <a:t>MELHORIA CONTÍNUA</a:t>
                  </a:r>
                </a:p>
              </p:txBody>
            </p:sp>
            <p:sp>
              <p:nvSpPr>
                <p:cNvPr id="111" name="Retângulo 110">
                  <a:extLst>
                    <a:ext uri="{FF2B5EF4-FFF2-40B4-BE49-F238E27FC236}">
                      <a16:creationId xmlns="" xmlns:a16="http://schemas.microsoft.com/office/drawing/2014/main" id="{17737434-9B86-4257-ACD9-48B8F3C8A863}"/>
                    </a:ext>
                  </a:extLst>
                </p:cNvPr>
                <p:cNvSpPr/>
                <p:nvPr/>
              </p:nvSpPr>
              <p:spPr>
                <a:xfrm>
                  <a:off x="2100654" y="1721610"/>
                  <a:ext cx="1649581" cy="278253"/>
                </a:xfrm>
                <a:prstGeom prst="rect">
                  <a:avLst/>
                </a:prstGeom>
                <a:solidFill>
                  <a:srgbClr val="929497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>
                  <a:defPPr>
                    <a:defRPr lang="pt-BR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115671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pt-BR" sz="1300" b="0" i="0" u="none" strike="noStrike" kern="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latin typeface="Calibri"/>
                      <a:ea typeface="+mn-ea"/>
                      <a:cs typeface="+mn-cs"/>
                    </a:rPr>
                    <a:t>AVALIAR</a:t>
                  </a:r>
                </a:p>
              </p:txBody>
            </p:sp>
            <p:sp>
              <p:nvSpPr>
                <p:cNvPr id="112" name="Retângulo 111">
                  <a:extLst>
                    <a:ext uri="{FF2B5EF4-FFF2-40B4-BE49-F238E27FC236}">
                      <a16:creationId xmlns="" xmlns:a16="http://schemas.microsoft.com/office/drawing/2014/main" id="{8811B1AE-1EE0-47E3-8620-418AF25CD5FA}"/>
                    </a:ext>
                  </a:extLst>
                </p:cNvPr>
                <p:cNvSpPr/>
                <p:nvPr/>
              </p:nvSpPr>
              <p:spPr>
                <a:xfrm>
                  <a:off x="2100655" y="1399778"/>
                  <a:ext cx="1649581" cy="281864"/>
                </a:xfrm>
                <a:prstGeom prst="rect">
                  <a:avLst/>
                </a:prstGeom>
                <a:solidFill>
                  <a:srgbClr val="929497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>
                  <a:defPPr>
                    <a:defRPr lang="pt-BR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115671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pt-BR" sz="1300" b="0" i="0" u="none" strike="noStrike" kern="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latin typeface="Calibri"/>
                      <a:ea typeface="+mn-ea"/>
                      <a:cs typeface="+mn-cs"/>
                    </a:rPr>
                    <a:t>CAPTAR DADOS</a:t>
                  </a:r>
                </a:p>
              </p:txBody>
            </p:sp>
            <p:sp>
              <p:nvSpPr>
                <p:cNvPr id="113" name="Retângulo 112">
                  <a:extLst>
                    <a:ext uri="{FF2B5EF4-FFF2-40B4-BE49-F238E27FC236}">
                      <a16:creationId xmlns="" xmlns:a16="http://schemas.microsoft.com/office/drawing/2014/main" id="{D43789C3-E8AE-4EA0-9BDF-A4FF32D99068}"/>
                    </a:ext>
                  </a:extLst>
                </p:cNvPr>
                <p:cNvSpPr/>
                <p:nvPr/>
              </p:nvSpPr>
              <p:spPr>
                <a:xfrm>
                  <a:off x="577847" y="1404066"/>
                  <a:ext cx="1482308" cy="931125"/>
                </a:xfrm>
                <a:prstGeom prst="rect">
                  <a:avLst/>
                </a:prstGeom>
                <a:solidFill>
                  <a:srgbClr val="929497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>
                  <a:defPPr>
                    <a:defRPr lang="pt-BR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115671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pt-BR" sz="1300" b="0" i="0" u="none" strike="noStrike" kern="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latin typeface="Calibri"/>
                      <a:ea typeface="+mn-ea"/>
                      <a:cs typeface="+mn-cs"/>
                    </a:rPr>
                    <a:t>MONITORAR</a:t>
                  </a:r>
                </a:p>
                <a:p>
                  <a:pPr marL="0" marR="0" lvl="0" indent="0" algn="ctr" defTabSz="115671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lang="pt-BR" sz="1300" kern="0" dirty="0">
                      <a:latin typeface="Calibri"/>
                    </a:rPr>
                    <a:t>SENSORES</a:t>
                  </a:r>
                  <a:endParaRPr kumimoji="0" lang="pt-BR" sz="1300" b="0" i="0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14" name="Retângulo 113">
                  <a:extLst>
                    <a:ext uri="{FF2B5EF4-FFF2-40B4-BE49-F238E27FC236}">
                      <a16:creationId xmlns="" xmlns:a16="http://schemas.microsoft.com/office/drawing/2014/main" id="{68862D8D-FD4D-46EC-9064-106863B3E285}"/>
                    </a:ext>
                  </a:extLst>
                </p:cNvPr>
                <p:cNvSpPr/>
                <p:nvPr/>
              </p:nvSpPr>
              <p:spPr>
                <a:xfrm>
                  <a:off x="3790734" y="1397713"/>
                  <a:ext cx="1235786" cy="937478"/>
                </a:xfrm>
                <a:prstGeom prst="rect">
                  <a:avLst/>
                </a:prstGeom>
                <a:solidFill>
                  <a:srgbClr val="929497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>
                  <a:defPPr>
                    <a:defRPr lang="pt-BR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115671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pt-BR" sz="1300" b="0" i="0" u="none" strike="noStrike" kern="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latin typeface="Calibri"/>
                      <a:ea typeface="+mn-ea"/>
                      <a:cs typeface="+mn-cs"/>
                    </a:rPr>
                    <a:t>GESTÃO</a:t>
                  </a:r>
                </a:p>
                <a:p>
                  <a:pPr marL="0" marR="0" lvl="0" indent="0" algn="ctr" defTabSz="115671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lang="pt-BR" sz="1300" kern="0" dirty="0">
                      <a:latin typeface="Calibri"/>
                    </a:rPr>
                    <a:t>AMBIENTE</a:t>
                  </a:r>
                  <a:endParaRPr kumimoji="0" lang="pt-BR" sz="1300" b="0" i="0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15" name="Retângulo 114">
                  <a:extLst>
                    <a:ext uri="{FF2B5EF4-FFF2-40B4-BE49-F238E27FC236}">
                      <a16:creationId xmlns="" xmlns:a16="http://schemas.microsoft.com/office/drawing/2014/main" id="{7CA4120F-53F7-468D-AFF6-445C91694A2D}"/>
                    </a:ext>
                  </a:extLst>
                </p:cNvPr>
                <p:cNvSpPr/>
                <p:nvPr/>
              </p:nvSpPr>
              <p:spPr>
                <a:xfrm>
                  <a:off x="2100654" y="2043658"/>
                  <a:ext cx="1649581" cy="278253"/>
                </a:xfrm>
                <a:prstGeom prst="rect">
                  <a:avLst/>
                </a:prstGeom>
                <a:solidFill>
                  <a:srgbClr val="929497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>
                  <a:defPPr>
                    <a:defRPr lang="pt-BR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115671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pt-BR" sz="1300" b="0" i="0" u="none" strike="noStrike" kern="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latin typeface="Calibri"/>
                      <a:ea typeface="+mn-ea"/>
                      <a:cs typeface="+mn-cs"/>
                    </a:rPr>
                    <a:t>INSIGHTS</a:t>
                  </a:r>
                </a:p>
              </p:txBody>
            </p:sp>
          </p:grpSp>
          <p:grpSp>
            <p:nvGrpSpPr>
              <p:cNvPr id="100" name="Agrupar 99">
                <a:extLst>
                  <a:ext uri="{FF2B5EF4-FFF2-40B4-BE49-F238E27FC236}">
                    <a16:creationId xmlns="" xmlns:a16="http://schemas.microsoft.com/office/drawing/2014/main" id="{17A0913C-A377-4D44-8A9F-3D2316D0952A}"/>
                  </a:ext>
                </a:extLst>
              </p:cNvPr>
              <p:cNvGrpSpPr/>
              <p:nvPr/>
            </p:nvGrpSpPr>
            <p:grpSpPr>
              <a:xfrm>
                <a:off x="1503828" y="3052118"/>
                <a:ext cx="4562352" cy="2138425"/>
                <a:chOff x="1503828" y="3052118"/>
                <a:chExt cx="4562352" cy="2138425"/>
              </a:xfrm>
            </p:grpSpPr>
            <p:sp>
              <p:nvSpPr>
                <p:cNvPr id="101" name="Retângulo de cantos arredondados 3">
                  <a:extLst>
                    <a:ext uri="{FF2B5EF4-FFF2-40B4-BE49-F238E27FC236}">
                      <a16:creationId xmlns="" xmlns:a16="http://schemas.microsoft.com/office/drawing/2014/main" id="{7512B497-5976-4A70-A135-3090462E2E54}"/>
                    </a:ext>
                  </a:extLst>
                </p:cNvPr>
                <p:cNvSpPr/>
                <p:nvPr/>
              </p:nvSpPr>
              <p:spPr>
                <a:xfrm>
                  <a:off x="1795259" y="3052118"/>
                  <a:ext cx="3965824" cy="396918"/>
                </a:xfrm>
                <a:prstGeom prst="roundRect">
                  <a:avLst/>
                </a:prstGeom>
                <a:solidFill>
                  <a:srgbClr val="F4750C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>
                  <a:defPPr>
                    <a:defRPr lang="pt-BR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115671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pt-BR" sz="1800" b="1" i="0" u="none" strike="noStrike" kern="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latin typeface="Calibri"/>
                      <a:ea typeface="+mn-ea"/>
                      <a:cs typeface="+mn-cs"/>
                    </a:rPr>
                    <a:t>Plataforma - Liinkoo</a:t>
                  </a:r>
                </a:p>
              </p:txBody>
            </p:sp>
            <p:grpSp>
              <p:nvGrpSpPr>
                <p:cNvPr id="102" name="Agrupar 101">
                  <a:extLst>
                    <a:ext uri="{FF2B5EF4-FFF2-40B4-BE49-F238E27FC236}">
                      <a16:creationId xmlns="" xmlns:a16="http://schemas.microsoft.com/office/drawing/2014/main" id="{BC580E13-D61A-481F-A6DF-C020813AC590}"/>
                    </a:ext>
                  </a:extLst>
                </p:cNvPr>
                <p:cNvGrpSpPr/>
                <p:nvPr/>
              </p:nvGrpSpPr>
              <p:grpSpPr>
                <a:xfrm>
                  <a:off x="1503828" y="3579489"/>
                  <a:ext cx="4562352" cy="1611054"/>
                  <a:chOff x="1356756" y="3719946"/>
                  <a:chExt cx="4562352" cy="1611054"/>
                </a:xfrm>
              </p:grpSpPr>
              <p:sp>
                <p:nvSpPr>
                  <p:cNvPr id="103" name="Retângulo 102">
                    <a:extLst>
                      <a:ext uri="{FF2B5EF4-FFF2-40B4-BE49-F238E27FC236}">
                        <a16:creationId xmlns="" xmlns:a16="http://schemas.microsoft.com/office/drawing/2014/main" id="{BA8B5797-AA91-401B-941C-0AE2BA6E0692}"/>
                      </a:ext>
                    </a:extLst>
                  </p:cNvPr>
                  <p:cNvSpPr/>
                  <p:nvPr/>
                </p:nvSpPr>
                <p:spPr>
                  <a:xfrm>
                    <a:off x="1356756" y="4959821"/>
                    <a:ext cx="4544042" cy="371179"/>
                  </a:xfrm>
                  <a:prstGeom prst="rect">
                    <a:avLst/>
                  </a:prstGeom>
                  <a:solidFill>
                    <a:schemeClr val="bg2">
                      <a:lumMod val="50000"/>
                    </a:schemeClr>
                  </a:solidFill>
                  <a:ln w="9525" cap="flat" cmpd="sng" algn="ctr">
                    <a:noFill/>
                    <a:prstDash val="solid"/>
                  </a:ln>
                  <a:effectLst/>
                </p:spPr>
                <p:txBody>
                  <a:bodyPr rtlCol="0" anchor="ctr"/>
                  <a:lstStyle>
                    <a:defPPr>
                      <a:defRPr lang="pt-BR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marL="0" marR="0" lvl="0" indent="0" algn="ctr" defTabSz="1156716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pt-BR" sz="1400" b="1" i="0" u="none" strike="noStrike" kern="0" cap="none" spc="0" normalizeH="0" baseline="0" noProof="0" dirty="0">
                        <a:ln>
                          <a:noFill/>
                        </a:ln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rPr>
                      <a:t>INTEGRAÇÃO</a:t>
                    </a:r>
                  </a:p>
                </p:txBody>
              </p:sp>
              <p:sp>
                <p:nvSpPr>
                  <p:cNvPr id="104" name="Retângulo 103">
                    <a:extLst>
                      <a:ext uri="{FF2B5EF4-FFF2-40B4-BE49-F238E27FC236}">
                        <a16:creationId xmlns="" xmlns:a16="http://schemas.microsoft.com/office/drawing/2014/main" id="{4DF1F67F-5A5B-4671-96A4-3A94B663AE19}"/>
                      </a:ext>
                    </a:extLst>
                  </p:cNvPr>
                  <p:cNvSpPr/>
                  <p:nvPr/>
                </p:nvSpPr>
                <p:spPr>
                  <a:xfrm>
                    <a:off x="1356756" y="4598802"/>
                    <a:ext cx="4544041" cy="305827"/>
                  </a:xfrm>
                  <a:prstGeom prst="rect">
                    <a:avLst/>
                  </a:prstGeom>
                  <a:solidFill>
                    <a:srgbClr val="626466"/>
                  </a:solidFill>
                  <a:ln w="9525" cap="flat" cmpd="sng" algn="ctr">
                    <a:noFill/>
                    <a:prstDash val="solid"/>
                  </a:ln>
                  <a:effectLst/>
                </p:spPr>
                <p:txBody>
                  <a:bodyPr rtlCol="0" anchor="ctr"/>
                  <a:lstStyle>
                    <a:defPPr>
                      <a:defRPr lang="pt-BR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marL="0" marR="0" lvl="0" indent="0" algn="ctr" defTabSz="1156716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pt-BR" sz="1400" b="1" i="0" u="none" strike="noStrike" kern="0" cap="none" spc="0" normalizeH="0" baseline="0" noProof="0" dirty="0">
                        <a:ln>
                          <a:noFill/>
                        </a:ln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rPr>
                      <a:t>AUTOMAÇÃO</a:t>
                    </a:r>
                  </a:p>
                </p:txBody>
              </p:sp>
              <p:sp>
                <p:nvSpPr>
                  <p:cNvPr id="105" name="Triângulo isósceles 104">
                    <a:extLst>
                      <a:ext uri="{FF2B5EF4-FFF2-40B4-BE49-F238E27FC236}">
                        <a16:creationId xmlns="" xmlns:a16="http://schemas.microsoft.com/office/drawing/2014/main" id="{FC711EFF-90D5-4091-BB92-BB7B13A9C20F}"/>
                      </a:ext>
                    </a:extLst>
                  </p:cNvPr>
                  <p:cNvSpPr/>
                  <p:nvPr/>
                </p:nvSpPr>
                <p:spPr>
                  <a:xfrm>
                    <a:off x="1411527" y="3719946"/>
                    <a:ext cx="4507581" cy="419435"/>
                  </a:xfrm>
                  <a:prstGeom prst="triangle">
                    <a:avLst/>
                  </a:prstGeom>
                  <a:solidFill>
                    <a:schemeClr val="bg1">
                      <a:alpha val="65000"/>
                    </a:schemeClr>
                  </a:solidFill>
                  <a:ln w="9525" cap="flat" cmpd="sng" algn="ctr">
                    <a:noFill/>
                    <a:prstDash val="solid"/>
                  </a:ln>
                  <a:effectLst/>
                </p:spPr>
                <p:txBody>
                  <a:bodyPr rtlCol="0" anchor="ctr"/>
                  <a:lstStyle>
                    <a:defPPr>
                      <a:defRPr lang="pt-BR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marL="0" marR="0" lvl="0" indent="0" algn="ctr" defTabSz="1156716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pt-BR" sz="1518" b="0" i="0" u="none" strike="noStrike" kern="0" cap="none" spc="0" normalizeH="0" baseline="0" noProof="0">
                      <a:ln>
                        <a:noFill/>
                      </a:ln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06" name="Retângulo 105">
                    <a:extLst>
                      <a:ext uri="{FF2B5EF4-FFF2-40B4-BE49-F238E27FC236}">
                        <a16:creationId xmlns="" xmlns:a16="http://schemas.microsoft.com/office/drawing/2014/main" id="{09AF472D-A615-4658-9BC5-C045820EFBFE}"/>
                      </a:ext>
                    </a:extLst>
                  </p:cNvPr>
                  <p:cNvSpPr/>
                  <p:nvPr/>
                </p:nvSpPr>
                <p:spPr>
                  <a:xfrm>
                    <a:off x="1359354" y="4228519"/>
                    <a:ext cx="1527065" cy="306079"/>
                  </a:xfrm>
                  <a:prstGeom prst="rect">
                    <a:avLst/>
                  </a:prstGeom>
                  <a:solidFill>
                    <a:srgbClr val="929497"/>
                  </a:solidFill>
                  <a:ln w="9525" cap="flat" cmpd="sng" algn="ctr">
                    <a:noFill/>
                    <a:prstDash val="solid"/>
                  </a:ln>
                  <a:effectLst/>
                </p:spPr>
                <p:txBody>
                  <a:bodyPr rtlCol="0" anchor="ctr"/>
                  <a:lstStyle>
                    <a:defPPr>
                      <a:defRPr lang="pt-BR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marL="0" marR="0" lvl="0" indent="0" algn="ctr" defTabSz="1156716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pt-BR" sz="1400" b="0" i="0" u="none" strike="noStrike" kern="0" cap="none" spc="0" normalizeH="0" baseline="0" noProof="0" dirty="0">
                        <a:ln>
                          <a:noFill/>
                        </a:ln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rPr>
                      <a:t>CRM</a:t>
                    </a:r>
                  </a:p>
                </p:txBody>
              </p:sp>
              <p:sp>
                <p:nvSpPr>
                  <p:cNvPr id="107" name="Retângulo 106">
                    <a:extLst>
                      <a:ext uri="{FF2B5EF4-FFF2-40B4-BE49-F238E27FC236}">
                        <a16:creationId xmlns="" xmlns:a16="http://schemas.microsoft.com/office/drawing/2014/main" id="{F185FEEE-4C38-4768-9CC2-7D0BE2FF6B49}"/>
                      </a:ext>
                    </a:extLst>
                  </p:cNvPr>
                  <p:cNvSpPr/>
                  <p:nvPr/>
                </p:nvSpPr>
                <p:spPr>
                  <a:xfrm>
                    <a:off x="2930487" y="4230055"/>
                    <a:ext cx="1405637" cy="305826"/>
                  </a:xfrm>
                  <a:prstGeom prst="rect">
                    <a:avLst/>
                  </a:prstGeom>
                  <a:solidFill>
                    <a:srgbClr val="929497"/>
                  </a:solidFill>
                  <a:ln w="9525" cap="flat" cmpd="sng" algn="ctr">
                    <a:noFill/>
                    <a:prstDash val="solid"/>
                  </a:ln>
                  <a:effectLst/>
                </p:spPr>
                <p:txBody>
                  <a:bodyPr rtlCol="0" anchor="ctr"/>
                  <a:lstStyle>
                    <a:defPPr>
                      <a:defRPr lang="pt-BR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marL="0" marR="0" lvl="0" indent="0" algn="ctr" defTabSz="1156716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pt-BR" sz="1400" b="0" i="0" u="none" strike="noStrike" kern="0" cap="none" spc="0" normalizeH="0" baseline="0" noProof="0" dirty="0">
                        <a:ln>
                          <a:noFill/>
                        </a:ln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rPr>
                      <a:t>FRONT END</a:t>
                    </a:r>
                  </a:p>
                </p:txBody>
              </p:sp>
              <p:sp>
                <p:nvSpPr>
                  <p:cNvPr id="108" name="Retângulo 107">
                    <a:extLst>
                      <a:ext uri="{FF2B5EF4-FFF2-40B4-BE49-F238E27FC236}">
                        <a16:creationId xmlns="" xmlns:a16="http://schemas.microsoft.com/office/drawing/2014/main" id="{3F54AE1F-2F08-406C-A5C4-5FEAB3A0846F}"/>
                      </a:ext>
                    </a:extLst>
                  </p:cNvPr>
                  <p:cNvSpPr/>
                  <p:nvPr/>
                </p:nvSpPr>
                <p:spPr>
                  <a:xfrm>
                    <a:off x="4373732" y="4227372"/>
                    <a:ext cx="1527065" cy="306079"/>
                  </a:xfrm>
                  <a:prstGeom prst="rect">
                    <a:avLst/>
                  </a:prstGeom>
                  <a:solidFill>
                    <a:srgbClr val="929497"/>
                  </a:solidFill>
                  <a:ln w="9525" cap="flat" cmpd="sng" algn="ctr">
                    <a:noFill/>
                    <a:prstDash val="solid"/>
                  </a:ln>
                  <a:effectLst/>
                </p:spPr>
                <p:txBody>
                  <a:bodyPr rtlCol="0" anchor="ctr"/>
                  <a:lstStyle>
                    <a:defPPr>
                      <a:defRPr lang="pt-BR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marL="0" marR="0" lvl="0" indent="0" algn="ctr" defTabSz="1156716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pt-BR" sz="1400" b="0" i="0" u="none" strike="noStrike" kern="0" cap="none" spc="0" normalizeH="0" baseline="0" noProof="0" dirty="0">
                        <a:ln>
                          <a:noFill/>
                        </a:ln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rPr>
                      <a:t>DASHBOARDS</a:t>
                    </a:r>
                  </a:p>
                </p:txBody>
              </p:sp>
            </p:grpSp>
          </p:grpSp>
        </p:grpSp>
      </p:grpSp>
      <p:cxnSp>
        <p:nvCxnSpPr>
          <p:cNvPr id="133" name="Conector reto 132">
            <a:extLst>
              <a:ext uri="{FF2B5EF4-FFF2-40B4-BE49-F238E27FC236}">
                <a16:creationId xmlns="" xmlns:a16="http://schemas.microsoft.com/office/drawing/2014/main" id="{242793D5-92D2-481E-B145-9C26CD1E989D}"/>
              </a:ext>
            </a:extLst>
          </p:cNvPr>
          <p:cNvCxnSpPr>
            <a:cxnSpLocks/>
          </p:cNvCxnSpPr>
          <p:nvPr/>
        </p:nvCxnSpPr>
        <p:spPr>
          <a:xfrm>
            <a:off x="427232" y="644291"/>
            <a:ext cx="11094208" cy="0"/>
          </a:xfrm>
          <a:prstGeom prst="line">
            <a:avLst/>
          </a:prstGeom>
          <a:solidFill>
            <a:srgbClr val="FF6600">
              <a:alpha val="42000"/>
            </a:srgbClr>
          </a:solidFill>
          <a:ln w="57150">
            <a:solidFill>
              <a:schemeClr val="accent5">
                <a:lumMod val="50000"/>
                <a:alpha val="42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35" name="Seta para a direita 9">
            <a:extLst>
              <a:ext uri="{FF2B5EF4-FFF2-40B4-BE49-F238E27FC236}">
                <a16:creationId xmlns="" xmlns:a16="http://schemas.microsoft.com/office/drawing/2014/main" id="{9E07A014-494E-4005-A637-6EC7DE20A93E}"/>
              </a:ext>
            </a:extLst>
          </p:cNvPr>
          <p:cNvSpPr/>
          <p:nvPr/>
        </p:nvSpPr>
        <p:spPr>
          <a:xfrm>
            <a:off x="6180603" y="3289774"/>
            <a:ext cx="630263" cy="574137"/>
          </a:xfrm>
          <a:prstGeom prst="rightArrow">
            <a:avLst/>
          </a:prstGeom>
          <a:solidFill>
            <a:schemeClr val="accent6">
              <a:lumMod val="75000"/>
            </a:schemeClr>
          </a:solidFill>
          <a:ln>
            <a:solidFill>
              <a:srgbClr val="293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pt-BR"/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006" y="671177"/>
            <a:ext cx="5811330" cy="5811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42361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14">
            <a:extLst>
              <a:ext uri="{FF2B5EF4-FFF2-40B4-BE49-F238E27FC236}">
                <a16:creationId xmlns="" xmlns:a16="http://schemas.microsoft.com/office/drawing/2014/main" id="{360FBCF4-B73A-4949-A121-8FE9C64F12FB}"/>
              </a:ext>
            </a:extLst>
          </p:cNvPr>
          <p:cNvSpPr/>
          <p:nvPr/>
        </p:nvSpPr>
        <p:spPr>
          <a:xfrm rot="20956176">
            <a:off x="-700419" y="-33825"/>
            <a:ext cx="1133938" cy="1133938"/>
          </a:xfrm>
          <a:prstGeom prst="ellipse">
            <a:avLst/>
          </a:prstGeom>
          <a:solidFill>
            <a:schemeClr val="accent5">
              <a:lumMod val="50000"/>
              <a:alpha val="4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117" name="CaixaDeTexto 116">
            <a:extLst>
              <a:ext uri="{FF2B5EF4-FFF2-40B4-BE49-F238E27FC236}">
                <a16:creationId xmlns="" xmlns:a16="http://schemas.microsoft.com/office/drawing/2014/main" id="{B030F568-FA64-4385-8036-158743849ED6}"/>
              </a:ext>
            </a:extLst>
          </p:cNvPr>
          <p:cNvSpPr txBox="1"/>
          <p:nvPr/>
        </p:nvSpPr>
        <p:spPr>
          <a:xfrm>
            <a:off x="511317" y="167641"/>
            <a:ext cx="74310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>
                <a:latin typeface="Arial Rounded MT Bold" panose="020F0704030504030204" pitchFamily="34" charset="0"/>
              </a:rPr>
              <a:t>GERENCIAMENTO DE PROCESSOS AUTOMÁTICOS</a:t>
            </a:r>
            <a:endParaRPr kumimoji="0" lang="pt-BR" sz="18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 Rounded MT Bold" panose="020F0704030504030204" pitchFamily="34" charset="0"/>
            </a:endParaRPr>
          </a:p>
        </p:txBody>
      </p:sp>
      <p:grpSp>
        <p:nvGrpSpPr>
          <p:cNvPr id="3" name="Agrupar 2">
            <a:extLst>
              <a:ext uri="{FF2B5EF4-FFF2-40B4-BE49-F238E27FC236}">
                <a16:creationId xmlns="" xmlns:a16="http://schemas.microsoft.com/office/drawing/2014/main" id="{D18CCBF8-EB9D-4C53-9E28-E883C3BE555A}"/>
              </a:ext>
            </a:extLst>
          </p:cNvPr>
          <p:cNvGrpSpPr/>
          <p:nvPr/>
        </p:nvGrpSpPr>
        <p:grpSpPr>
          <a:xfrm>
            <a:off x="627134" y="731826"/>
            <a:ext cx="10693248" cy="5393631"/>
            <a:chOff x="116146" y="1152046"/>
            <a:chExt cx="10693248" cy="5393631"/>
          </a:xfrm>
        </p:grpSpPr>
        <p:sp>
          <p:nvSpPr>
            <p:cNvPr id="127" name="Retângulo 126">
              <a:extLst>
                <a:ext uri="{FF2B5EF4-FFF2-40B4-BE49-F238E27FC236}">
                  <a16:creationId xmlns="" xmlns:a16="http://schemas.microsoft.com/office/drawing/2014/main" id="{B2E01B37-8FBC-419A-AE57-92090F7875B2}"/>
                </a:ext>
              </a:extLst>
            </p:cNvPr>
            <p:cNvSpPr/>
            <p:nvPr/>
          </p:nvSpPr>
          <p:spPr>
            <a:xfrm>
              <a:off x="8208012" y="1480084"/>
              <a:ext cx="2601382" cy="5052801"/>
            </a:xfrm>
            <a:prstGeom prst="rect">
              <a:avLst/>
            </a:prstGeom>
            <a:solidFill>
              <a:schemeClr val="accent5">
                <a:lumMod val="75000"/>
                <a:alpha val="46000"/>
              </a:schemeClr>
            </a:solidFill>
            <a:ln w="635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/>
              <a:endParaRPr lang="pt-BR">
                <a:solidFill>
                  <a:schemeClr val="tx1"/>
                </a:solidFill>
                <a:latin typeface="Calibri" panose="020F0502020204030204"/>
              </a:endParaRPr>
            </a:p>
          </p:txBody>
        </p:sp>
        <p:sp>
          <p:nvSpPr>
            <p:cNvPr id="125" name="Retângulo 124">
              <a:extLst>
                <a:ext uri="{FF2B5EF4-FFF2-40B4-BE49-F238E27FC236}">
                  <a16:creationId xmlns="" xmlns:a16="http://schemas.microsoft.com/office/drawing/2014/main" id="{1F6AC20E-DEC2-4189-B775-11295C924F7A}"/>
                </a:ext>
              </a:extLst>
            </p:cNvPr>
            <p:cNvSpPr/>
            <p:nvPr/>
          </p:nvSpPr>
          <p:spPr>
            <a:xfrm>
              <a:off x="5485677" y="1480084"/>
              <a:ext cx="2601382" cy="5052801"/>
            </a:xfrm>
            <a:prstGeom prst="rect">
              <a:avLst/>
            </a:prstGeom>
            <a:solidFill>
              <a:schemeClr val="accent5">
                <a:lumMod val="75000"/>
                <a:alpha val="46000"/>
              </a:schemeClr>
            </a:solidFill>
            <a:ln w="635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/>
              <a:endParaRPr lang="pt-BR">
                <a:solidFill>
                  <a:schemeClr val="tx1"/>
                </a:solidFill>
                <a:latin typeface="Calibri" panose="020F0502020204030204"/>
              </a:endParaRPr>
            </a:p>
          </p:txBody>
        </p:sp>
        <p:grpSp>
          <p:nvGrpSpPr>
            <p:cNvPr id="2" name="Agrupar 1">
              <a:extLst>
                <a:ext uri="{FF2B5EF4-FFF2-40B4-BE49-F238E27FC236}">
                  <a16:creationId xmlns="" xmlns:a16="http://schemas.microsoft.com/office/drawing/2014/main" id="{800E9BF9-C767-43DA-AF55-FC1E08B24DB1}"/>
                </a:ext>
              </a:extLst>
            </p:cNvPr>
            <p:cNvGrpSpPr/>
            <p:nvPr/>
          </p:nvGrpSpPr>
          <p:grpSpPr>
            <a:xfrm>
              <a:off x="116146" y="1152046"/>
              <a:ext cx="10457222" cy="5393631"/>
              <a:chOff x="116146" y="1152046"/>
              <a:chExt cx="10457222" cy="5393631"/>
            </a:xfrm>
          </p:grpSpPr>
          <p:sp>
            <p:nvSpPr>
              <p:cNvPr id="68" name="Retângulo 67">
                <a:extLst>
                  <a:ext uri="{FF2B5EF4-FFF2-40B4-BE49-F238E27FC236}">
                    <a16:creationId xmlns="" xmlns:a16="http://schemas.microsoft.com/office/drawing/2014/main" id="{E131178F-1A2D-4633-B558-808658EF02D9}"/>
                  </a:ext>
                </a:extLst>
              </p:cNvPr>
              <p:cNvSpPr/>
              <p:nvPr/>
            </p:nvSpPr>
            <p:spPr>
              <a:xfrm>
                <a:off x="116146" y="1492876"/>
                <a:ext cx="5234443" cy="5052801"/>
              </a:xfrm>
              <a:prstGeom prst="rect">
                <a:avLst/>
              </a:prstGeom>
              <a:solidFill>
                <a:schemeClr val="accent5">
                  <a:lumMod val="75000"/>
                  <a:alpha val="46000"/>
                </a:schemeClr>
              </a:solidFill>
              <a:ln w="6350">
                <a:solidFill>
                  <a:schemeClr val="tx1"/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9" name="Retângulo Arredondado 71">
                <a:extLst>
                  <a:ext uri="{FF2B5EF4-FFF2-40B4-BE49-F238E27FC236}">
                    <a16:creationId xmlns="" xmlns:a16="http://schemas.microsoft.com/office/drawing/2014/main" id="{31990FF7-A638-4E25-9CED-AADC9B48F2F6}"/>
                  </a:ext>
                </a:extLst>
              </p:cNvPr>
              <p:cNvSpPr/>
              <p:nvPr/>
            </p:nvSpPr>
            <p:spPr>
              <a:xfrm>
                <a:off x="3186923" y="2956988"/>
                <a:ext cx="1406737" cy="1250193"/>
              </a:xfrm>
              <a:prstGeom prst="roundRect">
                <a:avLst/>
              </a:prstGeom>
              <a:noFill/>
              <a:ln w="12700" cap="flat" cmpd="sng" algn="ctr">
                <a:solidFill>
                  <a:schemeClr val="tx1"/>
                </a:solidFill>
                <a:prstDash val="dash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18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70" name="Retângulo 69">
                <a:extLst>
                  <a:ext uri="{FF2B5EF4-FFF2-40B4-BE49-F238E27FC236}">
                    <a16:creationId xmlns="" xmlns:a16="http://schemas.microsoft.com/office/drawing/2014/main" id="{075DCC48-5318-4878-AC62-5FD7C1D79B8E}"/>
                  </a:ext>
                </a:extLst>
              </p:cNvPr>
              <p:cNvSpPr/>
              <p:nvPr/>
            </p:nvSpPr>
            <p:spPr>
              <a:xfrm>
                <a:off x="3186923" y="3087231"/>
                <a:ext cx="1448094" cy="101566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>
                  <a:spcBef>
                    <a:spcPct val="0"/>
                  </a:spcBef>
                  <a:defRPr/>
                </a:pPr>
                <a:r>
                  <a:rPr lang="pt-BR" sz="1200" kern="0" dirty="0">
                    <a:latin typeface="Calibri"/>
                  </a:rPr>
                  <a:t>Determina propensão de comportamento com geração de análises preditivas</a:t>
                </a:r>
              </a:p>
            </p:txBody>
          </p:sp>
          <p:pic>
            <p:nvPicPr>
              <p:cNvPr id="75" name="Imagem 74">
                <a:extLst>
                  <a:ext uri="{FF2B5EF4-FFF2-40B4-BE49-F238E27FC236}">
                    <a16:creationId xmlns="" xmlns:a16="http://schemas.microsoft.com/office/drawing/2014/main" id="{8A701177-D7B7-4AFB-BEAE-C9F0A9A4D4D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sharpenSoften amount="50000"/>
                        </a14:imgEffect>
                        <a14:imgEffect>
                          <a14:colorTemperature colorTemp="11200"/>
                        </a14:imgEffect>
                        <a14:imgEffect>
                          <a14:saturation sat="300000"/>
                        </a14:imgEffect>
                        <a14:imgEffect>
                          <a14:brightnessContrast bright="20000" contrast="-40000"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 flipH="1">
                <a:off x="500409" y="3607545"/>
                <a:ext cx="669359" cy="481449"/>
              </a:xfrm>
              <a:prstGeom prst="rect">
                <a:avLst/>
              </a:prstGeom>
              <a:solidFill>
                <a:schemeClr val="accent5">
                  <a:lumMod val="50000"/>
                  <a:alpha val="42000"/>
                </a:schemeClr>
              </a:solidFill>
              <a:ln>
                <a:noFill/>
              </a:ln>
            </p:spPr>
          </p:pic>
          <p:sp>
            <p:nvSpPr>
              <p:cNvPr id="79" name="Retângulo 78">
                <a:extLst>
                  <a:ext uri="{FF2B5EF4-FFF2-40B4-BE49-F238E27FC236}">
                    <a16:creationId xmlns="" xmlns:a16="http://schemas.microsoft.com/office/drawing/2014/main" id="{C5B1CAA1-6810-45B2-8F65-186E266EFD77}"/>
                  </a:ext>
                </a:extLst>
              </p:cNvPr>
              <p:cNvSpPr/>
              <p:nvPr/>
            </p:nvSpPr>
            <p:spPr>
              <a:xfrm>
                <a:off x="1226256" y="2665079"/>
                <a:ext cx="1737058" cy="73866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pt-BR" sz="1400" b="1" dirty="0"/>
                  <a:t>Controle e Monitoração do Ambiente</a:t>
                </a:r>
                <a:endParaRPr lang="pt-BR" sz="1400" dirty="0"/>
              </a:p>
            </p:txBody>
          </p:sp>
          <p:sp>
            <p:nvSpPr>
              <p:cNvPr id="80" name="Retângulo 79">
                <a:extLst>
                  <a:ext uri="{FF2B5EF4-FFF2-40B4-BE49-F238E27FC236}">
                    <a16:creationId xmlns="" xmlns:a16="http://schemas.microsoft.com/office/drawing/2014/main" id="{C49FDD18-BC39-4D58-9CB9-1EDE1778F30B}"/>
                  </a:ext>
                </a:extLst>
              </p:cNvPr>
              <p:cNvSpPr/>
              <p:nvPr/>
            </p:nvSpPr>
            <p:spPr>
              <a:xfrm>
                <a:off x="1212631" y="3586659"/>
                <a:ext cx="131708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pt-BR" sz="1400" b="1" dirty="0"/>
                  <a:t>Coleta de Informações</a:t>
                </a:r>
                <a:endParaRPr lang="pt-BR" sz="1400" dirty="0"/>
              </a:p>
            </p:txBody>
          </p:sp>
          <p:sp>
            <p:nvSpPr>
              <p:cNvPr id="81" name="Retângulo 80">
                <a:extLst>
                  <a:ext uri="{FF2B5EF4-FFF2-40B4-BE49-F238E27FC236}">
                    <a16:creationId xmlns="" xmlns:a16="http://schemas.microsoft.com/office/drawing/2014/main" id="{5FD84F6E-726B-4B1E-B252-ABDABFBB4E07}"/>
                  </a:ext>
                </a:extLst>
              </p:cNvPr>
              <p:cNvSpPr/>
              <p:nvPr/>
            </p:nvSpPr>
            <p:spPr>
              <a:xfrm>
                <a:off x="2559875" y="3121561"/>
                <a:ext cx="636713" cy="70788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pt-BR" sz="4000" b="1" dirty="0"/>
                  <a:t>+ </a:t>
                </a:r>
                <a:endParaRPr lang="pt-BR" sz="4000" dirty="0"/>
              </a:p>
            </p:txBody>
          </p:sp>
          <p:sp>
            <p:nvSpPr>
              <p:cNvPr id="84" name="CaixaDeTexto 83">
                <a:extLst>
                  <a:ext uri="{FF2B5EF4-FFF2-40B4-BE49-F238E27FC236}">
                    <a16:creationId xmlns="" xmlns:a16="http://schemas.microsoft.com/office/drawing/2014/main" id="{F58A8C19-A289-46B9-98DF-093895578321}"/>
                  </a:ext>
                </a:extLst>
              </p:cNvPr>
              <p:cNvSpPr txBox="1"/>
              <p:nvPr/>
            </p:nvSpPr>
            <p:spPr>
              <a:xfrm>
                <a:off x="301076" y="4960539"/>
                <a:ext cx="2975495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sz="1400" b="1" dirty="0"/>
                  <a:t>Captura + Incremento Dados  =</a:t>
                </a:r>
              </a:p>
            </p:txBody>
          </p:sp>
          <p:sp>
            <p:nvSpPr>
              <p:cNvPr id="85" name="CaixaDeTexto 84">
                <a:extLst>
                  <a:ext uri="{FF2B5EF4-FFF2-40B4-BE49-F238E27FC236}">
                    <a16:creationId xmlns="" xmlns:a16="http://schemas.microsoft.com/office/drawing/2014/main" id="{CCBDE988-7F3C-4590-A1C9-22C8ADBA337C}"/>
                  </a:ext>
                </a:extLst>
              </p:cNvPr>
              <p:cNvSpPr txBox="1"/>
              <p:nvPr/>
            </p:nvSpPr>
            <p:spPr>
              <a:xfrm>
                <a:off x="3151241" y="4960539"/>
                <a:ext cx="1790875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sz="1400" b="1" dirty="0"/>
                  <a:t>Melhoria Contínua</a:t>
                </a:r>
              </a:p>
            </p:txBody>
          </p:sp>
          <p:sp>
            <p:nvSpPr>
              <p:cNvPr id="87" name="Retângulo: Cantos Arredondados 86">
                <a:extLst>
                  <a:ext uri="{FF2B5EF4-FFF2-40B4-BE49-F238E27FC236}">
                    <a16:creationId xmlns="" xmlns:a16="http://schemas.microsoft.com/office/drawing/2014/main" id="{D983C797-EF4A-42A4-8E4E-61E96CC2E1CE}"/>
                  </a:ext>
                </a:extLst>
              </p:cNvPr>
              <p:cNvSpPr/>
              <p:nvPr/>
            </p:nvSpPr>
            <p:spPr>
              <a:xfrm>
                <a:off x="288764" y="2376106"/>
                <a:ext cx="4656356" cy="3416213"/>
              </a:xfrm>
              <a:prstGeom prst="round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1400" dirty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90" name="Agrupar 89">
                <a:extLst>
                  <a:ext uri="{FF2B5EF4-FFF2-40B4-BE49-F238E27FC236}">
                    <a16:creationId xmlns="" xmlns:a16="http://schemas.microsoft.com/office/drawing/2014/main" id="{9BF8F112-1739-4F01-A9A3-8B180BE8F12E}"/>
                  </a:ext>
                </a:extLst>
              </p:cNvPr>
              <p:cNvGrpSpPr/>
              <p:nvPr/>
            </p:nvGrpSpPr>
            <p:grpSpPr>
              <a:xfrm>
                <a:off x="2397248" y="1152046"/>
                <a:ext cx="638741" cy="638741"/>
                <a:chOff x="2451170" y="1973879"/>
                <a:chExt cx="638741" cy="638741"/>
              </a:xfrm>
            </p:grpSpPr>
            <p:sp>
              <p:nvSpPr>
                <p:cNvPr id="92" name="Elipse 91">
                  <a:extLst>
                    <a:ext uri="{FF2B5EF4-FFF2-40B4-BE49-F238E27FC236}">
                      <a16:creationId xmlns="" xmlns:a16="http://schemas.microsoft.com/office/drawing/2014/main" id="{C70BB892-68E3-42A5-9613-7176F70690EB}"/>
                    </a:ext>
                  </a:extLst>
                </p:cNvPr>
                <p:cNvSpPr/>
                <p:nvPr/>
              </p:nvSpPr>
              <p:spPr>
                <a:xfrm>
                  <a:off x="2451170" y="1973879"/>
                  <a:ext cx="638741" cy="638741"/>
                </a:xfrm>
                <a:prstGeom prst="ellipse">
                  <a:avLst/>
                </a:prstGeom>
                <a:solidFill>
                  <a:srgbClr val="F47A1F"/>
                </a:solidFill>
                <a:ln w="5715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200" b="0" i="0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95" name="Rectangle 7">
                  <a:extLst>
                    <a:ext uri="{FF2B5EF4-FFF2-40B4-BE49-F238E27FC236}">
                      <a16:creationId xmlns="" xmlns:a16="http://schemas.microsoft.com/office/drawing/2014/main" id="{B7B3E008-2849-4824-A30E-A7CC918DE9B2}"/>
                    </a:ext>
                  </a:extLst>
                </p:cNvPr>
                <p:cNvSpPr/>
                <p:nvPr/>
              </p:nvSpPr>
              <p:spPr>
                <a:xfrm>
                  <a:off x="2523842" y="2057056"/>
                  <a:ext cx="493394" cy="546625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8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pt-BR" sz="3600" b="1" i="0" u="none" strike="noStrike" kern="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latin typeface="Calibri"/>
                      <a:ea typeface="+mn-ea"/>
                      <a:cs typeface="+mn-cs"/>
                    </a:rPr>
                    <a:t>1</a:t>
                  </a:r>
                </a:p>
              </p:txBody>
            </p:sp>
          </p:grpSp>
          <p:sp>
            <p:nvSpPr>
              <p:cNvPr id="97" name="Rectangle 7">
                <a:extLst>
                  <a:ext uri="{FF2B5EF4-FFF2-40B4-BE49-F238E27FC236}">
                    <a16:creationId xmlns="" xmlns:a16="http://schemas.microsoft.com/office/drawing/2014/main" id="{897CCD70-8F48-4AFC-9E88-A4A1DBE9048E}"/>
                  </a:ext>
                </a:extLst>
              </p:cNvPr>
              <p:cNvSpPr/>
              <p:nvPr/>
            </p:nvSpPr>
            <p:spPr>
              <a:xfrm>
                <a:off x="1946726" y="1929689"/>
                <a:ext cx="1539782" cy="26468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R="0" lvl="0" indent="0" algn="ctr" fontAlgn="auto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pt-BR" sz="1400" b="1" dirty="0"/>
                  <a:t>INTELIGÊNCIA</a:t>
                </a:r>
              </a:p>
            </p:txBody>
          </p:sp>
          <p:grpSp>
            <p:nvGrpSpPr>
              <p:cNvPr id="98" name="Agrupar 97">
                <a:extLst>
                  <a:ext uri="{FF2B5EF4-FFF2-40B4-BE49-F238E27FC236}">
                    <a16:creationId xmlns="" xmlns:a16="http://schemas.microsoft.com/office/drawing/2014/main" id="{23486B6C-2062-4B44-BDA5-93303399F3EA}"/>
                  </a:ext>
                </a:extLst>
              </p:cNvPr>
              <p:cNvGrpSpPr/>
              <p:nvPr/>
            </p:nvGrpSpPr>
            <p:grpSpPr>
              <a:xfrm>
                <a:off x="6476415" y="1159646"/>
                <a:ext cx="638741" cy="638741"/>
                <a:chOff x="2346284" y="1973879"/>
                <a:chExt cx="638741" cy="638741"/>
              </a:xfrm>
            </p:grpSpPr>
            <p:sp>
              <p:nvSpPr>
                <p:cNvPr id="99" name="Elipse 98">
                  <a:extLst>
                    <a:ext uri="{FF2B5EF4-FFF2-40B4-BE49-F238E27FC236}">
                      <a16:creationId xmlns="" xmlns:a16="http://schemas.microsoft.com/office/drawing/2014/main" id="{D860D3AF-4C02-4693-879C-C44459121E39}"/>
                    </a:ext>
                  </a:extLst>
                </p:cNvPr>
                <p:cNvSpPr/>
                <p:nvPr/>
              </p:nvSpPr>
              <p:spPr>
                <a:xfrm>
                  <a:off x="2346284" y="1973879"/>
                  <a:ext cx="638741" cy="638741"/>
                </a:xfrm>
                <a:prstGeom prst="ellipse">
                  <a:avLst/>
                </a:prstGeom>
                <a:solidFill>
                  <a:srgbClr val="F47A1F"/>
                </a:solidFill>
                <a:ln w="5715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200" b="0" i="0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00" name="Rectangle 7">
                  <a:extLst>
                    <a:ext uri="{FF2B5EF4-FFF2-40B4-BE49-F238E27FC236}">
                      <a16:creationId xmlns="" xmlns:a16="http://schemas.microsoft.com/office/drawing/2014/main" id="{4D5389C5-4FAD-42BC-9BDC-E7C15C33C33C}"/>
                    </a:ext>
                  </a:extLst>
                </p:cNvPr>
                <p:cNvSpPr/>
                <p:nvPr/>
              </p:nvSpPr>
              <p:spPr>
                <a:xfrm>
                  <a:off x="2418956" y="2057056"/>
                  <a:ext cx="493394" cy="546625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8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pt-BR" sz="3600" b="1" i="0" u="none" strike="noStrike" kern="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latin typeface="Calibri"/>
                      <a:ea typeface="+mn-ea"/>
                      <a:cs typeface="+mn-cs"/>
                    </a:rPr>
                    <a:t>2</a:t>
                  </a:r>
                </a:p>
              </p:txBody>
            </p:sp>
          </p:grpSp>
          <p:sp>
            <p:nvSpPr>
              <p:cNvPr id="103" name="Rectangle 7">
                <a:extLst>
                  <a:ext uri="{FF2B5EF4-FFF2-40B4-BE49-F238E27FC236}">
                    <a16:creationId xmlns="" xmlns:a16="http://schemas.microsoft.com/office/drawing/2014/main" id="{AF197F66-DE6E-4727-8B65-D1A0413EECD3}"/>
                  </a:ext>
                </a:extLst>
              </p:cNvPr>
              <p:cNvSpPr/>
              <p:nvPr/>
            </p:nvSpPr>
            <p:spPr>
              <a:xfrm>
                <a:off x="6014012" y="1937787"/>
                <a:ext cx="1380796" cy="26468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>
                  <a:lnSpc>
                    <a:spcPct val="80000"/>
                  </a:lnSpc>
                  <a:defRPr/>
                </a:pPr>
                <a:r>
                  <a:rPr lang="pt-BR" sz="1400" b="1" dirty="0"/>
                  <a:t>AUTOMAÇÃO</a:t>
                </a:r>
                <a:endParaRPr lang="pt-BR" sz="1400" dirty="0"/>
              </a:p>
            </p:txBody>
          </p:sp>
          <p:grpSp>
            <p:nvGrpSpPr>
              <p:cNvPr id="104" name="Agrupar 103">
                <a:extLst>
                  <a:ext uri="{FF2B5EF4-FFF2-40B4-BE49-F238E27FC236}">
                    <a16:creationId xmlns="" xmlns:a16="http://schemas.microsoft.com/office/drawing/2014/main" id="{FCC051C1-F6DA-4ED7-A56B-7B603D22DDF0}"/>
                  </a:ext>
                </a:extLst>
              </p:cNvPr>
              <p:cNvGrpSpPr/>
              <p:nvPr/>
            </p:nvGrpSpPr>
            <p:grpSpPr>
              <a:xfrm>
                <a:off x="9137588" y="1159646"/>
                <a:ext cx="638741" cy="638741"/>
                <a:chOff x="1672588" y="1973879"/>
                <a:chExt cx="638741" cy="638741"/>
              </a:xfrm>
            </p:grpSpPr>
            <p:sp>
              <p:nvSpPr>
                <p:cNvPr id="105" name="Elipse 104">
                  <a:extLst>
                    <a:ext uri="{FF2B5EF4-FFF2-40B4-BE49-F238E27FC236}">
                      <a16:creationId xmlns="" xmlns:a16="http://schemas.microsoft.com/office/drawing/2014/main" id="{F6E93097-E48F-4FF0-8E8B-5BAEDD4E56FB}"/>
                    </a:ext>
                  </a:extLst>
                </p:cNvPr>
                <p:cNvSpPr/>
                <p:nvPr/>
              </p:nvSpPr>
              <p:spPr>
                <a:xfrm>
                  <a:off x="1672588" y="1973879"/>
                  <a:ext cx="638741" cy="638741"/>
                </a:xfrm>
                <a:prstGeom prst="ellipse">
                  <a:avLst/>
                </a:prstGeom>
                <a:solidFill>
                  <a:srgbClr val="F47A1F"/>
                </a:solidFill>
                <a:ln w="5715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200" b="0" i="0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09" name="Rectangle 7">
                  <a:extLst>
                    <a:ext uri="{FF2B5EF4-FFF2-40B4-BE49-F238E27FC236}">
                      <a16:creationId xmlns="" xmlns:a16="http://schemas.microsoft.com/office/drawing/2014/main" id="{8032E170-CA61-4F0E-8536-CD28051085D7}"/>
                    </a:ext>
                  </a:extLst>
                </p:cNvPr>
                <p:cNvSpPr/>
                <p:nvPr/>
              </p:nvSpPr>
              <p:spPr>
                <a:xfrm>
                  <a:off x="1745260" y="2057056"/>
                  <a:ext cx="493394" cy="546625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8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pt-BR" sz="3600" b="1" i="0" u="none" strike="noStrike" kern="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latin typeface="Calibri"/>
                      <a:ea typeface="+mn-ea"/>
                      <a:cs typeface="+mn-cs"/>
                    </a:rPr>
                    <a:t>3</a:t>
                  </a:r>
                </a:p>
              </p:txBody>
            </p:sp>
          </p:grpSp>
          <p:sp>
            <p:nvSpPr>
              <p:cNvPr id="110" name="Rectangle 7">
                <a:extLst>
                  <a:ext uri="{FF2B5EF4-FFF2-40B4-BE49-F238E27FC236}">
                    <a16:creationId xmlns="" xmlns:a16="http://schemas.microsoft.com/office/drawing/2014/main" id="{67D11D5C-D09D-4071-81E6-68BE2EF4EF12}"/>
                  </a:ext>
                </a:extLst>
              </p:cNvPr>
              <p:cNvSpPr/>
              <p:nvPr/>
            </p:nvSpPr>
            <p:spPr>
              <a:xfrm>
                <a:off x="8533487" y="1991397"/>
                <a:ext cx="2039881" cy="43704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R="0" lvl="0" indent="0" algn="ctr" fontAlgn="auto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pt-BR" sz="1400" b="1" dirty="0"/>
                  <a:t>AVALIAÇÃO E MELHORIA</a:t>
                </a:r>
              </a:p>
            </p:txBody>
          </p:sp>
          <p:sp>
            <p:nvSpPr>
              <p:cNvPr id="112" name="Retângulo 111">
                <a:extLst>
                  <a:ext uri="{FF2B5EF4-FFF2-40B4-BE49-F238E27FC236}">
                    <a16:creationId xmlns="" xmlns:a16="http://schemas.microsoft.com/office/drawing/2014/main" id="{D4ECE2E0-09FB-4E3E-B39A-C6490FB397C6}"/>
                  </a:ext>
                </a:extLst>
              </p:cNvPr>
              <p:cNvSpPr/>
              <p:nvPr/>
            </p:nvSpPr>
            <p:spPr>
              <a:xfrm>
                <a:off x="3200116" y="2433768"/>
                <a:ext cx="1289225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pt-BR" sz="1400" b="1" dirty="0"/>
                  <a:t>Data Science</a:t>
                </a:r>
                <a:endParaRPr lang="pt-BR" sz="1400" dirty="0"/>
              </a:p>
            </p:txBody>
          </p:sp>
          <p:sp>
            <p:nvSpPr>
              <p:cNvPr id="113" name="Retângulo 112">
                <a:extLst>
                  <a:ext uri="{FF2B5EF4-FFF2-40B4-BE49-F238E27FC236}">
                    <a16:creationId xmlns="" xmlns:a16="http://schemas.microsoft.com/office/drawing/2014/main" id="{06F2979A-1648-45C2-AB75-9787D9ED4B28}"/>
                  </a:ext>
                </a:extLst>
              </p:cNvPr>
              <p:cNvSpPr/>
              <p:nvPr/>
            </p:nvSpPr>
            <p:spPr>
              <a:xfrm>
                <a:off x="5867583" y="4048254"/>
                <a:ext cx="1648985" cy="13849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pt-BR" sz="1400" b="1" dirty="0"/>
                  <a:t>RPA</a:t>
                </a:r>
              </a:p>
              <a:p>
                <a:pPr algn="ctr"/>
                <a:endParaRPr lang="pt-BR" sz="1400" b="1" dirty="0"/>
              </a:p>
              <a:p>
                <a:pPr algn="ctr"/>
                <a:endParaRPr lang="pt-BR" sz="1400" b="1" dirty="0"/>
              </a:p>
              <a:p>
                <a:pPr algn="ctr"/>
                <a:endParaRPr lang="pt-BR" sz="1400" b="1" dirty="0"/>
              </a:p>
              <a:p>
                <a:pPr algn="ctr"/>
                <a:r>
                  <a:rPr lang="pt-BR" sz="1400" b="1" dirty="0"/>
                  <a:t>MACHINE LEARNING</a:t>
                </a:r>
              </a:p>
            </p:txBody>
          </p:sp>
          <p:sp>
            <p:nvSpPr>
              <p:cNvPr id="114" name="Retângulo 113">
                <a:extLst>
                  <a:ext uri="{FF2B5EF4-FFF2-40B4-BE49-F238E27FC236}">
                    <a16:creationId xmlns="" xmlns:a16="http://schemas.microsoft.com/office/drawing/2014/main" id="{F5D72791-2541-42FC-9F39-AAE33F2E8743}"/>
                  </a:ext>
                </a:extLst>
              </p:cNvPr>
              <p:cNvSpPr/>
              <p:nvPr/>
            </p:nvSpPr>
            <p:spPr>
              <a:xfrm>
                <a:off x="6442604" y="4272362"/>
                <a:ext cx="523947" cy="70788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pt-BR" sz="4000" b="1" dirty="0"/>
                  <a:t>+ </a:t>
                </a:r>
                <a:endParaRPr lang="pt-BR" sz="4000" dirty="0"/>
              </a:p>
            </p:txBody>
          </p:sp>
          <p:sp>
            <p:nvSpPr>
              <p:cNvPr id="116" name="Retângulo 115">
                <a:extLst>
                  <a:ext uri="{FF2B5EF4-FFF2-40B4-BE49-F238E27FC236}">
                    <a16:creationId xmlns="" xmlns:a16="http://schemas.microsoft.com/office/drawing/2014/main" id="{12DE341C-D53A-4CF4-A9A5-CA7CA1BA5319}"/>
                  </a:ext>
                </a:extLst>
              </p:cNvPr>
              <p:cNvSpPr/>
              <p:nvPr/>
            </p:nvSpPr>
            <p:spPr>
              <a:xfrm>
                <a:off x="8677648" y="4045542"/>
                <a:ext cx="1751558" cy="13849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pt-BR" sz="1400" b="1" dirty="0"/>
                  <a:t>DADOS ANALÍTICOS</a:t>
                </a:r>
              </a:p>
              <a:p>
                <a:pPr algn="ctr"/>
                <a:endParaRPr lang="pt-BR" sz="1400" b="1" dirty="0"/>
              </a:p>
              <a:p>
                <a:pPr algn="ctr"/>
                <a:endParaRPr lang="pt-BR" sz="1400" b="1" dirty="0"/>
              </a:p>
              <a:p>
                <a:pPr algn="ctr"/>
                <a:r>
                  <a:rPr lang="pt-BR" sz="1400" b="1" dirty="0"/>
                  <a:t>MELHORIA DE PROCESSOS</a:t>
                </a:r>
              </a:p>
            </p:txBody>
          </p:sp>
          <p:sp>
            <p:nvSpPr>
              <p:cNvPr id="118" name="Retângulo 117">
                <a:extLst>
                  <a:ext uri="{FF2B5EF4-FFF2-40B4-BE49-F238E27FC236}">
                    <a16:creationId xmlns="" xmlns:a16="http://schemas.microsoft.com/office/drawing/2014/main" id="{280A5BC3-B435-4DAE-B986-45FC1AA5EA16}"/>
                  </a:ext>
                </a:extLst>
              </p:cNvPr>
              <p:cNvSpPr/>
              <p:nvPr/>
            </p:nvSpPr>
            <p:spPr>
              <a:xfrm>
                <a:off x="9274337" y="4337311"/>
                <a:ext cx="636713" cy="70788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pt-BR" sz="4000" b="1" dirty="0"/>
                  <a:t>+ </a:t>
                </a:r>
                <a:endParaRPr lang="pt-BR" sz="4000" dirty="0"/>
              </a:p>
            </p:txBody>
          </p:sp>
        </p:grpSp>
        <p:sp>
          <p:nvSpPr>
            <p:cNvPr id="121" name="Triângulo isósceles 120">
              <a:extLst>
                <a:ext uri="{FF2B5EF4-FFF2-40B4-BE49-F238E27FC236}">
                  <a16:creationId xmlns="" xmlns:a16="http://schemas.microsoft.com/office/drawing/2014/main" id="{62AEE765-5567-4760-B165-09A8095AE4E0}"/>
                </a:ext>
              </a:extLst>
            </p:cNvPr>
            <p:cNvSpPr/>
            <p:nvPr/>
          </p:nvSpPr>
          <p:spPr>
            <a:xfrm rot="10800000">
              <a:off x="811312" y="4496917"/>
              <a:ext cx="1042517" cy="388675"/>
            </a:xfrm>
            <a:prstGeom prst="triangle">
              <a:avLst>
                <a:gd name="adj" fmla="val 48710"/>
              </a:avLst>
            </a:prstGeom>
            <a:solidFill>
              <a:schemeClr val="tx1"/>
            </a:solidFill>
            <a:ln>
              <a:solidFill>
                <a:srgbClr val="293E6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>
                <a:solidFill>
                  <a:schemeClr val="tx1"/>
                </a:solidFill>
              </a:endParaRPr>
            </a:p>
          </p:txBody>
        </p:sp>
        <p:sp>
          <p:nvSpPr>
            <p:cNvPr id="122" name="Triângulo isósceles 121">
              <a:extLst>
                <a:ext uri="{FF2B5EF4-FFF2-40B4-BE49-F238E27FC236}">
                  <a16:creationId xmlns="" xmlns:a16="http://schemas.microsoft.com/office/drawing/2014/main" id="{241C66A1-DE4D-4970-8E8E-37B889B930E4}"/>
                </a:ext>
              </a:extLst>
            </p:cNvPr>
            <p:cNvSpPr/>
            <p:nvPr/>
          </p:nvSpPr>
          <p:spPr>
            <a:xfrm rot="10800000">
              <a:off x="3354318" y="4476406"/>
              <a:ext cx="1042517" cy="388675"/>
            </a:xfrm>
            <a:prstGeom prst="triangle">
              <a:avLst>
                <a:gd name="adj" fmla="val 48710"/>
              </a:avLst>
            </a:prstGeom>
            <a:solidFill>
              <a:schemeClr val="tx1"/>
            </a:solidFill>
            <a:ln>
              <a:solidFill>
                <a:srgbClr val="293E6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43" name="Conector reto 42">
            <a:extLst>
              <a:ext uri="{FF2B5EF4-FFF2-40B4-BE49-F238E27FC236}">
                <a16:creationId xmlns="" xmlns:a16="http://schemas.microsoft.com/office/drawing/2014/main" id="{C2D80600-B3C6-4F24-9FE2-583618A5B3F9}"/>
              </a:ext>
            </a:extLst>
          </p:cNvPr>
          <p:cNvCxnSpPr>
            <a:cxnSpLocks/>
          </p:cNvCxnSpPr>
          <p:nvPr/>
        </p:nvCxnSpPr>
        <p:spPr>
          <a:xfrm>
            <a:off x="427232" y="644291"/>
            <a:ext cx="11094208" cy="0"/>
          </a:xfrm>
          <a:prstGeom prst="line">
            <a:avLst/>
          </a:prstGeom>
          <a:solidFill>
            <a:srgbClr val="FF6600">
              <a:alpha val="42000"/>
            </a:srgbClr>
          </a:solidFill>
          <a:ln w="57150">
            <a:solidFill>
              <a:schemeClr val="accent5">
                <a:lumMod val="50000"/>
                <a:alpha val="42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44" name="Elipse 43">
            <a:extLst>
              <a:ext uri="{FF2B5EF4-FFF2-40B4-BE49-F238E27FC236}">
                <a16:creationId xmlns="" xmlns:a16="http://schemas.microsoft.com/office/drawing/2014/main" id="{8DB233DE-933B-4122-AB97-7379855281AD}"/>
              </a:ext>
            </a:extLst>
          </p:cNvPr>
          <p:cNvSpPr/>
          <p:nvPr/>
        </p:nvSpPr>
        <p:spPr>
          <a:xfrm>
            <a:off x="931305" y="2310302"/>
            <a:ext cx="807773" cy="776125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pic>
        <p:nvPicPr>
          <p:cNvPr id="45" name="Imagen 217" descr="iconos-01-Blanco-35.png">
            <a:extLst>
              <a:ext uri="{FF2B5EF4-FFF2-40B4-BE49-F238E27FC236}">
                <a16:creationId xmlns="" xmlns:a16="http://schemas.microsoft.com/office/drawing/2014/main" id="{AC7F2E58-E667-4F98-8607-9A786779C2D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colorTemperature colorTemp="11200"/>
                    </a14:imgEffect>
                    <a14:imgEffect>
                      <a14:saturation sat="400000"/>
                    </a14:imgEffect>
                    <a14:imgEffect>
                      <a14:brightnessContrast bright="-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7621" y="2349258"/>
            <a:ext cx="669359" cy="6891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6" name="Imagem 45">
            <a:extLst>
              <a:ext uri="{FF2B5EF4-FFF2-40B4-BE49-F238E27FC236}">
                <a16:creationId xmlns="" xmlns:a16="http://schemas.microsoft.com/office/drawing/2014/main" id="{5ACFFB59-A0B5-4177-8BF6-4319EEC60D33}"/>
              </a:ext>
            </a:extLst>
          </p:cNvPr>
          <p:cNvPicPr>
            <a:picLocks noChangeAspect="1"/>
          </p:cNvPicPr>
          <p:nvPr/>
        </p:nvPicPr>
        <p:blipFill>
          <a:blip r:embed="rId7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0000" b="90000" l="10000" r="90000">
                        <a14:foregroundMark x1="61607" y1="46875" x2="61607" y2="46875"/>
                        <a14:foregroundMark x1="40625" y1="48214" x2="40625" y2="48214"/>
                        <a14:foregroundMark x1="42857" y1="58036" x2="42857" y2="58036"/>
                        <a14:foregroundMark x1="64732" y1="60714" x2="64732" y2="60714"/>
                        <a14:foregroundMark x1="50446" y1="50446" x2="50446" y2="50446"/>
                        <a14:foregroundMark x1="46429" y1="44643" x2="46429" y2="44643"/>
                        <a14:foregroundMark x1="46429" y1="43304" x2="46429" y2="43304"/>
                        <a14:foregroundMark x1="38839" y1="56696" x2="38839" y2="56696"/>
                        <a14:foregroundMark x1="35268" y1="61161" x2="36607" y2="61161"/>
                        <a14:foregroundMark x1="50893" y1="62500" x2="50893" y2="62500"/>
                        <a14:foregroundMark x1="48214" y1="69643" x2="48214" y2="69643"/>
                        <a14:foregroundMark x1="49554" y1="70536" x2="49554" y2="70536"/>
                        <a14:foregroundMark x1="61161" y1="64286" x2="61607" y2="62500"/>
                        <a14:foregroundMark x1="67411" y1="56696" x2="67411" y2="56696"/>
                        <a14:foregroundMark x1="67411" y1="51339" x2="67411" y2="51339"/>
                        <a14:foregroundMark x1="65625" y1="44196" x2="65625" y2="44196"/>
                        <a14:foregroundMark x1="53571" y1="53125" x2="53571" y2="53125"/>
                        <a14:foregroundMark x1="50446" y1="57143" x2="50446" y2="57143"/>
                        <a14:foregroundMark x1="48661" y1="57143" x2="48661" y2="57143"/>
                        <a14:foregroundMark x1="48661" y1="49554" x2="48661" y2="49554"/>
                        <a14:foregroundMark x1="34375" y1="44196" x2="34375" y2="44196"/>
                        <a14:foregroundMark x1="30357" y1="48661" x2="30357" y2="48661"/>
                        <a14:foregroundMark x1="30357" y1="51339" x2="30357" y2="53125"/>
                        <a14:foregroundMark x1="32143" y1="58036" x2="32143" y2="58036"/>
                        <a14:foregroundMark x1="32589" y1="59375" x2="32589" y2="59375"/>
                        <a14:foregroundMark x1="35714" y1="63839" x2="35268" y2="65179"/>
                        <a14:foregroundMark x1="33482" y1="65179" x2="33482" y2="65179"/>
                        <a14:foregroundMark x1="32143" y1="60268" x2="32143" y2="60268"/>
                        <a14:foregroundMark x1="33482" y1="43304" x2="33482" y2="43304"/>
                        <a14:foregroundMark x1="36607" y1="42411" x2="36607" y2="42411"/>
                        <a14:foregroundMark x1="40625" y1="42857" x2="48214" y2="42857"/>
                        <a14:foregroundMark x1="54464" y1="42857" x2="54464" y2="42857"/>
                        <a14:foregroundMark x1="57589" y1="42857" x2="61607" y2="42857"/>
                        <a14:foregroundMark x1="65625" y1="43304" x2="65625" y2="43304"/>
                        <a14:foregroundMark x1="66964" y1="45982" x2="67411" y2="48661"/>
                        <a14:foregroundMark x1="67411" y1="50893" x2="67411" y2="52232"/>
                        <a14:foregroundMark x1="50893" y1="30357" x2="50893" y2="30357"/>
                        <a14:foregroundMark x1="75446" y1="51786" x2="75446" y2="51786"/>
                      </a14:backgroundRemoval>
                    </a14:imgEffect>
                    <a14:imgEffect>
                      <a14:colorTemperature colorTemp="9834"/>
                    </a14:imgEffect>
                    <a14:imgEffect>
                      <a14:saturation sat="0"/>
                    </a14:imgEffect>
                    <a14:imgEffect>
                      <a14:brightnessContrast bright="-2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555145" y="2098211"/>
            <a:ext cx="1387199" cy="1335318"/>
          </a:xfrm>
          <a:prstGeom prst="rect">
            <a:avLst/>
          </a:prstGeom>
        </p:spPr>
      </p:pic>
      <p:pic>
        <p:nvPicPr>
          <p:cNvPr id="47" name="Picture 15">
            <a:extLst>
              <a:ext uri="{FF2B5EF4-FFF2-40B4-BE49-F238E27FC236}">
                <a16:creationId xmlns="" xmlns:a16="http://schemas.microsoft.com/office/drawing/2014/main" id="{B31F3C2E-AABA-408B-8D29-09F6029DE6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47742" y="2327370"/>
            <a:ext cx="965978" cy="877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8" name="Seta para a direita 9">
            <a:extLst>
              <a:ext uri="{FF2B5EF4-FFF2-40B4-BE49-F238E27FC236}">
                <a16:creationId xmlns="" xmlns:a16="http://schemas.microsoft.com/office/drawing/2014/main" id="{2846ADC1-81DE-4E55-B778-FCB7EC30D2DC}"/>
              </a:ext>
            </a:extLst>
          </p:cNvPr>
          <p:cNvSpPr/>
          <p:nvPr/>
        </p:nvSpPr>
        <p:spPr>
          <a:xfrm>
            <a:off x="5589691" y="2417344"/>
            <a:ext cx="638741" cy="2839599"/>
          </a:xfrm>
          <a:prstGeom prst="rightArrow">
            <a:avLst/>
          </a:prstGeom>
          <a:solidFill>
            <a:schemeClr val="accent6">
              <a:lumMod val="75000"/>
            </a:schemeClr>
          </a:solidFill>
          <a:ln>
            <a:solidFill>
              <a:srgbClr val="293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pt-BR"/>
          </a:p>
        </p:txBody>
      </p:sp>
      <p:sp>
        <p:nvSpPr>
          <p:cNvPr id="49" name="Seta para a direita 9">
            <a:extLst>
              <a:ext uri="{FF2B5EF4-FFF2-40B4-BE49-F238E27FC236}">
                <a16:creationId xmlns="" xmlns:a16="http://schemas.microsoft.com/office/drawing/2014/main" id="{E7A951CC-EC49-4F6B-9AB0-E0A03F540469}"/>
              </a:ext>
            </a:extLst>
          </p:cNvPr>
          <p:cNvSpPr/>
          <p:nvPr/>
        </p:nvSpPr>
        <p:spPr>
          <a:xfrm>
            <a:off x="8316819" y="2417343"/>
            <a:ext cx="638741" cy="2839599"/>
          </a:xfrm>
          <a:prstGeom prst="rightArrow">
            <a:avLst/>
          </a:prstGeom>
          <a:solidFill>
            <a:schemeClr val="accent6">
              <a:lumMod val="75000"/>
            </a:schemeClr>
          </a:solidFill>
          <a:ln>
            <a:solidFill>
              <a:srgbClr val="293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296782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="" xmlns:a16="http://schemas.microsoft.com/office/drawing/2014/main" id="{A78B53A9-9E6B-4CA2-8882-EE6B83347176}"/>
              </a:ext>
            </a:extLst>
          </p:cNvPr>
          <p:cNvSpPr txBox="1"/>
          <p:nvPr/>
        </p:nvSpPr>
        <p:spPr>
          <a:xfrm>
            <a:off x="511317" y="167641"/>
            <a:ext cx="74310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Rounded MT Bold" panose="020F0704030504030204" pitchFamily="34" charset="0"/>
                <a:ea typeface="+mn-ea"/>
                <a:cs typeface="+mn-cs"/>
              </a:rPr>
              <a:t>TOPOLOGIA</a:t>
            </a:r>
          </a:p>
        </p:txBody>
      </p:sp>
      <p:pic>
        <p:nvPicPr>
          <p:cNvPr id="15" name="Imagem 1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3495" y="763988"/>
            <a:ext cx="9132598" cy="5600717"/>
          </a:xfrm>
          <a:prstGeom prst="rect">
            <a:avLst/>
          </a:prstGeom>
        </p:spPr>
      </p:pic>
      <p:pic>
        <p:nvPicPr>
          <p:cNvPr id="16" name="Imagem 12">
            <a:extLst>
              <a:ext uri="{FF2B5EF4-FFF2-40B4-BE49-F238E27FC236}">
                <a16:creationId xmlns="" xmlns:a16="http://schemas.microsoft.com/office/drawing/2014/main" id="{6CDA2947-0E1D-4AE7-BC06-3507081209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3474" y="1332152"/>
            <a:ext cx="2691096" cy="779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77434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="" xmlns:a16="http://schemas.microsoft.com/office/drawing/2014/main" id="{A78B53A9-9E6B-4CA2-8882-EE6B83347176}"/>
              </a:ext>
            </a:extLst>
          </p:cNvPr>
          <p:cNvSpPr txBox="1"/>
          <p:nvPr/>
        </p:nvSpPr>
        <p:spPr>
          <a:xfrm>
            <a:off x="511317" y="167641"/>
            <a:ext cx="74310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Rounded MT Bold" panose="020F0704030504030204" pitchFamily="34" charset="0"/>
                <a:ea typeface="+mn-ea"/>
                <a:cs typeface="+mn-cs"/>
              </a:rPr>
              <a:t>Arquitetura Funcional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="" xmlns:a16="http://schemas.microsoft.com/office/drawing/2014/main" id="{8607E8BE-AD7D-4AA0-8D85-A757207978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694" y="1205877"/>
            <a:ext cx="1435238" cy="4599047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="" xmlns:a16="http://schemas.microsoft.com/office/drawing/2014/main" id="{BFEF2693-DF21-492C-B884-370AA8384F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51762" y="1208948"/>
            <a:ext cx="1152381" cy="3895048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="" xmlns:a16="http://schemas.microsoft.com/office/drawing/2014/main" id="{87EECBB9-9B8E-4BC2-94B3-5624810F502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65140" y="1230209"/>
            <a:ext cx="1571428" cy="1037143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="" xmlns:a16="http://schemas.microsoft.com/office/drawing/2014/main" id="{B0EB836D-5991-45FE-855B-8983E87589C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07550" y="3008314"/>
            <a:ext cx="1076190" cy="78095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="" xmlns:a16="http://schemas.microsoft.com/office/drawing/2014/main" id="{56B815B9-F40A-49FC-9F77-2D041F186FD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40918" y="3020346"/>
            <a:ext cx="1028571" cy="780952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="" xmlns:a16="http://schemas.microsoft.com/office/drawing/2014/main" id="{67346C57-4F75-4A1D-AC08-47A96F86C6E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29565" y="4355407"/>
            <a:ext cx="504762" cy="752381"/>
          </a:xfrm>
          <a:prstGeom prst="rect">
            <a:avLst/>
          </a:prstGeom>
        </p:spPr>
      </p:pic>
      <p:graphicFrame>
        <p:nvGraphicFramePr>
          <p:cNvPr id="11" name="Objeto 10">
            <a:extLst>
              <a:ext uri="{FF2B5EF4-FFF2-40B4-BE49-F238E27FC236}">
                <a16:creationId xmlns="" xmlns:a16="http://schemas.microsoft.com/office/drawing/2014/main" id="{AF126FC9-E99F-469A-987A-D155DB55EEA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199755" y="4428800"/>
          <a:ext cx="714375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6" name="Imagem de Bitmap" r:id="rId9" imgW="714240" imgH="685800" progId="Paint.Picture">
                  <p:embed/>
                </p:oleObj>
              </mc:Choice>
              <mc:Fallback>
                <p:oleObj name="Imagem de Bitmap" r:id="rId9" imgW="714240" imgH="685800" progId="Paint.Pictur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5199755" y="4428800"/>
                        <a:ext cx="714375" cy="685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to 11">
            <a:extLst>
              <a:ext uri="{FF2B5EF4-FFF2-40B4-BE49-F238E27FC236}">
                <a16:creationId xmlns="" xmlns:a16="http://schemas.microsoft.com/office/drawing/2014/main" id="{38E4F559-73A9-4B0B-98CA-9A0E11B197A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874112" y="4341280"/>
          <a:ext cx="1238250" cy="781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" name="Imagem de Bitmap" r:id="rId11" imgW="1238400" imgH="781200" progId="Paint.Picture">
                  <p:embed/>
                </p:oleObj>
              </mc:Choice>
              <mc:Fallback>
                <p:oleObj name="Imagem de Bitmap" r:id="rId11" imgW="1238400" imgH="781200" progId="Paint.Pictur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5874112" y="4341280"/>
                        <a:ext cx="1238250" cy="7810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to 12">
            <a:extLst>
              <a:ext uri="{FF2B5EF4-FFF2-40B4-BE49-F238E27FC236}">
                <a16:creationId xmlns="" xmlns:a16="http://schemas.microsoft.com/office/drawing/2014/main" id="{1080501A-7091-4ABB-899C-90B262ABB39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867279" y="1897070"/>
          <a:ext cx="1414463" cy="32375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8" name="Imagem de Bitmap" r:id="rId13" imgW="1285920" imgH="2943360" progId="Paint.Picture">
                  <p:embed/>
                </p:oleObj>
              </mc:Choice>
              <mc:Fallback>
                <p:oleObj name="Imagem de Bitmap" r:id="rId13" imgW="1285920" imgH="2943360" progId="Paint.Pictur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7867279" y="1897070"/>
                        <a:ext cx="1414463" cy="323754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to 13">
            <a:extLst>
              <a:ext uri="{FF2B5EF4-FFF2-40B4-BE49-F238E27FC236}">
                <a16:creationId xmlns="" xmlns:a16="http://schemas.microsoft.com/office/drawing/2014/main" id="{3D12A46A-36F9-48C1-96D2-536021169B1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939426" y="1515035"/>
          <a:ext cx="1288733" cy="41700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9" name="Imagem de Bitmap" r:id="rId15" imgW="1171440" imgH="3790800" progId="Paint.Picture">
                  <p:embed/>
                </p:oleObj>
              </mc:Choice>
              <mc:Fallback>
                <p:oleObj name="Imagem de Bitmap" r:id="rId15" imgW="1171440" imgH="3790800" progId="Paint.Pictur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9939426" y="1515035"/>
                        <a:ext cx="1288733" cy="417004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to 16">
            <a:extLst>
              <a:ext uri="{FF2B5EF4-FFF2-40B4-BE49-F238E27FC236}">
                <a16:creationId xmlns="" xmlns:a16="http://schemas.microsoft.com/office/drawing/2014/main" id="{5C8E81C0-B177-4A96-A52A-DBE93C36D5E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09616" y="5735203"/>
          <a:ext cx="1117950" cy="7030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0" name="Imagem de Bitmap" r:id="rId17" imgW="923760" imgH="581040" progId="Paint.Picture">
                  <p:embed/>
                </p:oleObj>
              </mc:Choice>
              <mc:Fallback>
                <p:oleObj name="Imagem de Bitmap" r:id="rId17" imgW="923760" imgH="581040" progId="Paint.Pictur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2709616" y="5735203"/>
                        <a:ext cx="1117950" cy="70304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8" name="Imagem 17">
            <a:extLst>
              <a:ext uri="{FF2B5EF4-FFF2-40B4-BE49-F238E27FC236}">
                <a16:creationId xmlns="" xmlns:a16="http://schemas.microsoft.com/office/drawing/2014/main" id="{2C96A112-E76B-4F2D-9EA2-EC85B65E0C57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081490" y="5657474"/>
            <a:ext cx="1686666" cy="764762"/>
          </a:xfrm>
          <a:prstGeom prst="rect">
            <a:avLst/>
          </a:prstGeom>
        </p:spPr>
      </p:pic>
      <p:sp>
        <p:nvSpPr>
          <p:cNvPr id="19" name="Retângulo 18">
            <a:extLst>
              <a:ext uri="{FF2B5EF4-FFF2-40B4-BE49-F238E27FC236}">
                <a16:creationId xmlns="" xmlns:a16="http://schemas.microsoft.com/office/drawing/2014/main" id="{B849D5CE-5B75-46CA-BA9C-261CFC8118F2}"/>
              </a:ext>
            </a:extLst>
          </p:cNvPr>
          <p:cNvSpPr/>
          <p:nvPr/>
        </p:nvSpPr>
        <p:spPr>
          <a:xfrm>
            <a:off x="133337" y="1166561"/>
            <a:ext cx="1533333" cy="4873294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0" name="Retângulo 19">
            <a:extLst>
              <a:ext uri="{FF2B5EF4-FFF2-40B4-BE49-F238E27FC236}">
                <a16:creationId xmlns="" xmlns:a16="http://schemas.microsoft.com/office/drawing/2014/main" id="{A1DB402D-AB90-45ED-9D2D-A9564C776C1F}"/>
              </a:ext>
            </a:extLst>
          </p:cNvPr>
          <p:cNvSpPr/>
          <p:nvPr/>
        </p:nvSpPr>
        <p:spPr>
          <a:xfrm>
            <a:off x="2295020" y="1177350"/>
            <a:ext cx="1510223" cy="3977657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1" name="Retângulo 20">
            <a:extLst>
              <a:ext uri="{FF2B5EF4-FFF2-40B4-BE49-F238E27FC236}">
                <a16:creationId xmlns="" xmlns:a16="http://schemas.microsoft.com/office/drawing/2014/main" id="{223EA623-CB2D-4F40-B7DB-BC29DC193D20}"/>
              </a:ext>
            </a:extLst>
          </p:cNvPr>
          <p:cNvSpPr/>
          <p:nvPr/>
        </p:nvSpPr>
        <p:spPr>
          <a:xfrm>
            <a:off x="7801486" y="1177350"/>
            <a:ext cx="1533333" cy="3977657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2" name="Retângulo 21">
            <a:extLst>
              <a:ext uri="{FF2B5EF4-FFF2-40B4-BE49-F238E27FC236}">
                <a16:creationId xmlns="" xmlns:a16="http://schemas.microsoft.com/office/drawing/2014/main" id="{953A6A37-3E96-4492-80AE-20D22065BF5A}"/>
              </a:ext>
            </a:extLst>
          </p:cNvPr>
          <p:cNvSpPr/>
          <p:nvPr/>
        </p:nvSpPr>
        <p:spPr>
          <a:xfrm>
            <a:off x="4346020" y="1166561"/>
            <a:ext cx="2876539" cy="1170232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3" name="Retângulo 22">
            <a:extLst>
              <a:ext uri="{FF2B5EF4-FFF2-40B4-BE49-F238E27FC236}">
                <a16:creationId xmlns="" xmlns:a16="http://schemas.microsoft.com/office/drawing/2014/main" id="{20F681F3-839D-4E73-955D-95D301FB79E6}"/>
              </a:ext>
            </a:extLst>
          </p:cNvPr>
          <p:cNvSpPr/>
          <p:nvPr/>
        </p:nvSpPr>
        <p:spPr>
          <a:xfrm>
            <a:off x="4342004" y="2620172"/>
            <a:ext cx="2876539" cy="1189739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4" name="Retângulo 23">
            <a:extLst>
              <a:ext uri="{FF2B5EF4-FFF2-40B4-BE49-F238E27FC236}">
                <a16:creationId xmlns="" xmlns:a16="http://schemas.microsoft.com/office/drawing/2014/main" id="{39DFD96E-534C-4D3D-BFBA-4D8B4CFDA5EC}"/>
              </a:ext>
            </a:extLst>
          </p:cNvPr>
          <p:cNvSpPr/>
          <p:nvPr/>
        </p:nvSpPr>
        <p:spPr>
          <a:xfrm>
            <a:off x="4342004" y="4028988"/>
            <a:ext cx="2876539" cy="1126019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5" name="Retângulo 24">
            <a:extLst>
              <a:ext uri="{FF2B5EF4-FFF2-40B4-BE49-F238E27FC236}">
                <a16:creationId xmlns="" xmlns:a16="http://schemas.microsoft.com/office/drawing/2014/main" id="{7D179819-2A07-4EB5-B5AB-4B5F17EA1865}"/>
              </a:ext>
            </a:extLst>
          </p:cNvPr>
          <p:cNvSpPr/>
          <p:nvPr/>
        </p:nvSpPr>
        <p:spPr>
          <a:xfrm>
            <a:off x="2295024" y="5529614"/>
            <a:ext cx="7039795" cy="1189739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6" name="Retângulo 25">
            <a:extLst>
              <a:ext uri="{FF2B5EF4-FFF2-40B4-BE49-F238E27FC236}">
                <a16:creationId xmlns="" xmlns:a16="http://schemas.microsoft.com/office/drawing/2014/main" id="{B9BEF234-45E8-4360-BAF6-D11E2F01BE73}"/>
              </a:ext>
            </a:extLst>
          </p:cNvPr>
          <p:cNvSpPr/>
          <p:nvPr/>
        </p:nvSpPr>
        <p:spPr>
          <a:xfrm>
            <a:off x="9826812" y="1177351"/>
            <a:ext cx="1801081" cy="4862504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7" name="CaixaDeTexto 26">
            <a:extLst>
              <a:ext uri="{FF2B5EF4-FFF2-40B4-BE49-F238E27FC236}">
                <a16:creationId xmlns="" xmlns:a16="http://schemas.microsoft.com/office/drawing/2014/main" id="{68BA6E56-6A57-4D83-82D5-ED783E407777}"/>
              </a:ext>
            </a:extLst>
          </p:cNvPr>
          <p:cNvSpPr txBox="1"/>
          <p:nvPr/>
        </p:nvSpPr>
        <p:spPr>
          <a:xfrm>
            <a:off x="7790141" y="1207358"/>
            <a:ext cx="154467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b="1" dirty="0"/>
              <a:t>Data </a:t>
            </a:r>
          </a:p>
          <a:p>
            <a:pPr algn="ctr"/>
            <a:r>
              <a:rPr lang="pt-BR" sz="1600" b="1" dirty="0" err="1"/>
              <a:t>Warehouse</a:t>
            </a:r>
            <a:endParaRPr lang="pt-BR" sz="1600" b="1" dirty="0"/>
          </a:p>
        </p:txBody>
      </p:sp>
      <p:sp>
        <p:nvSpPr>
          <p:cNvPr id="28" name="CaixaDeTexto 27">
            <a:extLst>
              <a:ext uri="{FF2B5EF4-FFF2-40B4-BE49-F238E27FC236}">
                <a16:creationId xmlns="" xmlns:a16="http://schemas.microsoft.com/office/drawing/2014/main" id="{C6B2B462-D9AB-402C-9A79-F4DE762A09A9}"/>
              </a:ext>
            </a:extLst>
          </p:cNvPr>
          <p:cNvSpPr txBox="1"/>
          <p:nvPr/>
        </p:nvSpPr>
        <p:spPr>
          <a:xfrm>
            <a:off x="9819475" y="1215374"/>
            <a:ext cx="228830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b="1" dirty="0"/>
              <a:t>Data </a:t>
            </a:r>
            <a:r>
              <a:rPr lang="pt-BR" sz="1600" b="1" dirty="0" err="1"/>
              <a:t>Consumers</a:t>
            </a:r>
            <a:endParaRPr lang="pt-BR" sz="1600" b="1" dirty="0"/>
          </a:p>
        </p:txBody>
      </p:sp>
      <p:sp>
        <p:nvSpPr>
          <p:cNvPr id="29" name="CaixaDeTexto 28">
            <a:extLst>
              <a:ext uri="{FF2B5EF4-FFF2-40B4-BE49-F238E27FC236}">
                <a16:creationId xmlns="" xmlns:a16="http://schemas.microsoft.com/office/drawing/2014/main" id="{F0BA451C-F3F3-4B9C-9E9B-D2C4673A4650}"/>
              </a:ext>
            </a:extLst>
          </p:cNvPr>
          <p:cNvSpPr txBox="1"/>
          <p:nvPr/>
        </p:nvSpPr>
        <p:spPr>
          <a:xfrm>
            <a:off x="5291591" y="2631093"/>
            <a:ext cx="131420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b="1" dirty="0"/>
              <a:t>Data </a:t>
            </a:r>
            <a:r>
              <a:rPr lang="pt-BR" sz="1600" b="1" dirty="0" err="1"/>
              <a:t>Lab</a:t>
            </a:r>
            <a:endParaRPr lang="pt-BR" sz="1600" b="1" dirty="0"/>
          </a:p>
        </p:txBody>
      </p:sp>
      <p:sp>
        <p:nvSpPr>
          <p:cNvPr id="30" name="CaixaDeTexto 29">
            <a:extLst>
              <a:ext uri="{FF2B5EF4-FFF2-40B4-BE49-F238E27FC236}">
                <a16:creationId xmlns="" xmlns:a16="http://schemas.microsoft.com/office/drawing/2014/main" id="{910EDCAF-FCBB-4888-AE4B-E80C202E4F17}"/>
              </a:ext>
            </a:extLst>
          </p:cNvPr>
          <p:cNvSpPr txBox="1"/>
          <p:nvPr/>
        </p:nvSpPr>
        <p:spPr>
          <a:xfrm>
            <a:off x="5191335" y="4058836"/>
            <a:ext cx="141446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b="1" dirty="0"/>
              <a:t>Batch </a:t>
            </a:r>
            <a:r>
              <a:rPr lang="pt-BR" sz="1600" b="1" dirty="0" err="1"/>
              <a:t>Layer</a:t>
            </a:r>
            <a:endParaRPr lang="pt-BR" sz="1600" b="1" dirty="0"/>
          </a:p>
        </p:txBody>
      </p:sp>
      <p:sp>
        <p:nvSpPr>
          <p:cNvPr id="31" name="CaixaDeTexto 30">
            <a:extLst>
              <a:ext uri="{FF2B5EF4-FFF2-40B4-BE49-F238E27FC236}">
                <a16:creationId xmlns="" xmlns:a16="http://schemas.microsoft.com/office/drawing/2014/main" id="{32E21CF5-AF75-495E-946F-D51331009620}"/>
              </a:ext>
            </a:extLst>
          </p:cNvPr>
          <p:cNvSpPr txBox="1"/>
          <p:nvPr/>
        </p:nvSpPr>
        <p:spPr>
          <a:xfrm>
            <a:off x="4701768" y="5558583"/>
            <a:ext cx="222630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b="1" dirty="0"/>
              <a:t>Data </a:t>
            </a:r>
            <a:r>
              <a:rPr lang="pt-BR" sz="1600" b="1" dirty="0" err="1"/>
              <a:t>Governance</a:t>
            </a:r>
            <a:endParaRPr lang="pt-BR" sz="1600" b="1" dirty="0"/>
          </a:p>
        </p:txBody>
      </p:sp>
      <p:sp>
        <p:nvSpPr>
          <p:cNvPr id="32" name="Seta: para a Direita 18">
            <a:extLst>
              <a:ext uri="{FF2B5EF4-FFF2-40B4-BE49-F238E27FC236}">
                <a16:creationId xmlns="" xmlns:a16="http://schemas.microsoft.com/office/drawing/2014/main" id="{629943D0-A271-4E25-BB89-0ECFA6107049}"/>
              </a:ext>
            </a:extLst>
          </p:cNvPr>
          <p:cNvSpPr/>
          <p:nvPr/>
        </p:nvSpPr>
        <p:spPr>
          <a:xfrm>
            <a:off x="3883087" y="1582957"/>
            <a:ext cx="404344" cy="343142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3" name="Seta: para a Direita 37">
            <a:extLst>
              <a:ext uri="{FF2B5EF4-FFF2-40B4-BE49-F238E27FC236}">
                <a16:creationId xmlns="" xmlns:a16="http://schemas.microsoft.com/office/drawing/2014/main" id="{9F72B8D8-F811-42D5-ADAC-7EFE1CBA2A69}"/>
              </a:ext>
            </a:extLst>
          </p:cNvPr>
          <p:cNvSpPr/>
          <p:nvPr/>
        </p:nvSpPr>
        <p:spPr>
          <a:xfrm>
            <a:off x="1800289" y="3085186"/>
            <a:ext cx="404344" cy="343142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4" name="Seta: para a Direita 38">
            <a:extLst>
              <a:ext uri="{FF2B5EF4-FFF2-40B4-BE49-F238E27FC236}">
                <a16:creationId xmlns="" xmlns:a16="http://schemas.microsoft.com/office/drawing/2014/main" id="{FA2C8AAD-4ACD-4D8E-82B9-A55B7CC6ED4D}"/>
              </a:ext>
            </a:extLst>
          </p:cNvPr>
          <p:cNvSpPr/>
          <p:nvPr/>
        </p:nvSpPr>
        <p:spPr>
          <a:xfrm>
            <a:off x="1814803" y="4376958"/>
            <a:ext cx="404344" cy="343142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5" name="Seta: para a Direita 39">
            <a:extLst>
              <a:ext uri="{FF2B5EF4-FFF2-40B4-BE49-F238E27FC236}">
                <a16:creationId xmlns="" xmlns:a16="http://schemas.microsoft.com/office/drawing/2014/main" id="{736FFDB9-5B04-474F-BF3A-D6DBC5A058C8}"/>
              </a:ext>
            </a:extLst>
          </p:cNvPr>
          <p:cNvSpPr/>
          <p:nvPr/>
        </p:nvSpPr>
        <p:spPr>
          <a:xfrm>
            <a:off x="1800289" y="1590214"/>
            <a:ext cx="404344" cy="343142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6" name="Seta: para a Direita 40">
            <a:extLst>
              <a:ext uri="{FF2B5EF4-FFF2-40B4-BE49-F238E27FC236}">
                <a16:creationId xmlns="" xmlns:a16="http://schemas.microsoft.com/office/drawing/2014/main" id="{83051D68-223E-403F-BEF4-71D52A6789A0}"/>
              </a:ext>
            </a:extLst>
          </p:cNvPr>
          <p:cNvSpPr/>
          <p:nvPr/>
        </p:nvSpPr>
        <p:spPr>
          <a:xfrm>
            <a:off x="3883090" y="4384216"/>
            <a:ext cx="404344" cy="343142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7" name="Seta: para a Direita 41">
            <a:extLst>
              <a:ext uri="{FF2B5EF4-FFF2-40B4-BE49-F238E27FC236}">
                <a16:creationId xmlns="" xmlns:a16="http://schemas.microsoft.com/office/drawing/2014/main" id="{82CFBC32-3DD2-46F6-A880-1990F5353BCB}"/>
              </a:ext>
            </a:extLst>
          </p:cNvPr>
          <p:cNvSpPr/>
          <p:nvPr/>
        </p:nvSpPr>
        <p:spPr>
          <a:xfrm>
            <a:off x="7337481" y="1582956"/>
            <a:ext cx="404344" cy="343142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8" name="Seta: para a Direita 42">
            <a:extLst>
              <a:ext uri="{FF2B5EF4-FFF2-40B4-BE49-F238E27FC236}">
                <a16:creationId xmlns="" xmlns:a16="http://schemas.microsoft.com/office/drawing/2014/main" id="{D6B8BB9D-D982-46B9-83A8-2FC9653D5A2B}"/>
              </a:ext>
            </a:extLst>
          </p:cNvPr>
          <p:cNvSpPr/>
          <p:nvPr/>
        </p:nvSpPr>
        <p:spPr>
          <a:xfrm>
            <a:off x="7330224" y="4391469"/>
            <a:ext cx="404344" cy="343142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9" name="Seta: para a Direita 43">
            <a:extLst>
              <a:ext uri="{FF2B5EF4-FFF2-40B4-BE49-F238E27FC236}">
                <a16:creationId xmlns="" xmlns:a16="http://schemas.microsoft.com/office/drawing/2014/main" id="{7DBDE073-C4D0-4856-83EE-C6A8C2B8BD2A}"/>
              </a:ext>
            </a:extLst>
          </p:cNvPr>
          <p:cNvSpPr/>
          <p:nvPr/>
        </p:nvSpPr>
        <p:spPr>
          <a:xfrm>
            <a:off x="9383997" y="4398729"/>
            <a:ext cx="404344" cy="343142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0" name="Seta: para a Direita 44">
            <a:extLst>
              <a:ext uri="{FF2B5EF4-FFF2-40B4-BE49-F238E27FC236}">
                <a16:creationId xmlns="" xmlns:a16="http://schemas.microsoft.com/office/drawing/2014/main" id="{88988D44-368F-497F-9D0D-90302A60C8AE}"/>
              </a:ext>
            </a:extLst>
          </p:cNvPr>
          <p:cNvSpPr/>
          <p:nvPr/>
        </p:nvSpPr>
        <p:spPr>
          <a:xfrm>
            <a:off x="9398508" y="1582956"/>
            <a:ext cx="404344" cy="343142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1" name="Seta: de Cima para Baixo 19">
            <a:extLst>
              <a:ext uri="{FF2B5EF4-FFF2-40B4-BE49-F238E27FC236}">
                <a16:creationId xmlns="" xmlns:a16="http://schemas.microsoft.com/office/drawing/2014/main" id="{072818D9-84CE-429B-8661-C18074ACD0CF}"/>
              </a:ext>
            </a:extLst>
          </p:cNvPr>
          <p:cNvSpPr/>
          <p:nvPr/>
        </p:nvSpPr>
        <p:spPr>
          <a:xfrm>
            <a:off x="2871794" y="5102700"/>
            <a:ext cx="292225" cy="461385"/>
          </a:xfrm>
          <a:prstGeom prst="upDownArrow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2" name="Seta: de Cima para Baixo 46">
            <a:extLst>
              <a:ext uri="{FF2B5EF4-FFF2-40B4-BE49-F238E27FC236}">
                <a16:creationId xmlns="" xmlns:a16="http://schemas.microsoft.com/office/drawing/2014/main" id="{B6509C24-A07B-4E37-879D-8968CB766F12}"/>
              </a:ext>
            </a:extLst>
          </p:cNvPr>
          <p:cNvSpPr/>
          <p:nvPr/>
        </p:nvSpPr>
        <p:spPr>
          <a:xfrm>
            <a:off x="5607743" y="5109960"/>
            <a:ext cx="292225" cy="461385"/>
          </a:xfrm>
          <a:prstGeom prst="upDownArrow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3" name="Seta: de Cima para Baixo 47">
            <a:extLst>
              <a:ext uri="{FF2B5EF4-FFF2-40B4-BE49-F238E27FC236}">
                <a16:creationId xmlns="" xmlns:a16="http://schemas.microsoft.com/office/drawing/2014/main" id="{68EFA02D-664E-42B3-AF21-7A56D2B8356D}"/>
              </a:ext>
            </a:extLst>
          </p:cNvPr>
          <p:cNvSpPr/>
          <p:nvPr/>
        </p:nvSpPr>
        <p:spPr>
          <a:xfrm>
            <a:off x="8416254" y="5102706"/>
            <a:ext cx="292225" cy="461385"/>
          </a:xfrm>
          <a:prstGeom prst="upDownArrow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4" name="Seta: de Cima para Baixo 48">
            <a:extLst>
              <a:ext uri="{FF2B5EF4-FFF2-40B4-BE49-F238E27FC236}">
                <a16:creationId xmlns="" xmlns:a16="http://schemas.microsoft.com/office/drawing/2014/main" id="{F70456BB-2A46-4B73-A730-B009AD8FCD3C}"/>
              </a:ext>
            </a:extLst>
          </p:cNvPr>
          <p:cNvSpPr/>
          <p:nvPr/>
        </p:nvSpPr>
        <p:spPr>
          <a:xfrm>
            <a:off x="5646802" y="3723160"/>
            <a:ext cx="199594" cy="346645"/>
          </a:xfrm>
          <a:prstGeom prst="upDownArrow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5" name="Seta: de Cima para Baixo 49">
            <a:extLst>
              <a:ext uri="{FF2B5EF4-FFF2-40B4-BE49-F238E27FC236}">
                <a16:creationId xmlns="" xmlns:a16="http://schemas.microsoft.com/office/drawing/2014/main" id="{D223347A-31B5-42F8-9068-0F072AB9E915}"/>
              </a:ext>
            </a:extLst>
          </p:cNvPr>
          <p:cNvSpPr/>
          <p:nvPr/>
        </p:nvSpPr>
        <p:spPr>
          <a:xfrm>
            <a:off x="5668576" y="2293506"/>
            <a:ext cx="199594" cy="346645"/>
          </a:xfrm>
          <a:prstGeom prst="upDownArrow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6" name="Seta: da Esquerda para a Direita 20">
            <a:extLst>
              <a:ext uri="{FF2B5EF4-FFF2-40B4-BE49-F238E27FC236}">
                <a16:creationId xmlns="" xmlns:a16="http://schemas.microsoft.com/office/drawing/2014/main" id="{A02AF09B-ECE3-496B-8729-10EEC983B33B}"/>
              </a:ext>
            </a:extLst>
          </p:cNvPr>
          <p:cNvSpPr/>
          <p:nvPr/>
        </p:nvSpPr>
        <p:spPr>
          <a:xfrm>
            <a:off x="7289688" y="3026406"/>
            <a:ext cx="412750" cy="269925"/>
          </a:xfrm>
          <a:prstGeom prst="leftRightArrow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638840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/>
      <p:bldP spid="28" grpId="0"/>
      <p:bldP spid="29" grpId="0"/>
      <p:bldP spid="30" grpId="0"/>
      <p:bldP spid="31" grpId="0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="" xmlns:a16="http://schemas.microsoft.com/office/drawing/2014/main" id="{A78B53A9-9E6B-4CA2-8882-EE6B83347176}"/>
              </a:ext>
            </a:extLst>
          </p:cNvPr>
          <p:cNvSpPr txBox="1"/>
          <p:nvPr/>
        </p:nvSpPr>
        <p:spPr>
          <a:xfrm>
            <a:off x="511317" y="167641"/>
            <a:ext cx="74310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Rounded MT Bold" panose="020F0704030504030204" pitchFamily="34" charset="0"/>
                <a:ea typeface="+mn-ea"/>
                <a:cs typeface="+mn-cs"/>
              </a:rPr>
              <a:t>O QUE VAMOS PRECISAR E PRÓXIMOS PASSOS</a:t>
            </a:r>
          </a:p>
        </p:txBody>
      </p:sp>
      <p:sp>
        <p:nvSpPr>
          <p:cNvPr id="3" name="Retângulo de cantos arredondados 88">
            <a:extLst>
              <a:ext uri="{FF2B5EF4-FFF2-40B4-BE49-F238E27FC236}">
                <a16:creationId xmlns="" xmlns:a16="http://schemas.microsoft.com/office/drawing/2014/main" id="{AF8BECDB-D2D4-4DC4-9097-8399B4FCC7DB}"/>
              </a:ext>
            </a:extLst>
          </p:cNvPr>
          <p:cNvSpPr/>
          <p:nvPr/>
        </p:nvSpPr>
        <p:spPr bwMode="auto">
          <a:xfrm>
            <a:off x="402831" y="1459813"/>
            <a:ext cx="6995269" cy="1999383"/>
          </a:xfrm>
          <a:prstGeom prst="roundRect">
            <a:avLst>
              <a:gd name="adj" fmla="val 7261"/>
            </a:avLst>
          </a:prstGeom>
          <a:noFill/>
          <a:ln w="25400" cap="flat" cmpd="sng" algn="ctr">
            <a:solidFill>
              <a:sysClr val="window" lastClr="FFFFFF">
                <a:lumMod val="85000"/>
              </a:sysClr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CaixaDeTexto 16">
            <a:extLst>
              <a:ext uri="{FF2B5EF4-FFF2-40B4-BE49-F238E27FC236}">
                <a16:creationId xmlns="" xmlns:a16="http://schemas.microsoft.com/office/drawing/2014/main" id="{AD05E29D-2475-41F0-9CD0-3F77F023FF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1317" y="1265214"/>
            <a:ext cx="5558244" cy="369332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b="1" kern="0" dirty="0">
                <a:latin typeface="Calibri"/>
                <a:ea typeface="Verdana" panose="020B0604030504040204" pitchFamily="34" charset="0"/>
                <a:cs typeface="Verdana" panose="020B0604030504040204" pitchFamily="34" charset="0"/>
              </a:rPr>
              <a:t>Assessment Detalhado Processos e Infraestrutura – </a:t>
            </a:r>
            <a:r>
              <a:rPr lang="pt-BR" b="1" i="1" kern="0" dirty="0">
                <a:latin typeface="Calibri"/>
                <a:ea typeface="Verdana" panose="020B0604030504040204" pitchFamily="34" charset="0"/>
                <a:cs typeface="Verdana" panose="020B0604030504040204" pitchFamily="34" charset="0"/>
              </a:rPr>
              <a:t>AS IS</a:t>
            </a:r>
            <a:endParaRPr kumimoji="0" lang="pt-BR" sz="1800" b="1" i="1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Calibri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="" xmlns:a16="http://schemas.microsoft.com/office/drawing/2014/main" id="{2605E82F-DA51-4812-8075-1A2B542CA302}"/>
              </a:ext>
            </a:extLst>
          </p:cNvPr>
          <p:cNvSpPr txBox="1"/>
          <p:nvPr/>
        </p:nvSpPr>
        <p:spPr>
          <a:xfrm>
            <a:off x="559306" y="1829145"/>
            <a:ext cx="699526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pt-BR" sz="1600" b="1" dirty="0"/>
              <a:t>Mapeamento dos processos alvo para automação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pt-BR" sz="1600" b="1" dirty="0"/>
              <a:t>Avaliação e adequação infraestrutura do restaurante/equipamentos para transferência de dados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pt-BR" sz="1600" b="1" dirty="0"/>
              <a:t>Acesso internet 24 horas para a unidade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pt-BR" sz="1600" b="1" dirty="0"/>
              <a:t>Conexão criptografada e segura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pt-BR" sz="1600" b="1" dirty="0"/>
              <a:t>Armazenamento temporário no Local</a:t>
            </a:r>
            <a:endParaRPr lang="pt-BR" sz="1400" dirty="0"/>
          </a:p>
        </p:txBody>
      </p:sp>
      <p:sp>
        <p:nvSpPr>
          <p:cNvPr id="8" name="Retângulo de cantos arredondados 88">
            <a:extLst>
              <a:ext uri="{FF2B5EF4-FFF2-40B4-BE49-F238E27FC236}">
                <a16:creationId xmlns="" xmlns:a16="http://schemas.microsoft.com/office/drawing/2014/main" id="{036C9697-8E9E-472B-803A-73CB779B2738}"/>
              </a:ext>
            </a:extLst>
          </p:cNvPr>
          <p:cNvSpPr/>
          <p:nvPr/>
        </p:nvSpPr>
        <p:spPr bwMode="auto">
          <a:xfrm>
            <a:off x="4384582" y="4123356"/>
            <a:ext cx="6995269" cy="1764701"/>
          </a:xfrm>
          <a:prstGeom prst="roundRect">
            <a:avLst>
              <a:gd name="adj" fmla="val 7261"/>
            </a:avLst>
          </a:prstGeom>
          <a:noFill/>
          <a:ln w="25400" cap="flat" cmpd="sng" algn="ctr">
            <a:solidFill>
              <a:sysClr val="window" lastClr="FFFFFF">
                <a:lumMod val="85000"/>
              </a:sysClr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CaixaDeTexto 16">
            <a:extLst>
              <a:ext uri="{FF2B5EF4-FFF2-40B4-BE49-F238E27FC236}">
                <a16:creationId xmlns="" xmlns:a16="http://schemas.microsoft.com/office/drawing/2014/main" id="{1D6CE5E7-4FBB-48C2-AB3F-9D17C4029B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93068" y="3928757"/>
            <a:ext cx="5558244" cy="369332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b="1" kern="0" dirty="0">
                <a:latin typeface="Calibri"/>
                <a:ea typeface="Verdana" panose="020B0604030504040204" pitchFamily="34" charset="0"/>
                <a:cs typeface="Verdana" panose="020B0604030504040204" pitchFamily="34" charset="0"/>
              </a:rPr>
              <a:t>Próximas Ações</a:t>
            </a:r>
            <a:endParaRPr kumimoji="0" lang="pt-BR" sz="1800" b="1" i="1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Calibri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0" name="CaixaDeTexto 9">
            <a:extLst>
              <a:ext uri="{FF2B5EF4-FFF2-40B4-BE49-F238E27FC236}">
                <a16:creationId xmlns="" xmlns:a16="http://schemas.microsoft.com/office/drawing/2014/main" id="{7FBAAA58-9579-4C5F-8A55-38E1760FC0F7}"/>
              </a:ext>
            </a:extLst>
          </p:cNvPr>
          <p:cNvSpPr txBox="1"/>
          <p:nvPr/>
        </p:nvSpPr>
        <p:spPr>
          <a:xfrm>
            <a:off x="4541056" y="4492688"/>
            <a:ext cx="6995269" cy="15388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pt-BR" sz="1600" b="1" dirty="0"/>
              <a:t>Determinar processo para prova de conceito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pt-BR" sz="1600" b="1" dirty="0"/>
              <a:t>Identificar oportunidades detalhadas e benefícios financeiros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pt-BR" sz="1600" b="1" dirty="0"/>
              <a:t>Apresentar proposta para contratação dos serviços e sustentação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pt-BR" sz="1600" dirty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pt-BR" sz="1400" dirty="0"/>
          </a:p>
        </p:txBody>
      </p:sp>
      <p:pic>
        <p:nvPicPr>
          <p:cNvPr id="12" name="Imagem 11">
            <a:extLst>
              <a:ext uri="{FF2B5EF4-FFF2-40B4-BE49-F238E27FC236}">
                <a16:creationId xmlns="" xmlns:a16="http://schemas.microsoft.com/office/drawing/2014/main" id="{E3105FAE-F8FB-4889-A1FE-C460D980CF17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9522028" y="1867903"/>
            <a:ext cx="1786827" cy="1733482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="" xmlns:a16="http://schemas.microsoft.com/office/drawing/2014/main" id="{F3AB7BD0-773C-4C13-B66A-4A648739352A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7631975" y="1048168"/>
            <a:ext cx="1786828" cy="1733483"/>
          </a:xfrm>
          <a:prstGeom prst="rect">
            <a:avLst/>
          </a:prstGeom>
        </p:spPr>
      </p:pic>
      <p:pic>
        <p:nvPicPr>
          <p:cNvPr id="14" name="Imagem 13">
            <a:extLst>
              <a:ext uri="{FF2B5EF4-FFF2-40B4-BE49-F238E27FC236}">
                <a16:creationId xmlns="" xmlns:a16="http://schemas.microsoft.com/office/drawing/2014/main" id="{B0A36FD0-A9FF-4EC2-97A3-919E5949B3AE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50406" y="3593846"/>
            <a:ext cx="1786827" cy="1733481"/>
          </a:xfrm>
          <a:prstGeom prst="rect">
            <a:avLst/>
          </a:prstGeom>
        </p:spPr>
      </p:pic>
      <p:pic>
        <p:nvPicPr>
          <p:cNvPr id="17" name="Imagem 16">
            <a:extLst>
              <a:ext uri="{FF2B5EF4-FFF2-40B4-BE49-F238E27FC236}">
                <a16:creationId xmlns="" xmlns:a16="http://schemas.microsoft.com/office/drawing/2014/main" id="{B929EFEA-14FF-4508-9129-62939D90B633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2397026" y="4495662"/>
            <a:ext cx="1786826" cy="1791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45117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="" xmlns:a16="http://schemas.microsoft.com/office/drawing/2014/main" id="{A78B53A9-9E6B-4CA2-8882-EE6B83347176}"/>
              </a:ext>
            </a:extLst>
          </p:cNvPr>
          <p:cNvSpPr txBox="1"/>
          <p:nvPr/>
        </p:nvSpPr>
        <p:spPr>
          <a:xfrm>
            <a:off x="511317" y="167641"/>
            <a:ext cx="74310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Rounded MT Bold" panose="020F0704030504030204" pitchFamily="34" charset="0"/>
                <a:ea typeface="+mn-ea"/>
                <a:cs typeface="+mn-cs"/>
              </a:rPr>
              <a:t>PRÓXIMOS PASSOS</a:t>
            </a:r>
          </a:p>
        </p:txBody>
      </p:sp>
      <p:pic>
        <p:nvPicPr>
          <p:cNvPr id="38" name="Imagem 37">
            <a:extLst>
              <a:ext uri="{FF2B5EF4-FFF2-40B4-BE49-F238E27FC236}">
                <a16:creationId xmlns="" xmlns:a16="http://schemas.microsoft.com/office/drawing/2014/main" id="{1F74FC21-F47E-479A-9DBC-88039620AB5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8824" y="1174221"/>
            <a:ext cx="3287689" cy="594535"/>
          </a:xfrm>
          <a:prstGeom prst="rect">
            <a:avLst/>
          </a:prstGeom>
        </p:spPr>
      </p:pic>
      <p:grpSp>
        <p:nvGrpSpPr>
          <p:cNvPr id="39" name="Grupo 34">
            <a:extLst>
              <a:ext uri="{FF2B5EF4-FFF2-40B4-BE49-F238E27FC236}">
                <a16:creationId xmlns="" xmlns:a16="http://schemas.microsoft.com/office/drawing/2014/main" id="{ACA59020-428C-4B76-AED3-76BE734DB2E5}"/>
              </a:ext>
            </a:extLst>
          </p:cNvPr>
          <p:cNvGrpSpPr/>
          <p:nvPr/>
        </p:nvGrpSpPr>
        <p:grpSpPr>
          <a:xfrm>
            <a:off x="39483" y="3019203"/>
            <a:ext cx="3037702" cy="3050983"/>
            <a:chOff x="5894701" y="1548293"/>
            <a:chExt cx="1752742" cy="2084342"/>
          </a:xfrm>
        </p:grpSpPr>
        <p:sp>
          <p:nvSpPr>
            <p:cNvPr id="40" name="Retângulo de cantos arredondados 84">
              <a:extLst>
                <a:ext uri="{FF2B5EF4-FFF2-40B4-BE49-F238E27FC236}">
                  <a16:creationId xmlns="" xmlns:a16="http://schemas.microsoft.com/office/drawing/2014/main" id="{0CBC0082-1121-4786-9EAB-2D3C9E39B938}"/>
                </a:ext>
              </a:extLst>
            </p:cNvPr>
            <p:cNvSpPr/>
            <p:nvPr/>
          </p:nvSpPr>
          <p:spPr bwMode="gray">
            <a:xfrm>
              <a:off x="5894701" y="1548293"/>
              <a:ext cx="1720647" cy="1874937"/>
            </a:xfrm>
            <a:prstGeom prst="roundRect">
              <a:avLst>
                <a:gd name="adj" fmla="val 6998"/>
              </a:avLst>
            </a:prstGeom>
            <a:solidFill>
              <a:srgbClr val="033F60">
                <a:alpha val="50196"/>
              </a:srgbClr>
            </a:solidFill>
            <a:ln w="12700">
              <a:noFill/>
            </a:ln>
          </p:spPr>
          <p:txBody>
            <a:bodyPr wrap="square" lIns="0" tIns="0" rIns="0" bIns="0" rtlCol="0" anchor="ctr" anchorCtr="0">
              <a:noAutofit/>
            </a:bodyPr>
            <a:lstStyle/>
            <a:p>
              <a:pPr marL="269075" indent="-132157" defTabSz="685783" fontAlgn="auto">
                <a:spcBef>
                  <a:spcPts val="450"/>
                </a:spcBef>
                <a:spcAft>
                  <a:spcPts val="0"/>
                </a:spcAft>
                <a:buFont typeface="Wingdings" pitchFamily="2" charset="2"/>
                <a:buChar char="ü"/>
                <a:defRPr/>
              </a:pPr>
              <a:endParaRPr lang="pt-BR" sz="900" b="1" kern="0" dirty="0">
                <a:solidFill>
                  <a:srgbClr val="4BACC6"/>
                </a:solidFill>
                <a:cs typeface="Arial" pitchFamily="34" charset="0"/>
              </a:endParaRPr>
            </a:p>
          </p:txBody>
        </p:sp>
        <p:sp>
          <p:nvSpPr>
            <p:cNvPr id="41" name="Retângulo 40">
              <a:extLst>
                <a:ext uri="{FF2B5EF4-FFF2-40B4-BE49-F238E27FC236}">
                  <a16:creationId xmlns="" xmlns:a16="http://schemas.microsoft.com/office/drawing/2014/main" id="{B78A2CDF-F317-4DED-9349-C35E363940E3}"/>
                </a:ext>
              </a:extLst>
            </p:cNvPr>
            <p:cNvSpPr/>
            <p:nvPr/>
          </p:nvSpPr>
          <p:spPr bwMode="gray">
            <a:xfrm>
              <a:off x="5905028" y="2055109"/>
              <a:ext cx="1742415" cy="1577526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 wrap="square" lIns="0" tIns="0" rIns="0" bIns="0" rtlCol="0" anchor="ctr">
              <a:noAutofit/>
            </a:bodyPr>
            <a:lstStyle/>
            <a:p>
              <a:pPr marL="171450" indent="-171450" eaLnBrk="0" hangingPunct="0">
                <a:buFont typeface="Arial" panose="020B0604020202020204" pitchFamily="34" charset="0"/>
                <a:buChar char="•"/>
              </a:pPr>
              <a:r>
                <a:rPr lang="pt-BR" sz="1500" b="1" dirty="0"/>
                <a:t>Fontes de Dados e suas estruturas</a:t>
              </a:r>
            </a:p>
            <a:p>
              <a:pPr marL="171450" indent="-171450" eaLnBrk="0" hangingPunct="0">
                <a:buFont typeface="Arial" panose="020B0604020202020204" pitchFamily="34" charset="0"/>
                <a:buChar char="•"/>
              </a:pPr>
              <a:r>
                <a:rPr lang="pt-BR" sz="1500" b="1" dirty="0"/>
                <a:t>Componentes de ingestão Batch / Online</a:t>
              </a:r>
            </a:p>
            <a:p>
              <a:pPr marL="171450" indent="-171450" eaLnBrk="0" hangingPunct="0">
                <a:buFont typeface="Arial" panose="020B0604020202020204" pitchFamily="34" charset="0"/>
                <a:buChar char="•"/>
              </a:pPr>
              <a:r>
                <a:rPr lang="pt-BR" sz="1500" b="1" dirty="0"/>
                <a:t>Data Lake</a:t>
              </a:r>
            </a:p>
            <a:p>
              <a:pPr marL="171450" indent="-171450" eaLnBrk="0" hangingPunct="0">
                <a:buFont typeface="Arial" panose="020B0604020202020204" pitchFamily="34" charset="0"/>
                <a:buChar char="•"/>
              </a:pPr>
              <a:r>
                <a:rPr lang="pt-BR" sz="1500" b="1" dirty="0"/>
                <a:t>Orquestrador / agendamento</a:t>
              </a:r>
            </a:p>
            <a:p>
              <a:pPr marL="171450" indent="-171450" eaLnBrk="0" hangingPunct="0">
                <a:buFont typeface="Arial" panose="020B0604020202020204" pitchFamily="34" charset="0"/>
                <a:buChar char="•"/>
              </a:pPr>
              <a:r>
                <a:rPr lang="pt-BR" sz="1500" b="1" dirty="0"/>
                <a:t>Monitoramento</a:t>
              </a:r>
            </a:p>
            <a:p>
              <a:pPr marL="171450" indent="-171450" eaLnBrk="0" hangingPunct="0">
                <a:buFont typeface="Arial" panose="020B0604020202020204" pitchFamily="34" charset="0"/>
                <a:buChar char="•"/>
              </a:pPr>
              <a:r>
                <a:rPr lang="pt-BR" sz="1500" b="1" dirty="0"/>
                <a:t>Segurança</a:t>
              </a:r>
            </a:p>
            <a:p>
              <a:pPr marL="171450" indent="-171450" eaLnBrk="0" hangingPunct="0">
                <a:buFont typeface="Arial" panose="020B0604020202020204" pitchFamily="34" charset="0"/>
                <a:buChar char="•"/>
              </a:pPr>
              <a:r>
                <a:rPr lang="pt-BR" sz="1500" b="1" dirty="0"/>
                <a:t>Governança / Data </a:t>
              </a:r>
              <a:r>
                <a:rPr lang="pt-BR" sz="1500" b="1" dirty="0" err="1"/>
                <a:t>lineage</a:t>
              </a:r>
              <a:endParaRPr lang="pt-BR" sz="1500" b="1" dirty="0"/>
            </a:p>
            <a:p>
              <a:pPr marL="171450" indent="-171450" eaLnBrk="0" hangingPunct="0">
                <a:buFont typeface="Arial" panose="020B0604020202020204" pitchFamily="34" charset="0"/>
                <a:buChar char="•"/>
              </a:pPr>
              <a:r>
                <a:rPr lang="pt-BR" sz="1500" b="1" dirty="0"/>
                <a:t>Arquitetura de referência</a:t>
              </a:r>
            </a:p>
            <a:p>
              <a:pPr marL="171450" indent="-171450" eaLnBrk="0" hangingPunct="0">
                <a:buFont typeface="Arial" panose="020B0604020202020204" pitchFamily="34" charset="0"/>
                <a:buChar char="•"/>
              </a:pPr>
              <a:r>
                <a:rPr lang="pt-BR" sz="1500" b="1" dirty="0"/>
                <a:t>Capacidade &amp; Performance</a:t>
              </a:r>
            </a:p>
            <a:p>
              <a:pPr marL="171450" indent="-171450" eaLnBrk="0" hangingPunct="0">
                <a:buFont typeface="Arial" panose="020B0604020202020204" pitchFamily="34" charset="0"/>
                <a:buChar char="•"/>
              </a:pPr>
              <a:r>
                <a:rPr lang="pt-BR" sz="1500" b="1" dirty="0"/>
                <a:t>Matriz de compatibilidade</a:t>
              </a:r>
            </a:p>
            <a:p>
              <a:pPr marL="171450" indent="-171450" eaLnBrk="0" hangingPunct="0">
                <a:buFont typeface="Arial" panose="020B0604020202020204" pitchFamily="34" charset="0"/>
                <a:buChar char="•"/>
              </a:pPr>
              <a:endParaRPr lang="pt-BR" sz="1500" b="1" dirty="0"/>
            </a:p>
            <a:p>
              <a:pPr marL="171450" indent="-171450" eaLnBrk="0" hangingPunct="0">
                <a:buFont typeface="Arial" panose="020B0604020202020204" pitchFamily="34" charset="0"/>
                <a:buChar char="•"/>
              </a:pPr>
              <a:endParaRPr lang="pt-BR" sz="1500" b="1" dirty="0">
                <a:solidFill>
                  <a:srgbClr val="033F60"/>
                </a:solidFill>
              </a:endParaRPr>
            </a:p>
            <a:p>
              <a:pPr marL="171450" indent="-171450" eaLnBrk="0" hangingPunct="0">
                <a:buFont typeface="Arial" panose="020B0604020202020204" pitchFamily="34" charset="0"/>
                <a:buChar char="•"/>
              </a:pPr>
              <a:endParaRPr lang="pt-BR" sz="1500" b="1" dirty="0">
                <a:solidFill>
                  <a:srgbClr val="033F60"/>
                </a:solidFill>
              </a:endParaRPr>
            </a:p>
            <a:p>
              <a:pPr marL="171450" indent="-171450" eaLnBrk="0" hangingPunct="0">
                <a:buFont typeface="Arial" panose="020B0604020202020204" pitchFamily="34" charset="0"/>
                <a:buChar char="•"/>
              </a:pPr>
              <a:endParaRPr lang="pt-BR" sz="1500" b="1" dirty="0">
                <a:solidFill>
                  <a:srgbClr val="033F60"/>
                </a:solidFill>
              </a:endParaRPr>
            </a:p>
          </p:txBody>
        </p:sp>
      </p:grpSp>
      <p:sp>
        <p:nvSpPr>
          <p:cNvPr id="42" name="Seta: Divisa 2">
            <a:extLst>
              <a:ext uri="{FF2B5EF4-FFF2-40B4-BE49-F238E27FC236}">
                <a16:creationId xmlns="" xmlns:a16="http://schemas.microsoft.com/office/drawing/2014/main" id="{F59EB8EB-F14F-4519-A3D5-6418FC84624B}"/>
              </a:ext>
            </a:extLst>
          </p:cNvPr>
          <p:cNvSpPr/>
          <p:nvPr/>
        </p:nvSpPr>
        <p:spPr>
          <a:xfrm>
            <a:off x="20723" y="1787862"/>
            <a:ext cx="3098241" cy="465991"/>
          </a:xfrm>
          <a:prstGeom prst="chevron">
            <a:avLst/>
          </a:prstGeom>
          <a:solidFill>
            <a:srgbClr val="005883"/>
          </a:solidFill>
          <a:ln w="28575" algn="ctr">
            <a:noFill/>
            <a:miter lim="800000"/>
            <a:headEnd/>
            <a:tailEnd/>
          </a:ln>
          <a:effectLst/>
        </p:spPr>
        <p:txBody>
          <a:bodyPr lIns="0" tIns="0" rIns="0" bIns="0"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b="1" dirty="0"/>
              <a:t>Arquitetura</a:t>
            </a:r>
          </a:p>
        </p:txBody>
      </p:sp>
      <p:sp>
        <p:nvSpPr>
          <p:cNvPr id="43" name="CaixaDeTexto 42">
            <a:extLst>
              <a:ext uri="{FF2B5EF4-FFF2-40B4-BE49-F238E27FC236}">
                <a16:creationId xmlns="" xmlns:a16="http://schemas.microsoft.com/office/drawing/2014/main" id="{E6DAC8B9-14DE-4778-BC0D-0554B2A85D70}"/>
              </a:ext>
            </a:extLst>
          </p:cNvPr>
          <p:cNvSpPr txBox="1"/>
          <p:nvPr/>
        </p:nvSpPr>
        <p:spPr>
          <a:xfrm>
            <a:off x="71589" y="2376688"/>
            <a:ext cx="2904512" cy="498655"/>
          </a:xfrm>
          <a:prstGeom prst="rect">
            <a:avLst/>
          </a:prstGeom>
          <a:solidFill>
            <a:srgbClr val="005883">
              <a:alpha val="50196"/>
            </a:srgbClr>
          </a:solidFill>
          <a:ln w="12700">
            <a:noFill/>
          </a:ln>
        </p:spPr>
        <p:txBody>
          <a:bodyPr wrap="square" lIns="0" tIns="0" rIns="0" bIns="0" rtlCol="0" anchor="ctr" anchorCtr="0">
            <a:noAutofit/>
          </a:bodyPr>
          <a:lstStyle>
            <a:defPPr>
              <a:defRPr lang="pt-BR"/>
            </a:defPPr>
            <a:lvl1pPr marL="269075" indent="-132157" defTabSz="685783" fontAlgn="auto">
              <a:spcBef>
                <a:spcPts val="450"/>
              </a:spcBef>
              <a:spcAft>
                <a:spcPts val="0"/>
              </a:spcAft>
              <a:buFont typeface="Wingdings" pitchFamily="2" charset="2"/>
              <a:buChar char="ü"/>
              <a:defRPr sz="900" b="1" kern="0">
                <a:solidFill>
                  <a:srgbClr val="4BACC6"/>
                </a:solidFill>
                <a:cs typeface="Arial" pitchFamily="34" charset="0"/>
              </a:defRPr>
            </a:lvl1pPr>
          </a:lstStyle>
          <a:p>
            <a:pPr marL="136918" indent="0" algn="ctr">
              <a:buNone/>
            </a:pPr>
            <a:r>
              <a:rPr lang="pt-BR" dirty="0"/>
              <a:t> </a:t>
            </a:r>
            <a:r>
              <a:rPr lang="pt-BR" sz="1600" dirty="0">
                <a:solidFill>
                  <a:schemeClr val="tx1"/>
                </a:solidFill>
              </a:rPr>
              <a:t>Definição dos Itens Abaixo</a:t>
            </a:r>
          </a:p>
        </p:txBody>
      </p:sp>
      <p:sp>
        <p:nvSpPr>
          <p:cNvPr id="44" name="CaixaDeTexto 43">
            <a:extLst>
              <a:ext uri="{FF2B5EF4-FFF2-40B4-BE49-F238E27FC236}">
                <a16:creationId xmlns="" xmlns:a16="http://schemas.microsoft.com/office/drawing/2014/main" id="{51F3121A-EB86-40B5-BC3A-241F9D0133C3}"/>
              </a:ext>
            </a:extLst>
          </p:cNvPr>
          <p:cNvSpPr txBox="1"/>
          <p:nvPr/>
        </p:nvSpPr>
        <p:spPr>
          <a:xfrm>
            <a:off x="144643" y="1275891"/>
            <a:ext cx="2898408" cy="31196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pt-BR" sz="2000" b="1" spc="300" dirty="0">
                <a:solidFill>
                  <a:schemeClr val="bg1"/>
                </a:solidFill>
              </a:rPr>
              <a:t>Fase</a:t>
            </a:r>
            <a:r>
              <a:rPr lang="pt-BR" sz="2000" b="1" dirty="0"/>
              <a:t> </a:t>
            </a:r>
            <a:r>
              <a:rPr lang="pt-BR" sz="2000" b="1" spc="300" dirty="0">
                <a:solidFill>
                  <a:schemeClr val="bg1"/>
                </a:solidFill>
              </a:rPr>
              <a:t>1</a:t>
            </a:r>
          </a:p>
        </p:txBody>
      </p:sp>
      <p:grpSp>
        <p:nvGrpSpPr>
          <p:cNvPr id="45" name="Grupo 34">
            <a:extLst>
              <a:ext uri="{FF2B5EF4-FFF2-40B4-BE49-F238E27FC236}">
                <a16:creationId xmlns="" xmlns:a16="http://schemas.microsoft.com/office/drawing/2014/main" id="{CE81DE21-A3A2-4089-88D6-1FBA01AF9DA4}"/>
              </a:ext>
            </a:extLst>
          </p:cNvPr>
          <p:cNvGrpSpPr/>
          <p:nvPr/>
        </p:nvGrpSpPr>
        <p:grpSpPr>
          <a:xfrm>
            <a:off x="3091497" y="3015197"/>
            <a:ext cx="3037702" cy="3056919"/>
            <a:chOff x="5894701" y="1548293"/>
            <a:chExt cx="1752742" cy="2088398"/>
          </a:xfrm>
        </p:grpSpPr>
        <p:sp>
          <p:nvSpPr>
            <p:cNvPr id="46" name="Retângulo de cantos arredondados 84">
              <a:extLst>
                <a:ext uri="{FF2B5EF4-FFF2-40B4-BE49-F238E27FC236}">
                  <a16:creationId xmlns="" xmlns:a16="http://schemas.microsoft.com/office/drawing/2014/main" id="{A985F3B4-C482-41AF-8074-155A986251E1}"/>
                </a:ext>
              </a:extLst>
            </p:cNvPr>
            <p:cNvSpPr/>
            <p:nvPr/>
          </p:nvSpPr>
          <p:spPr bwMode="gray">
            <a:xfrm>
              <a:off x="5894701" y="1548293"/>
              <a:ext cx="1720647" cy="1874937"/>
            </a:xfrm>
            <a:prstGeom prst="roundRect">
              <a:avLst>
                <a:gd name="adj" fmla="val 6998"/>
              </a:avLst>
            </a:prstGeom>
            <a:solidFill>
              <a:srgbClr val="033F60">
                <a:alpha val="50196"/>
              </a:srgbClr>
            </a:solidFill>
            <a:ln w="12700">
              <a:noFill/>
            </a:ln>
          </p:spPr>
          <p:txBody>
            <a:bodyPr wrap="square" lIns="0" tIns="0" rIns="0" bIns="0" rtlCol="0" anchor="ctr" anchorCtr="0">
              <a:noAutofit/>
            </a:bodyPr>
            <a:lstStyle/>
            <a:p>
              <a:pPr marL="269075" indent="-132157" defTabSz="685783" fontAlgn="auto">
                <a:spcBef>
                  <a:spcPts val="450"/>
                </a:spcBef>
                <a:spcAft>
                  <a:spcPts val="0"/>
                </a:spcAft>
                <a:buFont typeface="Wingdings" pitchFamily="2" charset="2"/>
                <a:buChar char="ü"/>
                <a:defRPr/>
              </a:pPr>
              <a:endParaRPr lang="pt-BR" sz="900" b="1" kern="0" dirty="0">
                <a:solidFill>
                  <a:srgbClr val="4BACC6"/>
                </a:solidFill>
                <a:cs typeface="Arial" pitchFamily="34" charset="0"/>
              </a:endParaRPr>
            </a:p>
          </p:txBody>
        </p:sp>
        <p:sp>
          <p:nvSpPr>
            <p:cNvPr id="47" name="Retângulo 46">
              <a:extLst>
                <a:ext uri="{FF2B5EF4-FFF2-40B4-BE49-F238E27FC236}">
                  <a16:creationId xmlns="" xmlns:a16="http://schemas.microsoft.com/office/drawing/2014/main" id="{448A6C87-2BFF-4AF9-8315-818F6E01ED43}"/>
                </a:ext>
              </a:extLst>
            </p:cNvPr>
            <p:cNvSpPr/>
            <p:nvPr/>
          </p:nvSpPr>
          <p:spPr bwMode="gray">
            <a:xfrm>
              <a:off x="5905028" y="2059165"/>
              <a:ext cx="1742415" cy="1577526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 wrap="square" lIns="0" tIns="0" rIns="0" bIns="0" rtlCol="0" anchor="ctr">
              <a:noAutofit/>
            </a:bodyPr>
            <a:lstStyle/>
            <a:p>
              <a:pPr marL="171450" indent="-171450" eaLnBrk="0" hangingPunct="0">
                <a:buFont typeface="Arial" panose="020B0604020202020204" pitchFamily="34" charset="0"/>
                <a:buChar char="•"/>
              </a:pPr>
              <a:r>
                <a:rPr lang="pt-BR" sz="1500" b="1" dirty="0"/>
                <a:t>Provisionamento do ambiente</a:t>
              </a:r>
            </a:p>
            <a:p>
              <a:pPr marL="171450" indent="-171450" eaLnBrk="0" hangingPunct="0">
                <a:buFont typeface="Arial" panose="020B0604020202020204" pitchFamily="34" charset="0"/>
                <a:buChar char="•"/>
              </a:pPr>
              <a:r>
                <a:rPr lang="pt-BR" sz="1500" b="1" dirty="0"/>
                <a:t>Setup dos componentes</a:t>
              </a:r>
            </a:p>
            <a:p>
              <a:pPr marL="171450" indent="-171450" eaLnBrk="0" hangingPunct="0">
                <a:buFont typeface="Arial" panose="020B0604020202020204" pitchFamily="34" charset="0"/>
                <a:buChar char="•"/>
              </a:pPr>
              <a:r>
                <a:rPr lang="pt-BR" sz="1500" b="1" dirty="0"/>
                <a:t>Implantação da segurança</a:t>
              </a:r>
            </a:p>
            <a:p>
              <a:pPr marL="171450" indent="-171450" eaLnBrk="0" hangingPunct="0">
                <a:buFont typeface="Arial" panose="020B0604020202020204" pitchFamily="34" charset="0"/>
                <a:buChar char="•"/>
              </a:pPr>
              <a:r>
                <a:rPr lang="pt-BR" sz="1500" b="1" dirty="0"/>
                <a:t>Implantação do monitoramento</a:t>
              </a:r>
            </a:p>
            <a:p>
              <a:pPr marL="171450" indent="-171450" eaLnBrk="0" hangingPunct="0">
                <a:buFont typeface="Arial" panose="020B0604020202020204" pitchFamily="34" charset="0"/>
                <a:buChar char="•"/>
              </a:pPr>
              <a:r>
                <a:rPr lang="pt-BR" sz="1500" b="1" dirty="0"/>
                <a:t>Implementação da estrutura do HDFS</a:t>
              </a:r>
            </a:p>
            <a:p>
              <a:pPr marL="171450" indent="-171450" eaLnBrk="0" hangingPunct="0">
                <a:buFont typeface="Arial" panose="020B0604020202020204" pitchFamily="34" charset="0"/>
                <a:buChar char="•"/>
              </a:pPr>
              <a:r>
                <a:rPr lang="pt-BR" sz="1500" b="1" dirty="0"/>
                <a:t>Implantação da Governança</a:t>
              </a:r>
            </a:p>
            <a:p>
              <a:pPr marL="171450" indent="-171450" eaLnBrk="0" hangingPunct="0">
                <a:buFont typeface="Arial" panose="020B0604020202020204" pitchFamily="34" charset="0"/>
                <a:buChar char="•"/>
              </a:pPr>
              <a:endParaRPr lang="pt-BR" sz="1500" b="1" dirty="0">
                <a:solidFill>
                  <a:srgbClr val="033F60"/>
                </a:solidFill>
              </a:endParaRPr>
            </a:p>
            <a:p>
              <a:pPr marL="171450" indent="-171450" eaLnBrk="0" hangingPunct="0">
                <a:buFont typeface="Arial" panose="020B0604020202020204" pitchFamily="34" charset="0"/>
                <a:buChar char="•"/>
              </a:pPr>
              <a:endParaRPr lang="pt-BR" sz="1500" b="1" dirty="0">
                <a:solidFill>
                  <a:srgbClr val="033F60"/>
                </a:solidFill>
              </a:endParaRPr>
            </a:p>
            <a:p>
              <a:pPr marL="171450" indent="-171450" eaLnBrk="0" hangingPunct="0">
                <a:buFont typeface="Arial" panose="020B0604020202020204" pitchFamily="34" charset="0"/>
                <a:buChar char="•"/>
              </a:pPr>
              <a:endParaRPr lang="pt-BR" sz="1500" b="1" dirty="0">
                <a:solidFill>
                  <a:srgbClr val="033F60"/>
                </a:solidFill>
              </a:endParaRPr>
            </a:p>
            <a:p>
              <a:pPr marL="171450" indent="-171450" eaLnBrk="0" hangingPunct="0">
                <a:buFont typeface="Arial" panose="020B0604020202020204" pitchFamily="34" charset="0"/>
                <a:buChar char="•"/>
              </a:pPr>
              <a:endParaRPr lang="pt-BR" sz="1500" b="1" dirty="0">
                <a:solidFill>
                  <a:srgbClr val="033F60"/>
                </a:solidFill>
              </a:endParaRPr>
            </a:p>
            <a:p>
              <a:pPr marL="171450" indent="-171450" eaLnBrk="0" hangingPunct="0">
                <a:buFont typeface="Arial" panose="020B0604020202020204" pitchFamily="34" charset="0"/>
                <a:buChar char="•"/>
              </a:pPr>
              <a:endParaRPr lang="pt-BR" sz="1500" b="1" dirty="0">
                <a:solidFill>
                  <a:srgbClr val="033F60"/>
                </a:solidFill>
              </a:endParaRPr>
            </a:p>
            <a:p>
              <a:pPr marL="171450" indent="-171450" eaLnBrk="0" hangingPunct="0">
                <a:buFont typeface="Arial" panose="020B0604020202020204" pitchFamily="34" charset="0"/>
                <a:buChar char="•"/>
              </a:pPr>
              <a:endParaRPr lang="pt-BR" sz="1500" b="1" dirty="0">
                <a:solidFill>
                  <a:srgbClr val="033F60"/>
                </a:solidFill>
              </a:endParaRPr>
            </a:p>
            <a:p>
              <a:pPr marL="171450" indent="-171450" eaLnBrk="0" hangingPunct="0">
                <a:buFont typeface="Arial" panose="020B0604020202020204" pitchFamily="34" charset="0"/>
                <a:buChar char="•"/>
              </a:pPr>
              <a:endParaRPr lang="pt-BR" sz="1500" b="1" dirty="0">
                <a:solidFill>
                  <a:srgbClr val="033F60"/>
                </a:solidFill>
              </a:endParaRPr>
            </a:p>
            <a:p>
              <a:pPr marL="171450" indent="-171450" eaLnBrk="0" hangingPunct="0">
                <a:buFont typeface="Arial" panose="020B0604020202020204" pitchFamily="34" charset="0"/>
                <a:buChar char="•"/>
              </a:pPr>
              <a:endParaRPr lang="pt-BR" sz="1500" b="1" dirty="0">
                <a:solidFill>
                  <a:srgbClr val="033F60"/>
                </a:solidFill>
              </a:endParaRPr>
            </a:p>
          </p:txBody>
        </p:sp>
      </p:grpSp>
      <p:sp>
        <p:nvSpPr>
          <p:cNvPr id="48" name="Seta: Divisa 110">
            <a:extLst>
              <a:ext uri="{FF2B5EF4-FFF2-40B4-BE49-F238E27FC236}">
                <a16:creationId xmlns="" xmlns:a16="http://schemas.microsoft.com/office/drawing/2014/main" id="{D66999E5-B055-470E-A104-32924984617F}"/>
              </a:ext>
            </a:extLst>
          </p:cNvPr>
          <p:cNvSpPr/>
          <p:nvPr/>
        </p:nvSpPr>
        <p:spPr>
          <a:xfrm>
            <a:off x="3091497" y="1783856"/>
            <a:ext cx="3079481" cy="465991"/>
          </a:xfrm>
          <a:prstGeom prst="chevron">
            <a:avLst/>
          </a:prstGeom>
          <a:solidFill>
            <a:srgbClr val="005883"/>
          </a:solidFill>
          <a:ln w="28575" algn="ctr">
            <a:noFill/>
            <a:miter lim="800000"/>
            <a:headEnd/>
            <a:tailEnd/>
          </a:ln>
          <a:effectLst/>
        </p:spPr>
        <p:txBody>
          <a:bodyPr lIns="0" tIns="0" rIns="0" bIns="0"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b="1" dirty="0"/>
              <a:t>Provisionamento e Setup</a:t>
            </a:r>
          </a:p>
        </p:txBody>
      </p:sp>
      <p:sp>
        <p:nvSpPr>
          <p:cNvPr id="49" name="CaixaDeTexto 48">
            <a:extLst>
              <a:ext uri="{FF2B5EF4-FFF2-40B4-BE49-F238E27FC236}">
                <a16:creationId xmlns="" xmlns:a16="http://schemas.microsoft.com/office/drawing/2014/main" id="{6373EEB4-FC77-4C79-AF29-BD4CA05C6E6B}"/>
              </a:ext>
            </a:extLst>
          </p:cNvPr>
          <p:cNvSpPr txBox="1"/>
          <p:nvPr/>
        </p:nvSpPr>
        <p:spPr>
          <a:xfrm>
            <a:off x="3111571" y="2372682"/>
            <a:ext cx="2904512" cy="498655"/>
          </a:xfrm>
          <a:prstGeom prst="rect">
            <a:avLst/>
          </a:prstGeom>
          <a:solidFill>
            <a:srgbClr val="005883">
              <a:alpha val="50196"/>
            </a:srgbClr>
          </a:solidFill>
          <a:ln w="12700">
            <a:noFill/>
          </a:ln>
        </p:spPr>
        <p:txBody>
          <a:bodyPr wrap="square" lIns="0" tIns="0" rIns="0" bIns="0" rtlCol="0" anchor="ctr" anchorCtr="0">
            <a:noAutofit/>
          </a:bodyPr>
          <a:lstStyle>
            <a:defPPr>
              <a:defRPr lang="pt-BR"/>
            </a:defPPr>
            <a:lvl1pPr marL="269075" indent="-132157" defTabSz="685783" fontAlgn="auto">
              <a:spcBef>
                <a:spcPts val="450"/>
              </a:spcBef>
              <a:spcAft>
                <a:spcPts val="0"/>
              </a:spcAft>
              <a:buFont typeface="Wingdings" pitchFamily="2" charset="2"/>
              <a:buChar char="ü"/>
              <a:defRPr sz="900" b="1" kern="0">
                <a:solidFill>
                  <a:srgbClr val="4BACC6"/>
                </a:solidFill>
                <a:cs typeface="Arial" pitchFamily="34" charset="0"/>
              </a:defRPr>
            </a:lvl1pPr>
          </a:lstStyle>
          <a:p>
            <a:pPr marL="136918" indent="0" algn="ctr">
              <a:buNone/>
            </a:pPr>
            <a:r>
              <a:rPr lang="pt-BR" dirty="0">
                <a:solidFill>
                  <a:schemeClr val="tx1"/>
                </a:solidFill>
              </a:rPr>
              <a:t> </a:t>
            </a:r>
            <a:r>
              <a:rPr lang="pt-BR" sz="1600" dirty="0">
                <a:solidFill>
                  <a:schemeClr val="tx1"/>
                </a:solidFill>
              </a:rPr>
              <a:t>Implantação do Big Data</a:t>
            </a:r>
          </a:p>
        </p:txBody>
      </p:sp>
      <p:grpSp>
        <p:nvGrpSpPr>
          <p:cNvPr id="50" name="Grupo 34">
            <a:extLst>
              <a:ext uri="{FF2B5EF4-FFF2-40B4-BE49-F238E27FC236}">
                <a16:creationId xmlns="" xmlns:a16="http://schemas.microsoft.com/office/drawing/2014/main" id="{E9A08E97-3586-4114-BD70-240AF305BA96}"/>
              </a:ext>
            </a:extLst>
          </p:cNvPr>
          <p:cNvGrpSpPr/>
          <p:nvPr/>
        </p:nvGrpSpPr>
        <p:grpSpPr>
          <a:xfrm>
            <a:off x="6111420" y="3015190"/>
            <a:ext cx="3037702" cy="2852378"/>
            <a:chOff x="5894701" y="1548293"/>
            <a:chExt cx="1752742" cy="1948661"/>
          </a:xfrm>
        </p:grpSpPr>
        <p:sp>
          <p:nvSpPr>
            <p:cNvPr id="51" name="Retângulo de cantos arredondados 84">
              <a:extLst>
                <a:ext uri="{FF2B5EF4-FFF2-40B4-BE49-F238E27FC236}">
                  <a16:creationId xmlns="" xmlns:a16="http://schemas.microsoft.com/office/drawing/2014/main" id="{B2C98D4F-DE5E-41E2-813A-A01D2F109B6C}"/>
                </a:ext>
              </a:extLst>
            </p:cNvPr>
            <p:cNvSpPr/>
            <p:nvPr/>
          </p:nvSpPr>
          <p:spPr bwMode="gray">
            <a:xfrm>
              <a:off x="5894701" y="1548293"/>
              <a:ext cx="1720647" cy="1874937"/>
            </a:xfrm>
            <a:prstGeom prst="roundRect">
              <a:avLst>
                <a:gd name="adj" fmla="val 6998"/>
              </a:avLst>
            </a:prstGeom>
            <a:solidFill>
              <a:srgbClr val="033F60">
                <a:alpha val="50196"/>
              </a:srgbClr>
            </a:solidFill>
            <a:ln w="12700">
              <a:noFill/>
            </a:ln>
          </p:spPr>
          <p:txBody>
            <a:bodyPr wrap="square" lIns="0" tIns="0" rIns="0" bIns="0" rtlCol="0" anchor="ctr" anchorCtr="0">
              <a:noAutofit/>
            </a:bodyPr>
            <a:lstStyle/>
            <a:p>
              <a:pPr marL="269075" indent="-132157" defTabSz="685783" fontAlgn="auto">
                <a:spcBef>
                  <a:spcPts val="450"/>
                </a:spcBef>
                <a:spcAft>
                  <a:spcPts val="0"/>
                </a:spcAft>
                <a:buFont typeface="Wingdings" pitchFamily="2" charset="2"/>
                <a:buChar char="ü"/>
                <a:defRPr/>
              </a:pPr>
              <a:endParaRPr lang="pt-BR" sz="900" b="1" kern="0" dirty="0">
                <a:solidFill>
                  <a:srgbClr val="4BACC6"/>
                </a:solidFill>
                <a:cs typeface="Arial" pitchFamily="34" charset="0"/>
              </a:endParaRPr>
            </a:p>
          </p:txBody>
        </p:sp>
        <p:sp>
          <p:nvSpPr>
            <p:cNvPr id="52" name="Retângulo 51">
              <a:extLst>
                <a:ext uri="{FF2B5EF4-FFF2-40B4-BE49-F238E27FC236}">
                  <a16:creationId xmlns="" xmlns:a16="http://schemas.microsoft.com/office/drawing/2014/main" id="{0ED1DF31-61CA-4593-AABC-663C89FFBBD5}"/>
                </a:ext>
              </a:extLst>
            </p:cNvPr>
            <p:cNvSpPr/>
            <p:nvPr/>
          </p:nvSpPr>
          <p:spPr bwMode="gray">
            <a:xfrm>
              <a:off x="5905028" y="1919428"/>
              <a:ext cx="1742415" cy="1577526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 wrap="square" lIns="0" tIns="0" rIns="0" bIns="0" rtlCol="0" anchor="ctr">
              <a:noAutofit/>
            </a:bodyPr>
            <a:lstStyle/>
            <a:p>
              <a:pPr marL="171450" indent="-171450" eaLnBrk="0" hangingPunct="0">
                <a:buFont typeface="Arial" panose="020B0604020202020204" pitchFamily="34" charset="0"/>
                <a:buChar char="•"/>
              </a:pPr>
              <a:r>
                <a:rPr lang="pt-BR" sz="1500" b="1" dirty="0"/>
                <a:t>Setup do ETL para Big Data</a:t>
              </a:r>
            </a:p>
            <a:p>
              <a:pPr marL="171450" indent="-171450" eaLnBrk="0" hangingPunct="0">
                <a:buFont typeface="Arial" panose="020B0604020202020204" pitchFamily="34" charset="0"/>
                <a:buChar char="•"/>
              </a:pPr>
              <a:r>
                <a:rPr lang="pt-BR" sz="1500" b="1" dirty="0"/>
                <a:t>Setup do Golden Gate</a:t>
              </a:r>
            </a:p>
            <a:p>
              <a:pPr marL="171450" indent="-171450" eaLnBrk="0" hangingPunct="0">
                <a:buFont typeface="Arial" panose="020B0604020202020204" pitchFamily="34" charset="0"/>
                <a:buChar char="•"/>
              </a:pPr>
              <a:r>
                <a:rPr lang="pt-BR" sz="1500" b="1" dirty="0"/>
                <a:t>Setup do </a:t>
              </a:r>
              <a:r>
                <a:rPr lang="pt-BR" sz="1500" b="1" dirty="0" err="1"/>
                <a:t>Sream</a:t>
              </a:r>
              <a:r>
                <a:rPr lang="pt-BR" sz="1500" b="1" dirty="0"/>
                <a:t> KAFKA / </a:t>
              </a:r>
              <a:r>
                <a:rPr lang="pt-BR" sz="1500" b="1" dirty="0" err="1"/>
                <a:t>Flume</a:t>
              </a:r>
              <a:endParaRPr lang="pt-BR" sz="1500" b="1" dirty="0"/>
            </a:p>
            <a:p>
              <a:pPr marL="171450" indent="-171450" eaLnBrk="0" hangingPunct="0">
                <a:buFont typeface="Arial" panose="020B0604020202020204" pitchFamily="34" charset="0"/>
                <a:buChar char="•"/>
              </a:pPr>
              <a:r>
                <a:rPr lang="pt-BR" sz="1500" b="1" dirty="0"/>
                <a:t> Setup dos </a:t>
              </a:r>
              <a:r>
                <a:rPr lang="pt-BR" sz="1500" b="1" dirty="0" err="1"/>
                <a:t>consumers</a:t>
              </a:r>
              <a:endParaRPr lang="pt-BR" sz="1500" b="1" dirty="0"/>
            </a:p>
            <a:p>
              <a:pPr marL="171450" indent="-171450" eaLnBrk="0" hangingPunct="0">
                <a:buFont typeface="Arial" panose="020B0604020202020204" pitchFamily="34" charset="0"/>
                <a:buChar char="•"/>
              </a:pPr>
              <a:r>
                <a:rPr lang="pt-BR" sz="1500" b="1" dirty="0"/>
                <a:t>Setup do </a:t>
              </a:r>
              <a:r>
                <a:rPr lang="pt-BR" sz="1500" b="1" dirty="0" err="1"/>
                <a:t>sqoop</a:t>
              </a:r>
              <a:endParaRPr lang="pt-BR" sz="1500" b="1" dirty="0"/>
            </a:p>
            <a:p>
              <a:pPr marL="171450" indent="-171450" eaLnBrk="0" hangingPunct="0">
                <a:buFont typeface="Arial" panose="020B0604020202020204" pitchFamily="34" charset="0"/>
                <a:buChar char="•"/>
              </a:pPr>
              <a:r>
                <a:rPr lang="pt-BR" sz="1500" b="1" dirty="0"/>
                <a:t>Exemplo de cada tipo</a:t>
              </a:r>
            </a:p>
            <a:p>
              <a:pPr marL="171450" indent="-171450" eaLnBrk="0" hangingPunct="0">
                <a:buFont typeface="Arial" panose="020B0604020202020204" pitchFamily="34" charset="0"/>
                <a:buChar char="•"/>
              </a:pPr>
              <a:endParaRPr lang="pt-BR" sz="1500" b="1" dirty="0">
                <a:solidFill>
                  <a:srgbClr val="033F60"/>
                </a:solidFill>
              </a:endParaRPr>
            </a:p>
            <a:p>
              <a:pPr marL="171450" indent="-171450" eaLnBrk="0" hangingPunct="0">
                <a:buFont typeface="Arial" panose="020B0604020202020204" pitchFamily="34" charset="0"/>
                <a:buChar char="•"/>
              </a:pPr>
              <a:endParaRPr lang="pt-BR" sz="1500" b="1" dirty="0">
                <a:solidFill>
                  <a:srgbClr val="033F60"/>
                </a:solidFill>
              </a:endParaRPr>
            </a:p>
            <a:p>
              <a:pPr marL="171450" indent="-171450" eaLnBrk="0" hangingPunct="0">
                <a:buFont typeface="Arial" panose="020B0604020202020204" pitchFamily="34" charset="0"/>
                <a:buChar char="•"/>
              </a:pPr>
              <a:endParaRPr lang="pt-BR" sz="1500" b="1" dirty="0">
                <a:solidFill>
                  <a:srgbClr val="033F60"/>
                </a:solidFill>
              </a:endParaRPr>
            </a:p>
            <a:p>
              <a:pPr marL="171450" indent="-171450" eaLnBrk="0" hangingPunct="0">
                <a:buFont typeface="Arial" panose="020B0604020202020204" pitchFamily="34" charset="0"/>
                <a:buChar char="•"/>
              </a:pPr>
              <a:endParaRPr lang="pt-BR" sz="1500" b="1" dirty="0">
                <a:solidFill>
                  <a:srgbClr val="033F60"/>
                </a:solidFill>
              </a:endParaRPr>
            </a:p>
            <a:p>
              <a:pPr marL="171450" indent="-171450" eaLnBrk="0" hangingPunct="0">
                <a:buFont typeface="Arial" panose="020B0604020202020204" pitchFamily="34" charset="0"/>
                <a:buChar char="•"/>
              </a:pPr>
              <a:endParaRPr lang="pt-BR" sz="1500" b="1" dirty="0">
                <a:solidFill>
                  <a:srgbClr val="033F60"/>
                </a:solidFill>
              </a:endParaRPr>
            </a:p>
            <a:p>
              <a:pPr marL="171450" indent="-171450" eaLnBrk="0" hangingPunct="0">
                <a:buFont typeface="Arial" panose="020B0604020202020204" pitchFamily="34" charset="0"/>
                <a:buChar char="•"/>
              </a:pPr>
              <a:endParaRPr lang="pt-BR" sz="1500" b="1" dirty="0">
                <a:solidFill>
                  <a:srgbClr val="033F60"/>
                </a:solidFill>
              </a:endParaRPr>
            </a:p>
            <a:p>
              <a:pPr marL="171450" indent="-171450" eaLnBrk="0" hangingPunct="0">
                <a:buFont typeface="Arial" panose="020B0604020202020204" pitchFamily="34" charset="0"/>
                <a:buChar char="•"/>
              </a:pPr>
              <a:endParaRPr lang="pt-BR" sz="1500" b="1" dirty="0">
                <a:solidFill>
                  <a:srgbClr val="033F60"/>
                </a:solidFill>
              </a:endParaRPr>
            </a:p>
          </p:txBody>
        </p:sp>
      </p:grpSp>
      <p:sp>
        <p:nvSpPr>
          <p:cNvPr id="53" name="Seta: Divisa 115">
            <a:extLst>
              <a:ext uri="{FF2B5EF4-FFF2-40B4-BE49-F238E27FC236}">
                <a16:creationId xmlns="" xmlns:a16="http://schemas.microsoft.com/office/drawing/2014/main" id="{25A457FB-53F1-407B-B364-65955A0107B8}"/>
              </a:ext>
            </a:extLst>
          </p:cNvPr>
          <p:cNvSpPr/>
          <p:nvPr/>
        </p:nvSpPr>
        <p:spPr>
          <a:xfrm>
            <a:off x="6080628" y="1783849"/>
            <a:ext cx="3098241" cy="465991"/>
          </a:xfrm>
          <a:prstGeom prst="chevron">
            <a:avLst/>
          </a:prstGeom>
          <a:solidFill>
            <a:srgbClr val="005883"/>
          </a:solidFill>
          <a:ln w="28575" algn="ctr">
            <a:noFill/>
            <a:miter lim="800000"/>
            <a:headEnd/>
            <a:tailEnd/>
          </a:ln>
          <a:effectLst/>
        </p:spPr>
        <p:txBody>
          <a:bodyPr lIns="0" tIns="0" rIns="0" bIns="0"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b="1" dirty="0"/>
              <a:t>Ingestão</a:t>
            </a:r>
          </a:p>
        </p:txBody>
      </p:sp>
      <p:sp>
        <p:nvSpPr>
          <p:cNvPr id="54" name="CaixaDeTexto 53">
            <a:extLst>
              <a:ext uri="{FF2B5EF4-FFF2-40B4-BE49-F238E27FC236}">
                <a16:creationId xmlns="" xmlns:a16="http://schemas.microsoft.com/office/drawing/2014/main" id="{FD7E28D9-44EB-43AB-9796-2F60C67254AA}"/>
              </a:ext>
            </a:extLst>
          </p:cNvPr>
          <p:cNvSpPr txBox="1"/>
          <p:nvPr/>
        </p:nvSpPr>
        <p:spPr>
          <a:xfrm>
            <a:off x="6131494" y="2372675"/>
            <a:ext cx="2904512" cy="498655"/>
          </a:xfrm>
          <a:prstGeom prst="rect">
            <a:avLst/>
          </a:prstGeom>
          <a:solidFill>
            <a:srgbClr val="005883">
              <a:alpha val="50196"/>
            </a:srgbClr>
          </a:solidFill>
          <a:ln w="12700">
            <a:noFill/>
          </a:ln>
        </p:spPr>
        <p:txBody>
          <a:bodyPr wrap="square" lIns="0" tIns="0" rIns="0" bIns="0" rtlCol="0" anchor="ctr" anchorCtr="0">
            <a:noAutofit/>
          </a:bodyPr>
          <a:lstStyle>
            <a:defPPr>
              <a:defRPr lang="pt-BR"/>
            </a:defPPr>
            <a:lvl1pPr marL="269075" indent="-132157" defTabSz="685783" fontAlgn="auto">
              <a:spcBef>
                <a:spcPts val="450"/>
              </a:spcBef>
              <a:spcAft>
                <a:spcPts val="0"/>
              </a:spcAft>
              <a:buFont typeface="Wingdings" pitchFamily="2" charset="2"/>
              <a:buChar char="ü"/>
              <a:defRPr sz="900" b="1" kern="0">
                <a:solidFill>
                  <a:srgbClr val="4BACC6"/>
                </a:solidFill>
                <a:cs typeface="Arial" pitchFamily="34" charset="0"/>
              </a:defRPr>
            </a:lvl1pPr>
          </a:lstStyle>
          <a:p>
            <a:pPr marL="136918" indent="0" algn="ctr">
              <a:buNone/>
            </a:pPr>
            <a:r>
              <a:rPr lang="pt-BR" dirty="0">
                <a:solidFill>
                  <a:schemeClr val="tx1"/>
                </a:solidFill>
              </a:rPr>
              <a:t> </a:t>
            </a:r>
            <a:r>
              <a:rPr lang="pt-BR" sz="1600" dirty="0">
                <a:solidFill>
                  <a:schemeClr val="tx1"/>
                </a:solidFill>
              </a:rPr>
              <a:t>Ingestão Online / Batch</a:t>
            </a:r>
          </a:p>
        </p:txBody>
      </p:sp>
      <p:grpSp>
        <p:nvGrpSpPr>
          <p:cNvPr id="55" name="Grupo 34">
            <a:extLst>
              <a:ext uri="{FF2B5EF4-FFF2-40B4-BE49-F238E27FC236}">
                <a16:creationId xmlns="" xmlns:a16="http://schemas.microsoft.com/office/drawing/2014/main" id="{D42564E8-17B0-4BFE-A34A-09F36029DD1B}"/>
              </a:ext>
            </a:extLst>
          </p:cNvPr>
          <p:cNvGrpSpPr/>
          <p:nvPr/>
        </p:nvGrpSpPr>
        <p:grpSpPr>
          <a:xfrm>
            <a:off x="9151401" y="3011176"/>
            <a:ext cx="3066732" cy="2994060"/>
            <a:chOff x="5894701" y="1548293"/>
            <a:chExt cx="1769492" cy="2045453"/>
          </a:xfrm>
        </p:grpSpPr>
        <p:sp>
          <p:nvSpPr>
            <p:cNvPr id="56" name="Retângulo de cantos arredondados 84">
              <a:extLst>
                <a:ext uri="{FF2B5EF4-FFF2-40B4-BE49-F238E27FC236}">
                  <a16:creationId xmlns="" xmlns:a16="http://schemas.microsoft.com/office/drawing/2014/main" id="{7847596B-0704-4D9C-9BB0-11B6CB53ABEF}"/>
                </a:ext>
              </a:extLst>
            </p:cNvPr>
            <p:cNvSpPr/>
            <p:nvPr/>
          </p:nvSpPr>
          <p:spPr bwMode="gray">
            <a:xfrm>
              <a:off x="5894701" y="1548293"/>
              <a:ext cx="1720647" cy="1874937"/>
            </a:xfrm>
            <a:prstGeom prst="roundRect">
              <a:avLst>
                <a:gd name="adj" fmla="val 6998"/>
              </a:avLst>
            </a:prstGeom>
            <a:solidFill>
              <a:srgbClr val="033F60">
                <a:alpha val="50196"/>
              </a:srgbClr>
            </a:solidFill>
            <a:ln w="12700">
              <a:noFill/>
            </a:ln>
          </p:spPr>
          <p:txBody>
            <a:bodyPr wrap="square" lIns="0" tIns="0" rIns="0" bIns="0" rtlCol="0" anchor="ctr" anchorCtr="0">
              <a:noAutofit/>
            </a:bodyPr>
            <a:lstStyle/>
            <a:p>
              <a:pPr marL="269075" indent="-132157" defTabSz="685783" fontAlgn="auto">
                <a:spcBef>
                  <a:spcPts val="450"/>
                </a:spcBef>
                <a:spcAft>
                  <a:spcPts val="0"/>
                </a:spcAft>
                <a:buFont typeface="Wingdings" pitchFamily="2" charset="2"/>
                <a:buChar char="ü"/>
                <a:defRPr/>
              </a:pPr>
              <a:endParaRPr lang="pt-BR" sz="900" b="1" kern="0" dirty="0">
                <a:solidFill>
                  <a:srgbClr val="4BACC6"/>
                </a:solidFill>
                <a:cs typeface="Arial" pitchFamily="34" charset="0"/>
              </a:endParaRPr>
            </a:p>
          </p:txBody>
        </p:sp>
        <p:sp>
          <p:nvSpPr>
            <p:cNvPr id="57" name="Retângulo 56">
              <a:extLst>
                <a:ext uri="{FF2B5EF4-FFF2-40B4-BE49-F238E27FC236}">
                  <a16:creationId xmlns="" xmlns:a16="http://schemas.microsoft.com/office/drawing/2014/main" id="{4BDC7A0F-C3F7-4F2A-8575-9F25A55C1A0F}"/>
                </a:ext>
              </a:extLst>
            </p:cNvPr>
            <p:cNvSpPr/>
            <p:nvPr/>
          </p:nvSpPr>
          <p:spPr bwMode="gray">
            <a:xfrm>
              <a:off x="5921778" y="2016220"/>
              <a:ext cx="1742415" cy="1577526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 wrap="square" lIns="0" tIns="0" rIns="0" bIns="0" rtlCol="0" anchor="ctr">
              <a:noAutofit/>
            </a:bodyPr>
            <a:lstStyle/>
            <a:p>
              <a:pPr marL="171450" indent="-171450" eaLnBrk="0" hangingPunct="0">
                <a:buFont typeface="Arial" panose="020B0604020202020204" pitchFamily="34" charset="0"/>
                <a:buChar char="•"/>
              </a:pPr>
              <a:r>
                <a:rPr lang="pt-BR" sz="1500" b="1" dirty="0" err="1"/>
                <a:t>SLAs</a:t>
              </a:r>
              <a:r>
                <a:rPr lang="pt-BR" sz="1500" b="1" dirty="0"/>
                <a:t> para cada fluxo de dados estabelecido</a:t>
              </a:r>
            </a:p>
            <a:p>
              <a:pPr marL="171450" indent="-171450" eaLnBrk="0" hangingPunct="0">
                <a:buFont typeface="Arial" panose="020B0604020202020204" pitchFamily="34" charset="0"/>
                <a:buChar char="•"/>
              </a:pPr>
              <a:r>
                <a:rPr lang="pt-BR" sz="1500" b="1" dirty="0"/>
                <a:t>Categorização de Incidentes</a:t>
              </a:r>
            </a:p>
            <a:p>
              <a:pPr marL="171450" indent="-171450" eaLnBrk="0" hangingPunct="0">
                <a:buFont typeface="Arial" panose="020B0604020202020204" pitchFamily="34" charset="0"/>
                <a:buChar char="•"/>
              </a:pPr>
              <a:r>
                <a:rPr lang="pt-BR" sz="1500" b="1" dirty="0"/>
                <a:t>Categorização de Problemas</a:t>
              </a:r>
            </a:p>
            <a:p>
              <a:pPr marL="171450" indent="-171450" eaLnBrk="0" hangingPunct="0">
                <a:buFont typeface="Arial" panose="020B0604020202020204" pitchFamily="34" charset="0"/>
                <a:buChar char="•"/>
              </a:pPr>
              <a:r>
                <a:rPr lang="pt-BR" sz="1500" b="1" dirty="0"/>
                <a:t>Categorização de solicitações</a:t>
              </a:r>
            </a:p>
            <a:p>
              <a:pPr marL="171450" indent="-171450" eaLnBrk="0" hangingPunct="0">
                <a:buFont typeface="Arial" panose="020B0604020202020204" pitchFamily="34" charset="0"/>
                <a:buChar char="•"/>
              </a:pPr>
              <a:r>
                <a:rPr lang="pt-BR" sz="1500" b="1" dirty="0"/>
                <a:t>Checklist de componentes e serviços</a:t>
              </a:r>
            </a:p>
            <a:p>
              <a:pPr marL="171450" indent="-171450" eaLnBrk="0" hangingPunct="0">
                <a:buFont typeface="Arial" panose="020B0604020202020204" pitchFamily="34" charset="0"/>
                <a:buChar char="•"/>
              </a:pPr>
              <a:r>
                <a:rPr lang="pt-BR" sz="1500" b="1" dirty="0"/>
                <a:t>Suporte técnico</a:t>
              </a:r>
            </a:p>
            <a:p>
              <a:pPr marL="171450" indent="-171450" eaLnBrk="0" hangingPunct="0">
                <a:buFont typeface="Arial" panose="020B0604020202020204" pitchFamily="34" charset="0"/>
                <a:buChar char="•"/>
              </a:pPr>
              <a:r>
                <a:rPr lang="pt-BR" sz="1500" b="1" dirty="0"/>
                <a:t>Monitoração</a:t>
              </a:r>
            </a:p>
            <a:p>
              <a:pPr marL="171450" indent="-171450" eaLnBrk="0" hangingPunct="0">
                <a:buFont typeface="Arial" panose="020B0604020202020204" pitchFamily="34" charset="0"/>
                <a:buChar char="•"/>
              </a:pPr>
              <a:r>
                <a:rPr lang="pt-BR" sz="1500" b="1" dirty="0"/>
                <a:t>Segurança</a:t>
              </a:r>
            </a:p>
            <a:p>
              <a:pPr marL="171450" indent="-171450" eaLnBrk="0" hangingPunct="0">
                <a:buFont typeface="Arial" panose="020B0604020202020204" pitchFamily="34" charset="0"/>
                <a:buChar char="•"/>
              </a:pPr>
              <a:r>
                <a:rPr lang="pt-BR" sz="1500" b="1" dirty="0"/>
                <a:t>Governança</a:t>
              </a:r>
            </a:p>
            <a:p>
              <a:pPr marL="171450" indent="-171450" eaLnBrk="0" hangingPunct="0">
                <a:buFont typeface="Arial" panose="020B0604020202020204" pitchFamily="34" charset="0"/>
                <a:buChar char="•"/>
              </a:pPr>
              <a:r>
                <a:rPr lang="pt-BR" sz="1500" b="1" dirty="0"/>
                <a:t>Book de indicadores</a:t>
              </a:r>
            </a:p>
            <a:p>
              <a:pPr marL="171450" indent="-171450" eaLnBrk="0" hangingPunct="0">
                <a:buFont typeface="Arial" panose="020B0604020202020204" pitchFamily="34" charset="0"/>
                <a:buChar char="•"/>
              </a:pPr>
              <a:endParaRPr lang="pt-BR" sz="1500" b="1" dirty="0">
                <a:solidFill>
                  <a:srgbClr val="033F60"/>
                </a:solidFill>
              </a:endParaRPr>
            </a:p>
            <a:p>
              <a:pPr marL="171450" indent="-171450" eaLnBrk="0" hangingPunct="0">
                <a:buFont typeface="Arial" panose="020B0604020202020204" pitchFamily="34" charset="0"/>
                <a:buChar char="•"/>
              </a:pPr>
              <a:endParaRPr lang="pt-BR" sz="1500" b="1" dirty="0">
                <a:solidFill>
                  <a:srgbClr val="033F60"/>
                </a:solidFill>
              </a:endParaRPr>
            </a:p>
            <a:p>
              <a:pPr marL="171450" indent="-171450" eaLnBrk="0" hangingPunct="0">
                <a:buFont typeface="Arial" panose="020B0604020202020204" pitchFamily="34" charset="0"/>
                <a:buChar char="•"/>
              </a:pPr>
              <a:endParaRPr lang="pt-BR" sz="1500" b="1" dirty="0">
                <a:solidFill>
                  <a:srgbClr val="033F60"/>
                </a:solidFill>
              </a:endParaRPr>
            </a:p>
            <a:p>
              <a:pPr marL="171450" indent="-171450" eaLnBrk="0" hangingPunct="0">
                <a:buFont typeface="Arial" panose="020B0604020202020204" pitchFamily="34" charset="0"/>
                <a:buChar char="•"/>
              </a:pPr>
              <a:endParaRPr lang="pt-BR" sz="1500" b="1" dirty="0">
                <a:solidFill>
                  <a:srgbClr val="033F60"/>
                </a:solidFill>
              </a:endParaRPr>
            </a:p>
          </p:txBody>
        </p:sp>
      </p:grpSp>
      <p:sp>
        <p:nvSpPr>
          <p:cNvPr id="58" name="Seta: Divisa 130">
            <a:extLst>
              <a:ext uri="{FF2B5EF4-FFF2-40B4-BE49-F238E27FC236}">
                <a16:creationId xmlns="" xmlns:a16="http://schemas.microsoft.com/office/drawing/2014/main" id="{2B02533A-D8B1-4541-9770-CE20E00F4BD1}"/>
              </a:ext>
            </a:extLst>
          </p:cNvPr>
          <p:cNvSpPr/>
          <p:nvPr/>
        </p:nvSpPr>
        <p:spPr>
          <a:xfrm>
            <a:off x="9096543" y="1779835"/>
            <a:ext cx="3098241" cy="465991"/>
          </a:xfrm>
          <a:prstGeom prst="chevron">
            <a:avLst/>
          </a:prstGeom>
          <a:solidFill>
            <a:srgbClr val="005883"/>
          </a:solidFill>
          <a:ln w="28575" algn="ctr">
            <a:noFill/>
            <a:miter lim="800000"/>
            <a:headEnd/>
            <a:tailEnd/>
          </a:ln>
          <a:effectLst/>
        </p:spPr>
        <p:txBody>
          <a:bodyPr lIns="0" tIns="0" rIns="0" bIns="0"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b="1" dirty="0"/>
              <a:t>Sustentação do Cluster</a:t>
            </a:r>
          </a:p>
        </p:txBody>
      </p:sp>
      <p:sp>
        <p:nvSpPr>
          <p:cNvPr id="59" name="CaixaDeTexto 58">
            <a:extLst>
              <a:ext uri="{FF2B5EF4-FFF2-40B4-BE49-F238E27FC236}">
                <a16:creationId xmlns="" xmlns:a16="http://schemas.microsoft.com/office/drawing/2014/main" id="{D6891E3F-DF57-46A1-BC02-976F81BCE72A}"/>
              </a:ext>
            </a:extLst>
          </p:cNvPr>
          <p:cNvSpPr txBox="1"/>
          <p:nvPr/>
        </p:nvSpPr>
        <p:spPr>
          <a:xfrm>
            <a:off x="9171473" y="2368661"/>
            <a:ext cx="2904512" cy="498655"/>
          </a:xfrm>
          <a:prstGeom prst="rect">
            <a:avLst/>
          </a:prstGeom>
          <a:solidFill>
            <a:srgbClr val="005883">
              <a:alpha val="50196"/>
            </a:srgbClr>
          </a:solidFill>
          <a:ln w="12700">
            <a:noFill/>
          </a:ln>
        </p:spPr>
        <p:txBody>
          <a:bodyPr wrap="square" lIns="0" tIns="0" rIns="0" bIns="0" rtlCol="0" anchor="ctr" anchorCtr="0">
            <a:noAutofit/>
          </a:bodyPr>
          <a:lstStyle>
            <a:defPPr>
              <a:defRPr lang="pt-BR"/>
            </a:defPPr>
            <a:lvl1pPr marL="269075" indent="-132157" defTabSz="685783" fontAlgn="auto">
              <a:spcBef>
                <a:spcPts val="450"/>
              </a:spcBef>
              <a:spcAft>
                <a:spcPts val="0"/>
              </a:spcAft>
              <a:buFont typeface="Wingdings" pitchFamily="2" charset="2"/>
              <a:buChar char="ü"/>
              <a:defRPr sz="900" b="1" kern="0">
                <a:solidFill>
                  <a:srgbClr val="4BACC6"/>
                </a:solidFill>
                <a:cs typeface="Arial" pitchFamily="34" charset="0"/>
              </a:defRPr>
            </a:lvl1pPr>
          </a:lstStyle>
          <a:p>
            <a:pPr marL="136918" indent="0" algn="ctr">
              <a:buNone/>
            </a:pPr>
            <a:r>
              <a:rPr lang="pt-BR" dirty="0"/>
              <a:t> </a:t>
            </a:r>
            <a:r>
              <a:rPr lang="pt-BR" sz="1600" dirty="0">
                <a:solidFill>
                  <a:schemeClr val="tx1"/>
                </a:solidFill>
              </a:rPr>
              <a:t>Operação</a:t>
            </a:r>
          </a:p>
        </p:txBody>
      </p:sp>
      <p:pic>
        <p:nvPicPr>
          <p:cNvPr id="60" name="Imagem 59">
            <a:extLst>
              <a:ext uri="{FF2B5EF4-FFF2-40B4-BE49-F238E27FC236}">
                <a16:creationId xmlns="" xmlns:a16="http://schemas.microsoft.com/office/drawing/2014/main" id="{B0DE716B-D11E-45FA-9BB0-F8AD7EFE2CB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6908" y="1203789"/>
            <a:ext cx="3287689" cy="594535"/>
          </a:xfrm>
          <a:prstGeom prst="rect">
            <a:avLst/>
          </a:prstGeom>
        </p:spPr>
      </p:pic>
      <p:pic>
        <p:nvPicPr>
          <p:cNvPr id="61" name="Imagem 60">
            <a:extLst>
              <a:ext uri="{FF2B5EF4-FFF2-40B4-BE49-F238E27FC236}">
                <a16:creationId xmlns="" xmlns:a16="http://schemas.microsoft.com/office/drawing/2014/main" id="{D0506EC9-C027-4F6A-B3DF-0DC58341D3E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5347" y="1206061"/>
            <a:ext cx="3287689" cy="594535"/>
          </a:xfrm>
          <a:prstGeom prst="rect">
            <a:avLst/>
          </a:prstGeom>
        </p:spPr>
      </p:pic>
      <p:pic>
        <p:nvPicPr>
          <p:cNvPr id="62" name="Imagem 61">
            <a:extLst>
              <a:ext uri="{FF2B5EF4-FFF2-40B4-BE49-F238E27FC236}">
                <a16:creationId xmlns="" xmlns:a16="http://schemas.microsoft.com/office/drawing/2014/main" id="{75678A3C-54D7-4BAA-927A-B72BDFA5BD3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36489" y="1221981"/>
            <a:ext cx="3287689" cy="594535"/>
          </a:xfrm>
          <a:prstGeom prst="rect">
            <a:avLst/>
          </a:prstGeom>
        </p:spPr>
      </p:pic>
      <p:sp>
        <p:nvSpPr>
          <p:cNvPr id="63" name="CaixaDeTexto 62">
            <a:extLst>
              <a:ext uri="{FF2B5EF4-FFF2-40B4-BE49-F238E27FC236}">
                <a16:creationId xmlns="" xmlns:a16="http://schemas.microsoft.com/office/drawing/2014/main" id="{F9C09588-4241-4497-B90C-DFC9E2C3DB88}"/>
              </a:ext>
            </a:extLst>
          </p:cNvPr>
          <p:cNvSpPr txBox="1"/>
          <p:nvPr/>
        </p:nvSpPr>
        <p:spPr>
          <a:xfrm>
            <a:off x="3108490" y="1278163"/>
            <a:ext cx="2898408" cy="31196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pt-BR" sz="2000" b="1" spc="300" dirty="0">
                <a:solidFill>
                  <a:schemeClr val="bg1"/>
                </a:solidFill>
              </a:rPr>
              <a:t>Fase</a:t>
            </a:r>
            <a:r>
              <a:rPr lang="pt-BR" sz="2000" b="1" dirty="0">
                <a:solidFill>
                  <a:schemeClr val="bg1"/>
                </a:solidFill>
              </a:rPr>
              <a:t> 2</a:t>
            </a:r>
            <a:endParaRPr lang="pt-BR" sz="2000" b="1" spc="300" dirty="0">
              <a:solidFill>
                <a:schemeClr val="bg1"/>
              </a:solidFill>
            </a:endParaRPr>
          </a:p>
        </p:txBody>
      </p:sp>
      <p:sp>
        <p:nvSpPr>
          <p:cNvPr id="64" name="CaixaDeTexto 63">
            <a:extLst>
              <a:ext uri="{FF2B5EF4-FFF2-40B4-BE49-F238E27FC236}">
                <a16:creationId xmlns="" xmlns:a16="http://schemas.microsoft.com/office/drawing/2014/main" id="{739DCEFD-BF6D-47F9-AF08-EDAAA7B772F5}"/>
              </a:ext>
            </a:extLst>
          </p:cNvPr>
          <p:cNvSpPr txBox="1"/>
          <p:nvPr/>
        </p:nvSpPr>
        <p:spPr>
          <a:xfrm>
            <a:off x="6113280" y="1266788"/>
            <a:ext cx="2898408" cy="31196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pt-BR" sz="2000" b="1" spc="300" dirty="0">
                <a:solidFill>
                  <a:schemeClr val="bg1"/>
                </a:solidFill>
              </a:rPr>
              <a:t>Fase</a:t>
            </a:r>
            <a:r>
              <a:rPr lang="pt-BR" sz="2000" b="1" dirty="0">
                <a:solidFill>
                  <a:schemeClr val="bg1"/>
                </a:solidFill>
              </a:rPr>
              <a:t> 3</a:t>
            </a:r>
            <a:endParaRPr lang="pt-BR" sz="2000" b="1" spc="300" dirty="0">
              <a:solidFill>
                <a:schemeClr val="bg1"/>
              </a:solidFill>
            </a:endParaRPr>
          </a:p>
        </p:txBody>
      </p:sp>
      <p:sp>
        <p:nvSpPr>
          <p:cNvPr id="65" name="CaixaDeTexto 64">
            <a:extLst>
              <a:ext uri="{FF2B5EF4-FFF2-40B4-BE49-F238E27FC236}">
                <a16:creationId xmlns="" xmlns:a16="http://schemas.microsoft.com/office/drawing/2014/main" id="{BC30A1E7-3F63-4B0B-BE70-55BBE2DF9285}"/>
              </a:ext>
            </a:extLst>
          </p:cNvPr>
          <p:cNvSpPr txBox="1"/>
          <p:nvPr/>
        </p:nvSpPr>
        <p:spPr>
          <a:xfrm>
            <a:off x="9213600" y="1296356"/>
            <a:ext cx="2898408" cy="31196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pt-BR" sz="2000" b="1" spc="300" dirty="0">
                <a:solidFill>
                  <a:schemeClr val="bg1"/>
                </a:solidFill>
              </a:rPr>
              <a:t>Fase</a:t>
            </a:r>
            <a:r>
              <a:rPr lang="pt-BR" sz="2000" b="1" dirty="0">
                <a:solidFill>
                  <a:schemeClr val="bg1"/>
                </a:solidFill>
              </a:rPr>
              <a:t> 4</a:t>
            </a:r>
            <a:endParaRPr lang="pt-BR" sz="2000" b="1" spc="3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9128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000"/>
                            </p:stCondLst>
                            <p:childTnLst>
                              <p:par>
                                <p:cTn id="4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1500"/>
                            </p:stCondLst>
                            <p:childTnLst>
                              <p:par>
                                <p:cTn id="68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 animBg="1"/>
      <p:bldP spid="43" grpId="0" animBg="1"/>
      <p:bldP spid="44" grpId="0"/>
      <p:bldP spid="48" grpId="0" animBg="1"/>
      <p:bldP spid="49" grpId="0" animBg="1"/>
      <p:bldP spid="53" grpId="0" animBg="1"/>
      <p:bldP spid="54" grpId="0" animBg="1"/>
      <p:bldP spid="58" grpId="0" animBg="1"/>
      <p:bldP spid="59" grpId="0" animBg="1"/>
      <p:bldP spid="63" grpId="0"/>
      <p:bldP spid="64" grpId="0"/>
      <p:bldP spid="6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="" xmlns:a16="http://schemas.microsoft.com/office/drawing/2014/main" id="{A78B53A9-9E6B-4CA2-8882-EE6B83347176}"/>
              </a:ext>
            </a:extLst>
          </p:cNvPr>
          <p:cNvSpPr txBox="1"/>
          <p:nvPr/>
        </p:nvSpPr>
        <p:spPr>
          <a:xfrm>
            <a:off x="511317" y="167641"/>
            <a:ext cx="74310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Rounded MT Bold" panose="020F0704030504030204" pitchFamily="34" charset="0"/>
                <a:ea typeface="+mn-ea"/>
                <a:cs typeface="+mn-cs"/>
              </a:rPr>
              <a:t>DINÂMICA</a:t>
            </a:r>
            <a:r>
              <a:rPr kumimoji="0" lang="pt-BR" sz="1800" b="0" i="0" u="none" strike="noStrike" kern="1200" cap="none" spc="0" normalizeH="0" noProof="0" dirty="0">
                <a:ln>
                  <a:noFill/>
                </a:ln>
                <a:effectLst/>
                <a:uLnTx/>
                <a:uFillTx/>
                <a:latin typeface="Arial Rounded MT Bold" panose="020F0704030504030204" pitchFamily="34" charset="0"/>
                <a:ea typeface="+mn-ea"/>
                <a:cs typeface="+mn-cs"/>
              </a:rPr>
              <a:t> DE TRABALHO</a:t>
            </a:r>
            <a:endParaRPr kumimoji="0" lang="pt-BR" sz="18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012" y="723331"/>
            <a:ext cx="11654554" cy="5295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25702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="" xmlns:a16="http://schemas.microsoft.com/office/drawing/2014/main" id="{A78B53A9-9E6B-4CA2-8882-EE6B83347176}"/>
              </a:ext>
            </a:extLst>
          </p:cNvPr>
          <p:cNvSpPr txBox="1"/>
          <p:nvPr/>
        </p:nvSpPr>
        <p:spPr>
          <a:xfrm>
            <a:off x="511317" y="167641"/>
            <a:ext cx="74310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Rounded MT Bold" panose="020F0704030504030204" pitchFamily="34" charset="0"/>
                <a:ea typeface="+mn-ea"/>
                <a:cs typeface="+mn-cs"/>
              </a:rPr>
              <a:t>Governança de Dados</a:t>
            </a: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2134" y="745442"/>
            <a:ext cx="11498713" cy="5312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66481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="" xmlns:a16="http://schemas.microsoft.com/office/drawing/2014/main" id="{A78B53A9-9E6B-4CA2-8882-EE6B83347176}"/>
              </a:ext>
            </a:extLst>
          </p:cNvPr>
          <p:cNvSpPr txBox="1"/>
          <p:nvPr/>
        </p:nvSpPr>
        <p:spPr>
          <a:xfrm>
            <a:off x="511317" y="167641"/>
            <a:ext cx="74310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Rounded MT Bold" panose="020F0704030504030204" pitchFamily="34" charset="0"/>
                <a:ea typeface="+mn-ea"/>
                <a:cs typeface="+mn-cs"/>
              </a:rPr>
              <a:t>Cases: 1 Gerenciamento de Processos Rede Embratel/ECT 2009 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="" xmlns:a16="http://schemas.microsoft.com/office/drawing/2014/main" id="{1F6AC20E-DEC2-4189-B775-11295C924F7A}"/>
              </a:ext>
            </a:extLst>
          </p:cNvPr>
          <p:cNvSpPr/>
          <p:nvPr/>
        </p:nvSpPr>
        <p:spPr>
          <a:xfrm>
            <a:off x="511317" y="786908"/>
            <a:ext cx="2601382" cy="5433538"/>
          </a:xfrm>
          <a:prstGeom prst="rect">
            <a:avLst/>
          </a:prstGeom>
          <a:solidFill>
            <a:schemeClr val="accent5">
              <a:lumMod val="75000"/>
              <a:alpha val="46000"/>
            </a:schemeClr>
          </a:solidFill>
          <a:ln w="63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pt-BR">
              <a:solidFill>
                <a:schemeClr val="tx1"/>
              </a:solidFill>
              <a:latin typeface="Calibri" panose="020F0502020204030204"/>
            </a:endParaRPr>
          </a:p>
        </p:txBody>
      </p:sp>
      <p:sp>
        <p:nvSpPr>
          <p:cNvPr id="6" name="Seta: Divisa 2">
            <a:extLst>
              <a:ext uri="{FF2B5EF4-FFF2-40B4-BE49-F238E27FC236}">
                <a16:creationId xmlns="" xmlns:a16="http://schemas.microsoft.com/office/drawing/2014/main" id="{F59EB8EB-F14F-4519-A3D5-6418FC84624B}"/>
              </a:ext>
            </a:extLst>
          </p:cNvPr>
          <p:cNvSpPr/>
          <p:nvPr/>
        </p:nvSpPr>
        <p:spPr>
          <a:xfrm>
            <a:off x="581292" y="1023588"/>
            <a:ext cx="2531407" cy="423075"/>
          </a:xfrm>
          <a:prstGeom prst="chevron">
            <a:avLst/>
          </a:prstGeom>
          <a:solidFill>
            <a:srgbClr val="005883"/>
          </a:solidFill>
          <a:ln w="28575" algn="ctr">
            <a:noFill/>
            <a:miter lim="800000"/>
            <a:headEnd/>
            <a:tailEnd/>
          </a:ln>
          <a:effectLst/>
        </p:spPr>
        <p:txBody>
          <a:bodyPr lIns="0" tIns="0" rIns="0" bIns="0"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b="1" dirty="0"/>
              <a:t>Missão</a:t>
            </a:r>
          </a:p>
        </p:txBody>
      </p:sp>
      <p:sp>
        <p:nvSpPr>
          <p:cNvPr id="7" name="Retângulo de cantos arredondados 84">
            <a:extLst>
              <a:ext uri="{FF2B5EF4-FFF2-40B4-BE49-F238E27FC236}">
                <a16:creationId xmlns="" xmlns:a16="http://schemas.microsoft.com/office/drawing/2014/main" id="{0CBC0082-1121-4786-9EAB-2D3C9E39B938}"/>
              </a:ext>
            </a:extLst>
          </p:cNvPr>
          <p:cNvSpPr/>
          <p:nvPr/>
        </p:nvSpPr>
        <p:spPr bwMode="gray">
          <a:xfrm>
            <a:off x="581291" y="1542197"/>
            <a:ext cx="2434707" cy="1392072"/>
          </a:xfrm>
          <a:prstGeom prst="roundRect">
            <a:avLst>
              <a:gd name="adj" fmla="val 6998"/>
            </a:avLst>
          </a:prstGeom>
          <a:solidFill>
            <a:srgbClr val="033F60">
              <a:alpha val="50196"/>
            </a:srgbClr>
          </a:solidFill>
          <a:ln w="12700">
            <a:noFill/>
          </a:ln>
        </p:spPr>
        <p:txBody>
          <a:bodyPr wrap="square" lIns="0" tIns="0" rIns="0" bIns="0" rtlCol="0" anchor="ctr" anchorCtr="0">
            <a:noAutofit/>
          </a:bodyPr>
          <a:lstStyle/>
          <a:p>
            <a:pPr marL="269075" indent="-132157" defTabSz="685783" fontAlgn="auto">
              <a:spcBef>
                <a:spcPts val="450"/>
              </a:spcBef>
              <a:spcAft>
                <a:spcPts val="0"/>
              </a:spcAft>
              <a:buFont typeface="Wingdings" pitchFamily="2" charset="2"/>
              <a:buChar char="ü"/>
              <a:defRPr/>
            </a:pPr>
            <a:endParaRPr lang="pt-BR" sz="900" b="1" kern="0" dirty="0">
              <a:solidFill>
                <a:srgbClr val="4BACC6"/>
              </a:solidFill>
              <a:cs typeface="Arial" pitchFamily="34" charset="0"/>
            </a:endParaRPr>
          </a:p>
        </p:txBody>
      </p:sp>
      <p:sp>
        <p:nvSpPr>
          <p:cNvPr id="8" name="Retângulo 7">
            <a:extLst>
              <a:ext uri="{FF2B5EF4-FFF2-40B4-BE49-F238E27FC236}">
                <a16:creationId xmlns="" xmlns:a16="http://schemas.microsoft.com/office/drawing/2014/main" id="{B78A2CDF-F317-4DED-9349-C35E363940E3}"/>
              </a:ext>
            </a:extLst>
          </p:cNvPr>
          <p:cNvSpPr/>
          <p:nvPr/>
        </p:nvSpPr>
        <p:spPr bwMode="gray">
          <a:xfrm>
            <a:off x="603134" y="1645659"/>
            <a:ext cx="2412864" cy="1970998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marL="171450" indent="-171450" eaLnBrk="0" hangingPunct="0">
              <a:buFont typeface="Arial" panose="020B0604020202020204" pitchFamily="34" charset="0"/>
              <a:buChar char="•"/>
            </a:pPr>
            <a:r>
              <a:rPr lang="pt-BR" sz="1500" b="1" dirty="0"/>
              <a:t>Redução de Latência da Rede ECT/Embratel para reduzir as multas contratuais de</a:t>
            </a:r>
          </a:p>
          <a:p>
            <a:pPr marL="171450" indent="-171450" eaLnBrk="0" hangingPunct="0">
              <a:buFont typeface="Arial" panose="020B0604020202020204" pitchFamily="34" charset="0"/>
              <a:buChar char="•"/>
            </a:pPr>
            <a:r>
              <a:rPr lang="pt-BR" sz="1500" b="1" dirty="0"/>
              <a:t>R$ 1Milhão/mês</a:t>
            </a:r>
          </a:p>
          <a:p>
            <a:pPr marL="171450" indent="-171450" eaLnBrk="0" hangingPunct="0">
              <a:buFont typeface="Arial" panose="020B0604020202020204" pitchFamily="34" charset="0"/>
              <a:buChar char="•"/>
            </a:pPr>
            <a:endParaRPr lang="pt-BR" sz="1500" b="1" dirty="0"/>
          </a:p>
          <a:p>
            <a:pPr marL="171450" indent="-171450" eaLnBrk="0" hangingPunct="0">
              <a:buFont typeface="Arial" panose="020B0604020202020204" pitchFamily="34" charset="0"/>
              <a:buChar char="•"/>
            </a:pPr>
            <a:endParaRPr lang="pt-BR" sz="1500" b="1" dirty="0">
              <a:solidFill>
                <a:srgbClr val="033F60"/>
              </a:solidFill>
            </a:endParaRPr>
          </a:p>
          <a:p>
            <a:pPr marL="171450" indent="-171450" eaLnBrk="0" hangingPunct="0">
              <a:buFont typeface="Arial" panose="020B0604020202020204" pitchFamily="34" charset="0"/>
              <a:buChar char="•"/>
            </a:pPr>
            <a:endParaRPr lang="pt-BR" sz="1500" b="1" dirty="0">
              <a:solidFill>
                <a:srgbClr val="033F60"/>
              </a:solidFill>
            </a:endParaRPr>
          </a:p>
          <a:p>
            <a:pPr marL="171450" indent="-171450" eaLnBrk="0" hangingPunct="0">
              <a:buFont typeface="Arial" panose="020B0604020202020204" pitchFamily="34" charset="0"/>
              <a:buChar char="•"/>
            </a:pPr>
            <a:endParaRPr lang="pt-BR" sz="1500" b="1" dirty="0">
              <a:solidFill>
                <a:srgbClr val="033F60"/>
              </a:solidFill>
            </a:endParaRPr>
          </a:p>
        </p:txBody>
      </p:sp>
      <p:sp>
        <p:nvSpPr>
          <p:cNvPr id="9" name="Seta: Divisa 2">
            <a:extLst>
              <a:ext uri="{FF2B5EF4-FFF2-40B4-BE49-F238E27FC236}">
                <a16:creationId xmlns="" xmlns:a16="http://schemas.microsoft.com/office/drawing/2014/main" id="{F59EB8EB-F14F-4519-A3D5-6418FC84624B}"/>
              </a:ext>
            </a:extLst>
          </p:cNvPr>
          <p:cNvSpPr/>
          <p:nvPr/>
        </p:nvSpPr>
        <p:spPr>
          <a:xfrm>
            <a:off x="603135" y="3098048"/>
            <a:ext cx="2531407" cy="423075"/>
          </a:xfrm>
          <a:prstGeom prst="chevron">
            <a:avLst/>
          </a:prstGeom>
          <a:solidFill>
            <a:srgbClr val="005883"/>
          </a:solidFill>
          <a:ln w="28575" algn="ctr">
            <a:noFill/>
            <a:miter lim="800000"/>
            <a:headEnd/>
            <a:tailEnd/>
          </a:ln>
          <a:effectLst/>
        </p:spPr>
        <p:txBody>
          <a:bodyPr lIns="0" tIns="0" rIns="0" bIns="0"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b="1" dirty="0"/>
              <a:t>AÇÃO</a:t>
            </a:r>
          </a:p>
        </p:txBody>
      </p:sp>
      <p:sp>
        <p:nvSpPr>
          <p:cNvPr id="10" name="Retângulo de cantos arredondados 84">
            <a:extLst>
              <a:ext uri="{FF2B5EF4-FFF2-40B4-BE49-F238E27FC236}">
                <a16:creationId xmlns="" xmlns:a16="http://schemas.microsoft.com/office/drawing/2014/main" id="{0CBC0082-1121-4786-9EAB-2D3C9E39B938}"/>
              </a:ext>
            </a:extLst>
          </p:cNvPr>
          <p:cNvSpPr/>
          <p:nvPr/>
        </p:nvSpPr>
        <p:spPr bwMode="gray">
          <a:xfrm>
            <a:off x="603134" y="3616656"/>
            <a:ext cx="2434707" cy="2369473"/>
          </a:xfrm>
          <a:prstGeom prst="roundRect">
            <a:avLst>
              <a:gd name="adj" fmla="val 6998"/>
            </a:avLst>
          </a:prstGeom>
          <a:solidFill>
            <a:srgbClr val="033F60">
              <a:alpha val="50196"/>
            </a:srgbClr>
          </a:solidFill>
          <a:ln w="12700">
            <a:noFill/>
          </a:ln>
        </p:spPr>
        <p:txBody>
          <a:bodyPr wrap="square" lIns="0" tIns="0" rIns="0" bIns="0" rtlCol="0" anchor="ctr" anchorCtr="0">
            <a:noAutofit/>
          </a:bodyPr>
          <a:lstStyle/>
          <a:p>
            <a:pPr marL="136918" defTabSz="685783" fontAlgn="auto">
              <a:spcBef>
                <a:spcPts val="450"/>
              </a:spcBef>
              <a:spcAft>
                <a:spcPts val="0"/>
              </a:spcAft>
              <a:defRPr/>
            </a:pPr>
            <a:endParaRPr lang="pt-BR" sz="900" b="1" kern="0" dirty="0">
              <a:solidFill>
                <a:srgbClr val="4BACC6"/>
              </a:solidFill>
              <a:cs typeface="Arial" pitchFamily="34" charset="0"/>
            </a:endParaRPr>
          </a:p>
        </p:txBody>
      </p:sp>
      <p:sp>
        <p:nvSpPr>
          <p:cNvPr id="11" name="Retângulo 10">
            <a:extLst>
              <a:ext uri="{FF2B5EF4-FFF2-40B4-BE49-F238E27FC236}">
                <a16:creationId xmlns="" xmlns:a16="http://schemas.microsoft.com/office/drawing/2014/main" id="{B78A2CDF-F317-4DED-9349-C35E363940E3}"/>
              </a:ext>
            </a:extLst>
          </p:cNvPr>
          <p:cNvSpPr/>
          <p:nvPr/>
        </p:nvSpPr>
        <p:spPr bwMode="gray">
          <a:xfrm>
            <a:off x="624977" y="4238854"/>
            <a:ext cx="2412864" cy="1970998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marL="171450" indent="-171450" eaLnBrk="0" hangingPunct="0">
              <a:buFont typeface="Arial" panose="020B0604020202020204" pitchFamily="34" charset="0"/>
              <a:buChar char="•"/>
            </a:pPr>
            <a:r>
              <a:rPr lang="pt-BR" sz="1500" b="1" dirty="0"/>
              <a:t>Gerenciamento de Configuração de 6mil </a:t>
            </a:r>
            <a:r>
              <a:rPr lang="pt-BR" sz="1500" b="1" dirty="0" err="1"/>
              <a:t>cpes</a:t>
            </a:r>
            <a:endParaRPr lang="pt-BR" sz="1500" b="1" dirty="0"/>
          </a:p>
          <a:p>
            <a:pPr marL="171450" indent="-171450" eaLnBrk="0" hangingPunct="0">
              <a:buFont typeface="Arial" panose="020B0604020202020204" pitchFamily="34" charset="0"/>
              <a:buChar char="•"/>
            </a:pPr>
            <a:r>
              <a:rPr lang="pt-BR" sz="1500" b="1" dirty="0"/>
              <a:t>Gerenciamento de Conectividade de 6 mil links de 5 em 5 min.</a:t>
            </a:r>
          </a:p>
          <a:p>
            <a:pPr marL="171450" indent="-171450" eaLnBrk="0" hangingPunct="0">
              <a:buFont typeface="Arial" panose="020B0604020202020204" pitchFamily="34" charset="0"/>
              <a:buChar char="•"/>
            </a:pPr>
            <a:r>
              <a:rPr lang="pt-BR" sz="1500" b="1" dirty="0"/>
              <a:t>Gerenciamento de Latência de 6 mil links de 5 em 5 min</a:t>
            </a:r>
          </a:p>
          <a:p>
            <a:pPr marL="171450" indent="-171450" eaLnBrk="0" hangingPunct="0">
              <a:buFont typeface="Arial" panose="020B0604020202020204" pitchFamily="34" charset="0"/>
              <a:buChar char="•"/>
            </a:pPr>
            <a:endParaRPr lang="pt-BR" sz="1500" b="1" dirty="0"/>
          </a:p>
          <a:p>
            <a:pPr marL="171450" indent="-171450" eaLnBrk="0" hangingPunct="0">
              <a:buFont typeface="Arial" panose="020B0604020202020204" pitchFamily="34" charset="0"/>
              <a:buChar char="•"/>
            </a:pPr>
            <a:endParaRPr lang="pt-BR" sz="1500" b="1" dirty="0">
              <a:solidFill>
                <a:srgbClr val="033F60"/>
              </a:solidFill>
            </a:endParaRPr>
          </a:p>
          <a:p>
            <a:pPr marL="171450" indent="-171450" eaLnBrk="0" hangingPunct="0">
              <a:buFont typeface="Arial" panose="020B0604020202020204" pitchFamily="34" charset="0"/>
              <a:buChar char="•"/>
            </a:pPr>
            <a:endParaRPr lang="pt-BR" sz="1500" b="1" dirty="0">
              <a:solidFill>
                <a:srgbClr val="033F60"/>
              </a:solidFill>
            </a:endParaRPr>
          </a:p>
          <a:p>
            <a:pPr marL="171450" indent="-171450" eaLnBrk="0" hangingPunct="0">
              <a:buFont typeface="Arial" panose="020B0604020202020204" pitchFamily="34" charset="0"/>
              <a:buChar char="•"/>
            </a:pPr>
            <a:endParaRPr lang="pt-BR" sz="1500" b="1" dirty="0">
              <a:solidFill>
                <a:srgbClr val="033F60"/>
              </a:solidFill>
            </a:endParaRPr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8167" y="821800"/>
            <a:ext cx="7805686" cy="5398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76235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9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="" xmlns:a16="http://schemas.microsoft.com/office/drawing/2014/main" id="{A78B53A9-9E6B-4CA2-8882-EE6B83347176}"/>
              </a:ext>
            </a:extLst>
          </p:cNvPr>
          <p:cNvSpPr txBox="1"/>
          <p:nvPr/>
        </p:nvSpPr>
        <p:spPr>
          <a:xfrm>
            <a:off x="511317" y="167641"/>
            <a:ext cx="74310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Rounded MT Bold" panose="020F0704030504030204" pitchFamily="34" charset="0"/>
                <a:ea typeface="+mn-ea"/>
                <a:cs typeface="+mn-cs"/>
              </a:rPr>
              <a:t>Cases: 1 Gerenciamento de Processos Rede Embratel/ECT 2009 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="" xmlns:a16="http://schemas.microsoft.com/office/drawing/2014/main" id="{1F6AC20E-DEC2-4189-B775-11295C924F7A}"/>
              </a:ext>
            </a:extLst>
          </p:cNvPr>
          <p:cNvSpPr/>
          <p:nvPr/>
        </p:nvSpPr>
        <p:spPr>
          <a:xfrm>
            <a:off x="511317" y="656559"/>
            <a:ext cx="2601382" cy="5433538"/>
          </a:xfrm>
          <a:prstGeom prst="rect">
            <a:avLst/>
          </a:prstGeom>
          <a:solidFill>
            <a:schemeClr val="accent5">
              <a:lumMod val="75000"/>
              <a:alpha val="46000"/>
            </a:schemeClr>
          </a:solidFill>
          <a:ln w="63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pt-BR">
              <a:solidFill>
                <a:schemeClr val="tx1"/>
              </a:solidFill>
              <a:latin typeface="Calibri" panose="020F0502020204030204"/>
            </a:endParaRPr>
          </a:p>
        </p:txBody>
      </p:sp>
      <p:sp>
        <p:nvSpPr>
          <p:cNvPr id="6" name="Seta: Divisa 2">
            <a:extLst>
              <a:ext uri="{FF2B5EF4-FFF2-40B4-BE49-F238E27FC236}">
                <a16:creationId xmlns="" xmlns:a16="http://schemas.microsoft.com/office/drawing/2014/main" id="{F59EB8EB-F14F-4519-A3D5-6418FC84624B}"/>
              </a:ext>
            </a:extLst>
          </p:cNvPr>
          <p:cNvSpPr/>
          <p:nvPr/>
        </p:nvSpPr>
        <p:spPr>
          <a:xfrm>
            <a:off x="581292" y="893239"/>
            <a:ext cx="2531407" cy="423075"/>
          </a:xfrm>
          <a:prstGeom prst="chevron">
            <a:avLst/>
          </a:prstGeom>
          <a:solidFill>
            <a:srgbClr val="005883"/>
          </a:solidFill>
          <a:ln w="28575" algn="ctr">
            <a:noFill/>
            <a:miter lim="800000"/>
            <a:headEnd/>
            <a:tailEnd/>
          </a:ln>
          <a:effectLst/>
        </p:spPr>
        <p:txBody>
          <a:bodyPr lIns="0" tIns="0" rIns="0" bIns="0"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b="1" dirty="0"/>
              <a:t>Oportunidades de Melhoria</a:t>
            </a:r>
          </a:p>
        </p:txBody>
      </p:sp>
      <p:sp>
        <p:nvSpPr>
          <p:cNvPr id="7" name="Retângulo de cantos arredondados 84">
            <a:extLst>
              <a:ext uri="{FF2B5EF4-FFF2-40B4-BE49-F238E27FC236}">
                <a16:creationId xmlns="" xmlns:a16="http://schemas.microsoft.com/office/drawing/2014/main" id="{0CBC0082-1121-4786-9EAB-2D3C9E39B938}"/>
              </a:ext>
            </a:extLst>
          </p:cNvPr>
          <p:cNvSpPr/>
          <p:nvPr/>
        </p:nvSpPr>
        <p:spPr bwMode="gray">
          <a:xfrm>
            <a:off x="581291" y="1411848"/>
            <a:ext cx="2434707" cy="1392072"/>
          </a:xfrm>
          <a:prstGeom prst="roundRect">
            <a:avLst>
              <a:gd name="adj" fmla="val 6998"/>
            </a:avLst>
          </a:prstGeom>
          <a:solidFill>
            <a:srgbClr val="033F60">
              <a:alpha val="50196"/>
            </a:srgbClr>
          </a:solidFill>
          <a:ln w="12700">
            <a:noFill/>
          </a:ln>
        </p:spPr>
        <p:txBody>
          <a:bodyPr wrap="square" lIns="0" tIns="0" rIns="0" bIns="0" rtlCol="0" anchor="ctr" anchorCtr="0">
            <a:noAutofit/>
          </a:bodyPr>
          <a:lstStyle/>
          <a:p>
            <a:pPr marL="269075" indent="-132157" defTabSz="685783" fontAlgn="auto">
              <a:spcBef>
                <a:spcPts val="450"/>
              </a:spcBef>
              <a:spcAft>
                <a:spcPts val="0"/>
              </a:spcAft>
              <a:buFont typeface="Wingdings" pitchFamily="2" charset="2"/>
              <a:buChar char="ü"/>
              <a:defRPr/>
            </a:pPr>
            <a:endParaRPr lang="pt-BR" sz="900" b="1" kern="0" dirty="0">
              <a:solidFill>
                <a:srgbClr val="4BACC6"/>
              </a:solidFill>
              <a:cs typeface="Arial" pitchFamily="34" charset="0"/>
            </a:endParaRPr>
          </a:p>
        </p:txBody>
      </p:sp>
      <p:sp>
        <p:nvSpPr>
          <p:cNvPr id="8" name="Retângulo 7">
            <a:extLst>
              <a:ext uri="{FF2B5EF4-FFF2-40B4-BE49-F238E27FC236}">
                <a16:creationId xmlns="" xmlns:a16="http://schemas.microsoft.com/office/drawing/2014/main" id="{B78A2CDF-F317-4DED-9349-C35E363940E3}"/>
              </a:ext>
            </a:extLst>
          </p:cNvPr>
          <p:cNvSpPr/>
          <p:nvPr/>
        </p:nvSpPr>
        <p:spPr bwMode="gray">
          <a:xfrm>
            <a:off x="603134" y="1473106"/>
            <a:ext cx="2412864" cy="1970998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marL="171450" indent="-171450" eaLnBrk="0" hangingPunct="0">
              <a:buFont typeface="Arial" panose="020B0604020202020204" pitchFamily="34" charset="0"/>
              <a:buChar char="•"/>
            </a:pPr>
            <a:r>
              <a:rPr lang="pt-BR" sz="1500" b="1" dirty="0"/>
              <a:t>Verificado que 90% dos problemas de latência da rede era causado por erros de configuração de equipamentos.</a:t>
            </a:r>
          </a:p>
          <a:p>
            <a:pPr marL="171450" indent="-171450" eaLnBrk="0" hangingPunct="0">
              <a:buFont typeface="Arial" panose="020B0604020202020204" pitchFamily="34" charset="0"/>
              <a:buChar char="•"/>
            </a:pPr>
            <a:endParaRPr lang="pt-BR" sz="1500" b="1" dirty="0">
              <a:solidFill>
                <a:srgbClr val="033F60"/>
              </a:solidFill>
            </a:endParaRPr>
          </a:p>
          <a:p>
            <a:pPr marL="171450" indent="-171450" eaLnBrk="0" hangingPunct="0">
              <a:buFont typeface="Arial" panose="020B0604020202020204" pitchFamily="34" charset="0"/>
              <a:buChar char="•"/>
            </a:pPr>
            <a:endParaRPr lang="pt-BR" sz="1500" b="1" dirty="0">
              <a:solidFill>
                <a:srgbClr val="033F60"/>
              </a:solidFill>
            </a:endParaRPr>
          </a:p>
          <a:p>
            <a:pPr marL="171450" indent="-171450" eaLnBrk="0" hangingPunct="0">
              <a:buFont typeface="Arial" panose="020B0604020202020204" pitchFamily="34" charset="0"/>
              <a:buChar char="•"/>
            </a:pPr>
            <a:endParaRPr lang="pt-BR" sz="1500" b="1" dirty="0">
              <a:solidFill>
                <a:srgbClr val="033F60"/>
              </a:solidFill>
            </a:endParaRPr>
          </a:p>
        </p:txBody>
      </p:sp>
      <p:sp>
        <p:nvSpPr>
          <p:cNvPr id="9" name="Seta: Divisa 2">
            <a:extLst>
              <a:ext uri="{FF2B5EF4-FFF2-40B4-BE49-F238E27FC236}">
                <a16:creationId xmlns="" xmlns:a16="http://schemas.microsoft.com/office/drawing/2014/main" id="{F59EB8EB-F14F-4519-A3D5-6418FC84624B}"/>
              </a:ext>
            </a:extLst>
          </p:cNvPr>
          <p:cNvSpPr/>
          <p:nvPr/>
        </p:nvSpPr>
        <p:spPr>
          <a:xfrm>
            <a:off x="603135" y="2967699"/>
            <a:ext cx="2531407" cy="423075"/>
          </a:xfrm>
          <a:prstGeom prst="chevron">
            <a:avLst/>
          </a:prstGeom>
          <a:solidFill>
            <a:srgbClr val="005883"/>
          </a:solidFill>
          <a:ln w="28575" algn="ctr">
            <a:noFill/>
            <a:miter lim="800000"/>
            <a:headEnd/>
            <a:tailEnd/>
          </a:ln>
          <a:effectLst/>
        </p:spPr>
        <p:txBody>
          <a:bodyPr lIns="0" tIns="0" rIns="0" bIns="0"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b="1" dirty="0"/>
              <a:t>AÇÃO</a:t>
            </a:r>
          </a:p>
        </p:txBody>
      </p:sp>
      <p:sp>
        <p:nvSpPr>
          <p:cNvPr id="10" name="Retângulo de cantos arredondados 84">
            <a:extLst>
              <a:ext uri="{FF2B5EF4-FFF2-40B4-BE49-F238E27FC236}">
                <a16:creationId xmlns="" xmlns:a16="http://schemas.microsoft.com/office/drawing/2014/main" id="{0CBC0082-1121-4786-9EAB-2D3C9E39B938}"/>
              </a:ext>
            </a:extLst>
          </p:cNvPr>
          <p:cNvSpPr/>
          <p:nvPr/>
        </p:nvSpPr>
        <p:spPr bwMode="gray">
          <a:xfrm>
            <a:off x="603134" y="3486307"/>
            <a:ext cx="2434707" cy="855427"/>
          </a:xfrm>
          <a:prstGeom prst="roundRect">
            <a:avLst>
              <a:gd name="adj" fmla="val 6998"/>
            </a:avLst>
          </a:prstGeom>
          <a:solidFill>
            <a:srgbClr val="033F60">
              <a:alpha val="50196"/>
            </a:srgbClr>
          </a:solidFill>
          <a:ln w="12700">
            <a:noFill/>
          </a:ln>
        </p:spPr>
        <p:txBody>
          <a:bodyPr wrap="square" lIns="0" tIns="0" rIns="0" bIns="0" rtlCol="0" anchor="ctr" anchorCtr="0">
            <a:noAutofit/>
          </a:bodyPr>
          <a:lstStyle/>
          <a:p>
            <a:pPr marL="136918" defTabSz="685783" fontAlgn="auto">
              <a:spcBef>
                <a:spcPts val="450"/>
              </a:spcBef>
              <a:spcAft>
                <a:spcPts val="0"/>
              </a:spcAft>
              <a:defRPr/>
            </a:pPr>
            <a:endParaRPr lang="pt-BR" sz="900" b="1" kern="0" dirty="0">
              <a:solidFill>
                <a:srgbClr val="4BACC6"/>
              </a:solidFill>
              <a:cs typeface="Arial" pitchFamily="34" charset="0"/>
            </a:endParaRPr>
          </a:p>
        </p:txBody>
      </p:sp>
      <p:sp>
        <p:nvSpPr>
          <p:cNvPr id="12" name="Retângulo 11">
            <a:extLst>
              <a:ext uri="{FF2B5EF4-FFF2-40B4-BE49-F238E27FC236}">
                <a16:creationId xmlns="" xmlns:a16="http://schemas.microsoft.com/office/drawing/2014/main" id="{B78A2CDF-F317-4DED-9349-C35E363940E3}"/>
              </a:ext>
            </a:extLst>
          </p:cNvPr>
          <p:cNvSpPr/>
          <p:nvPr/>
        </p:nvSpPr>
        <p:spPr bwMode="gray">
          <a:xfrm>
            <a:off x="605576" y="3356236"/>
            <a:ext cx="2412864" cy="1970998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marL="171450" indent="-171450" eaLnBrk="0" hangingPunct="0">
              <a:buFont typeface="Arial" panose="020B0604020202020204" pitchFamily="34" charset="0"/>
              <a:buChar char="•"/>
            </a:pPr>
            <a:r>
              <a:rPr lang="pt-BR" sz="1500" b="1" dirty="0"/>
              <a:t>Correção  de configuração via RPA 4.5k devices</a:t>
            </a:r>
          </a:p>
          <a:p>
            <a:pPr marL="171450" indent="-171450" eaLnBrk="0" hangingPunct="0">
              <a:buFont typeface="Arial" panose="020B0604020202020204" pitchFamily="34" charset="0"/>
              <a:buChar char="•"/>
            </a:pPr>
            <a:endParaRPr lang="pt-BR" sz="1500" b="1" dirty="0"/>
          </a:p>
          <a:p>
            <a:pPr marL="171450" indent="-171450" eaLnBrk="0" hangingPunct="0">
              <a:buFont typeface="Arial" panose="020B0604020202020204" pitchFamily="34" charset="0"/>
              <a:buChar char="•"/>
            </a:pPr>
            <a:endParaRPr lang="pt-BR" sz="1500" b="1" dirty="0">
              <a:solidFill>
                <a:srgbClr val="033F60"/>
              </a:solidFill>
            </a:endParaRPr>
          </a:p>
          <a:p>
            <a:pPr marL="171450" indent="-171450" eaLnBrk="0" hangingPunct="0">
              <a:buFont typeface="Arial" panose="020B0604020202020204" pitchFamily="34" charset="0"/>
              <a:buChar char="•"/>
            </a:pPr>
            <a:endParaRPr lang="pt-BR" sz="1500" b="1" dirty="0">
              <a:solidFill>
                <a:srgbClr val="033F60"/>
              </a:solidFill>
            </a:endParaRPr>
          </a:p>
          <a:p>
            <a:pPr marL="171450" indent="-171450" eaLnBrk="0" hangingPunct="0">
              <a:buFont typeface="Arial" panose="020B0604020202020204" pitchFamily="34" charset="0"/>
              <a:buChar char="•"/>
            </a:pPr>
            <a:endParaRPr lang="pt-BR" sz="1500" b="1" dirty="0">
              <a:solidFill>
                <a:srgbClr val="033F60"/>
              </a:solidFill>
            </a:endParaRPr>
          </a:p>
        </p:txBody>
      </p:sp>
      <p:sp>
        <p:nvSpPr>
          <p:cNvPr id="13" name="Seta: Divisa 2">
            <a:extLst>
              <a:ext uri="{FF2B5EF4-FFF2-40B4-BE49-F238E27FC236}">
                <a16:creationId xmlns="" xmlns:a16="http://schemas.microsoft.com/office/drawing/2014/main" id="{F59EB8EB-F14F-4519-A3D5-6418FC84624B}"/>
              </a:ext>
            </a:extLst>
          </p:cNvPr>
          <p:cNvSpPr/>
          <p:nvPr/>
        </p:nvSpPr>
        <p:spPr>
          <a:xfrm>
            <a:off x="605577" y="4460607"/>
            <a:ext cx="2531407" cy="423075"/>
          </a:xfrm>
          <a:prstGeom prst="chevron">
            <a:avLst/>
          </a:prstGeom>
          <a:solidFill>
            <a:srgbClr val="005883"/>
          </a:solidFill>
          <a:ln w="28575" algn="ctr">
            <a:noFill/>
            <a:miter lim="800000"/>
            <a:headEnd/>
            <a:tailEnd/>
          </a:ln>
          <a:effectLst/>
        </p:spPr>
        <p:txBody>
          <a:bodyPr lIns="0" tIns="0" rIns="0" bIns="0"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b="1" dirty="0"/>
              <a:t>Resultado</a:t>
            </a:r>
          </a:p>
        </p:txBody>
      </p:sp>
      <p:sp>
        <p:nvSpPr>
          <p:cNvPr id="14" name="Retângulo de cantos arredondados 84">
            <a:extLst>
              <a:ext uri="{FF2B5EF4-FFF2-40B4-BE49-F238E27FC236}">
                <a16:creationId xmlns="" xmlns:a16="http://schemas.microsoft.com/office/drawing/2014/main" id="{0CBC0082-1121-4786-9EAB-2D3C9E39B938}"/>
              </a:ext>
            </a:extLst>
          </p:cNvPr>
          <p:cNvSpPr/>
          <p:nvPr/>
        </p:nvSpPr>
        <p:spPr bwMode="gray">
          <a:xfrm>
            <a:off x="605576" y="4979215"/>
            <a:ext cx="2434707" cy="1110881"/>
          </a:xfrm>
          <a:prstGeom prst="roundRect">
            <a:avLst>
              <a:gd name="adj" fmla="val 6998"/>
            </a:avLst>
          </a:prstGeom>
          <a:solidFill>
            <a:srgbClr val="033F60">
              <a:alpha val="50196"/>
            </a:srgbClr>
          </a:solidFill>
          <a:ln w="12700">
            <a:noFill/>
          </a:ln>
        </p:spPr>
        <p:txBody>
          <a:bodyPr wrap="square" lIns="0" tIns="0" rIns="0" bIns="0" rtlCol="0" anchor="ctr" anchorCtr="0">
            <a:noAutofit/>
          </a:bodyPr>
          <a:lstStyle/>
          <a:p>
            <a:pPr marL="136918" defTabSz="685783" fontAlgn="auto">
              <a:spcBef>
                <a:spcPts val="450"/>
              </a:spcBef>
              <a:spcAft>
                <a:spcPts val="0"/>
              </a:spcAft>
              <a:defRPr/>
            </a:pPr>
            <a:endParaRPr lang="pt-BR" sz="900" b="1" kern="0" dirty="0">
              <a:solidFill>
                <a:srgbClr val="4BACC6"/>
              </a:solidFill>
              <a:cs typeface="Arial" pitchFamily="34" charset="0"/>
            </a:endParaRPr>
          </a:p>
        </p:txBody>
      </p:sp>
      <p:sp>
        <p:nvSpPr>
          <p:cNvPr id="15" name="Retângulo 14">
            <a:extLst>
              <a:ext uri="{FF2B5EF4-FFF2-40B4-BE49-F238E27FC236}">
                <a16:creationId xmlns="" xmlns:a16="http://schemas.microsoft.com/office/drawing/2014/main" id="{B78A2CDF-F317-4DED-9349-C35E363940E3}"/>
              </a:ext>
            </a:extLst>
          </p:cNvPr>
          <p:cNvSpPr/>
          <p:nvPr/>
        </p:nvSpPr>
        <p:spPr bwMode="gray">
          <a:xfrm>
            <a:off x="662406" y="5104598"/>
            <a:ext cx="2412864" cy="1970998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marL="171450" indent="-171450" eaLnBrk="0" hangingPunct="0">
              <a:buFont typeface="Arial" panose="020B0604020202020204" pitchFamily="34" charset="0"/>
              <a:buChar char="•"/>
            </a:pPr>
            <a:r>
              <a:rPr lang="pt-BR" sz="1500" b="1" dirty="0"/>
              <a:t>Em 45 dias a redução mensal da multa foi de 90% - para:</a:t>
            </a:r>
          </a:p>
          <a:p>
            <a:pPr marL="171450" indent="-171450" eaLnBrk="0" hangingPunct="0">
              <a:buFont typeface="Arial" panose="020B0604020202020204" pitchFamily="34" charset="0"/>
              <a:buChar char="•"/>
            </a:pPr>
            <a:r>
              <a:rPr lang="pt-BR" sz="1500" b="1" dirty="0"/>
              <a:t>R$ 100 mil/mês</a:t>
            </a:r>
          </a:p>
          <a:p>
            <a:pPr marL="171450" indent="-171450" eaLnBrk="0" hangingPunct="0">
              <a:buFont typeface="Arial" panose="020B0604020202020204" pitchFamily="34" charset="0"/>
              <a:buChar char="•"/>
            </a:pPr>
            <a:endParaRPr lang="pt-BR" sz="1500" b="1" dirty="0"/>
          </a:p>
          <a:p>
            <a:pPr marL="171450" indent="-171450" eaLnBrk="0" hangingPunct="0">
              <a:buFont typeface="Arial" panose="020B0604020202020204" pitchFamily="34" charset="0"/>
              <a:buChar char="•"/>
            </a:pPr>
            <a:endParaRPr lang="pt-BR" sz="1500" b="1" dirty="0">
              <a:solidFill>
                <a:srgbClr val="033F60"/>
              </a:solidFill>
            </a:endParaRPr>
          </a:p>
          <a:p>
            <a:pPr marL="171450" indent="-171450" eaLnBrk="0" hangingPunct="0">
              <a:buFont typeface="Arial" panose="020B0604020202020204" pitchFamily="34" charset="0"/>
              <a:buChar char="•"/>
            </a:pPr>
            <a:endParaRPr lang="pt-BR" sz="1500" b="1" dirty="0">
              <a:solidFill>
                <a:srgbClr val="033F60"/>
              </a:solidFill>
            </a:endParaRPr>
          </a:p>
          <a:p>
            <a:pPr marL="171450" indent="-171450" eaLnBrk="0" hangingPunct="0">
              <a:buFont typeface="Arial" panose="020B0604020202020204" pitchFamily="34" charset="0"/>
              <a:buChar char="•"/>
            </a:pPr>
            <a:endParaRPr lang="pt-BR" sz="1500" b="1" dirty="0">
              <a:solidFill>
                <a:srgbClr val="033F60"/>
              </a:solidFill>
            </a:endParaRP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0757" y="656559"/>
            <a:ext cx="8733192" cy="5055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07475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9" grpId="0" animBg="1"/>
      <p:bldP spid="13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="" xmlns:a16="http://schemas.microsoft.com/office/drawing/2014/main" id="{A78B53A9-9E6B-4CA2-8882-EE6B83347176}"/>
              </a:ext>
            </a:extLst>
          </p:cNvPr>
          <p:cNvSpPr txBox="1"/>
          <p:nvPr/>
        </p:nvSpPr>
        <p:spPr>
          <a:xfrm>
            <a:off x="511317" y="167641"/>
            <a:ext cx="82528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Rounded MT Bold" panose="020F0704030504030204" pitchFamily="34" charset="0"/>
                <a:ea typeface="+mn-ea"/>
                <a:cs typeface="+mn-cs"/>
              </a:rPr>
              <a:t>Cases: 2 Gerenciamento de Processos Rede ramo financeiro:</a:t>
            </a:r>
            <a:r>
              <a:rPr kumimoji="0" lang="pt-BR" sz="1800" b="0" i="0" u="none" strike="noStrike" kern="1200" cap="none" spc="0" normalizeH="0" noProof="0" dirty="0">
                <a:ln>
                  <a:noFill/>
                </a:ln>
                <a:effectLst/>
                <a:uLnTx/>
                <a:uFillTx/>
                <a:latin typeface="Arial Rounded MT Bold" panose="020F0704030504030204" pitchFamily="34" charset="0"/>
                <a:ea typeface="+mn-ea"/>
                <a:cs typeface="+mn-cs"/>
              </a:rPr>
              <a:t> Banco</a:t>
            </a:r>
            <a:r>
              <a:rPr kumimoji="0" lang="pt-BR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Rounded MT Bold" panose="020F0704030504030204" pitchFamily="34" charset="0"/>
                <a:ea typeface="+mn-ea"/>
                <a:cs typeface="+mn-cs"/>
              </a:rPr>
              <a:t> 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="" xmlns:a16="http://schemas.microsoft.com/office/drawing/2014/main" id="{1F6AC20E-DEC2-4189-B775-11295C924F7A}"/>
              </a:ext>
            </a:extLst>
          </p:cNvPr>
          <p:cNvSpPr/>
          <p:nvPr/>
        </p:nvSpPr>
        <p:spPr>
          <a:xfrm>
            <a:off x="511317" y="570543"/>
            <a:ext cx="2601382" cy="5433538"/>
          </a:xfrm>
          <a:prstGeom prst="rect">
            <a:avLst/>
          </a:prstGeom>
          <a:solidFill>
            <a:schemeClr val="accent5">
              <a:lumMod val="75000"/>
              <a:alpha val="46000"/>
            </a:schemeClr>
          </a:solidFill>
          <a:ln w="63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pt-BR">
              <a:solidFill>
                <a:schemeClr val="tx1"/>
              </a:solidFill>
              <a:latin typeface="Calibri" panose="020F0502020204030204"/>
            </a:endParaRPr>
          </a:p>
        </p:txBody>
      </p:sp>
      <p:sp>
        <p:nvSpPr>
          <p:cNvPr id="6" name="Seta: Divisa 2">
            <a:extLst>
              <a:ext uri="{FF2B5EF4-FFF2-40B4-BE49-F238E27FC236}">
                <a16:creationId xmlns="" xmlns:a16="http://schemas.microsoft.com/office/drawing/2014/main" id="{F59EB8EB-F14F-4519-A3D5-6418FC84624B}"/>
              </a:ext>
            </a:extLst>
          </p:cNvPr>
          <p:cNvSpPr/>
          <p:nvPr/>
        </p:nvSpPr>
        <p:spPr>
          <a:xfrm>
            <a:off x="581292" y="893239"/>
            <a:ext cx="2531407" cy="423075"/>
          </a:xfrm>
          <a:prstGeom prst="chevron">
            <a:avLst/>
          </a:prstGeom>
          <a:solidFill>
            <a:srgbClr val="005883"/>
          </a:solidFill>
          <a:ln w="28575" algn="ctr">
            <a:noFill/>
            <a:miter lim="800000"/>
            <a:headEnd/>
            <a:tailEnd/>
          </a:ln>
          <a:effectLst/>
        </p:spPr>
        <p:txBody>
          <a:bodyPr lIns="0" tIns="0" rIns="0" bIns="0"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b="1" dirty="0"/>
              <a:t>Missão</a:t>
            </a:r>
          </a:p>
        </p:txBody>
      </p:sp>
      <p:sp>
        <p:nvSpPr>
          <p:cNvPr id="7" name="Retângulo de cantos arredondados 84">
            <a:extLst>
              <a:ext uri="{FF2B5EF4-FFF2-40B4-BE49-F238E27FC236}">
                <a16:creationId xmlns="" xmlns:a16="http://schemas.microsoft.com/office/drawing/2014/main" id="{0CBC0082-1121-4786-9EAB-2D3C9E39B938}"/>
              </a:ext>
            </a:extLst>
          </p:cNvPr>
          <p:cNvSpPr/>
          <p:nvPr/>
        </p:nvSpPr>
        <p:spPr bwMode="gray">
          <a:xfrm>
            <a:off x="581291" y="1411848"/>
            <a:ext cx="2434707" cy="1392072"/>
          </a:xfrm>
          <a:prstGeom prst="roundRect">
            <a:avLst>
              <a:gd name="adj" fmla="val 6998"/>
            </a:avLst>
          </a:prstGeom>
          <a:solidFill>
            <a:srgbClr val="033F60">
              <a:alpha val="50196"/>
            </a:srgbClr>
          </a:solidFill>
          <a:ln w="12700">
            <a:noFill/>
          </a:ln>
        </p:spPr>
        <p:txBody>
          <a:bodyPr wrap="square" lIns="0" tIns="0" rIns="0" bIns="0" rtlCol="0" anchor="ctr" anchorCtr="0">
            <a:noAutofit/>
          </a:bodyPr>
          <a:lstStyle/>
          <a:p>
            <a:pPr marL="269075" indent="-132157" defTabSz="685783" fontAlgn="auto">
              <a:spcBef>
                <a:spcPts val="450"/>
              </a:spcBef>
              <a:spcAft>
                <a:spcPts val="0"/>
              </a:spcAft>
              <a:buFont typeface="Wingdings" pitchFamily="2" charset="2"/>
              <a:buChar char="ü"/>
              <a:defRPr/>
            </a:pPr>
            <a:endParaRPr lang="pt-BR" sz="900" b="1" kern="0" dirty="0">
              <a:solidFill>
                <a:srgbClr val="4BACC6"/>
              </a:solidFill>
              <a:cs typeface="Arial" pitchFamily="34" charset="0"/>
            </a:endParaRPr>
          </a:p>
        </p:txBody>
      </p:sp>
      <p:sp>
        <p:nvSpPr>
          <p:cNvPr id="8" name="Retângulo 7">
            <a:extLst>
              <a:ext uri="{FF2B5EF4-FFF2-40B4-BE49-F238E27FC236}">
                <a16:creationId xmlns="" xmlns:a16="http://schemas.microsoft.com/office/drawing/2014/main" id="{B78A2CDF-F317-4DED-9349-C35E363940E3}"/>
              </a:ext>
            </a:extLst>
          </p:cNvPr>
          <p:cNvSpPr/>
          <p:nvPr/>
        </p:nvSpPr>
        <p:spPr bwMode="gray">
          <a:xfrm>
            <a:off x="616497" y="1208238"/>
            <a:ext cx="2412864" cy="1970998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marL="171450" indent="-171450" eaLnBrk="0" hangingPunct="0">
              <a:buFont typeface="Arial" panose="020B0604020202020204" pitchFamily="34" charset="0"/>
              <a:buChar char="•"/>
            </a:pPr>
            <a:r>
              <a:rPr lang="pt-BR" sz="1500" b="1" dirty="0"/>
              <a:t>Monitorar ambiente de Alta Disponibilidade com correlação de dados em tempo real.</a:t>
            </a:r>
            <a:endParaRPr lang="pt-BR" sz="1500" b="1" dirty="0">
              <a:solidFill>
                <a:srgbClr val="033F60"/>
              </a:solidFill>
            </a:endParaRPr>
          </a:p>
          <a:p>
            <a:pPr marL="171450" indent="-171450" eaLnBrk="0" hangingPunct="0">
              <a:buFont typeface="Arial" panose="020B0604020202020204" pitchFamily="34" charset="0"/>
              <a:buChar char="•"/>
            </a:pPr>
            <a:endParaRPr lang="pt-BR" sz="1500" b="1" dirty="0">
              <a:solidFill>
                <a:srgbClr val="033F60"/>
              </a:solidFill>
            </a:endParaRPr>
          </a:p>
          <a:p>
            <a:pPr marL="171450" indent="-171450" eaLnBrk="0" hangingPunct="0">
              <a:buFont typeface="Arial" panose="020B0604020202020204" pitchFamily="34" charset="0"/>
              <a:buChar char="•"/>
            </a:pPr>
            <a:endParaRPr lang="pt-BR" sz="1500" b="1" dirty="0">
              <a:solidFill>
                <a:srgbClr val="033F60"/>
              </a:solidFill>
            </a:endParaRPr>
          </a:p>
        </p:txBody>
      </p:sp>
      <p:sp>
        <p:nvSpPr>
          <p:cNvPr id="9" name="Seta: Divisa 2">
            <a:extLst>
              <a:ext uri="{FF2B5EF4-FFF2-40B4-BE49-F238E27FC236}">
                <a16:creationId xmlns="" xmlns:a16="http://schemas.microsoft.com/office/drawing/2014/main" id="{F59EB8EB-F14F-4519-A3D5-6418FC84624B}"/>
              </a:ext>
            </a:extLst>
          </p:cNvPr>
          <p:cNvSpPr/>
          <p:nvPr/>
        </p:nvSpPr>
        <p:spPr>
          <a:xfrm>
            <a:off x="603135" y="2967699"/>
            <a:ext cx="2531407" cy="423075"/>
          </a:xfrm>
          <a:prstGeom prst="chevron">
            <a:avLst/>
          </a:prstGeom>
          <a:solidFill>
            <a:srgbClr val="005883"/>
          </a:solidFill>
          <a:ln w="28575" algn="ctr">
            <a:noFill/>
            <a:miter lim="800000"/>
            <a:headEnd/>
            <a:tailEnd/>
          </a:ln>
          <a:effectLst/>
        </p:spPr>
        <p:txBody>
          <a:bodyPr lIns="0" tIns="0" rIns="0" bIns="0"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b="1" dirty="0"/>
              <a:t>AÇÃO</a:t>
            </a:r>
          </a:p>
        </p:txBody>
      </p:sp>
      <p:sp>
        <p:nvSpPr>
          <p:cNvPr id="10" name="Retângulo de cantos arredondados 84">
            <a:extLst>
              <a:ext uri="{FF2B5EF4-FFF2-40B4-BE49-F238E27FC236}">
                <a16:creationId xmlns="" xmlns:a16="http://schemas.microsoft.com/office/drawing/2014/main" id="{0CBC0082-1121-4786-9EAB-2D3C9E39B938}"/>
              </a:ext>
            </a:extLst>
          </p:cNvPr>
          <p:cNvSpPr/>
          <p:nvPr/>
        </p:nvSpPr>
        <p:spPr bwMode="gray">
          <a:xfrm>
            <a:off x="603134" y="3486307"/>
            <a:ext cx="2434707" cy="2409525"/>
          </a:xfrm>
          <a:prstGeom prst="roundRect">
            <a:avLst>
              <a:gd name="adj" fmla="val 6998"/>
            </a:avLst>
          </a:prstGeom>
          <a:solidFill>
            <a:srgbClr val="033F60">
              <a:alpha val="50196"/>
            </a:srgbClr>
          </a:solidFill>
          <a:ln w="12700">
            <a:noFill/>
          </a:ln>
        </p:spPr>
        <p:txBody>
          <a:bodyPr wrap="square" lIns="0" tIns="0" rIns="0" bIns="0" rtlCol="0" anchor="ctr" anchorCtr="0">
            <a:noAutofit/>
          </a:bodyPr>
          <a:lstStyle/>
          <a:p>
            <a:pPr marL="136918" defTabSz="685783" fontAlgn="auto">
              <a:spcBef>
                <a:spcPts val="450"/>
              </a:spcBef>
              <a:spcAft>
                <a:spcPts val="0"/>
              </a:spcAft>
              <a:defRPr/>
            </a:pPr>
            <a:endParaRPr lang="pt-BR" sz="900" b="1" kern="0" dirty="0">
              <a:solidFill>
                <a:srgbClr val="4BACC6"/>
              </a:solidFill>
              <a:cs typeface="Arial" pitchFamily="34" charset="0"/>
            </a:endParaRPr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6984" y="656559"/>
            <a:ext cx="8922435" cy="5553123"/>
          </a:xfrm>
          <a:prstGeom prst="rect">
            <a:avLst/>
          </a:prstGeom>
        </p:spPr>
      </p:pic>
      <p:sp>
        <p:nvSpPr>
          <p:cNvPr id="16" name="Retângulo 15">
            <a:extLst>
              <a:ext uri="{FF2B5EF4-FFF2-40B4-BE49-F238E27FC236}">
                <a16:creationId xmlns="" xmlns:a16="http://schemas.microsoft.com/office/drawing/2014/main" id="{B78A2CDF-F317-4DED-9349-C35E363940E3}"/>
              </a:ext>
            </a:extLst>
          </p:cNvPr>
          <p:cNvSpPr/>
          <p:nvPr/>
        </p:nvSpPr>
        <p:spPr bwMode="gray">
          <a:xfrm>
            <a:off x="662406" y="4034389"/>
            <a:ext cx="2412864" cy="1970998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marL="171450" indent="-171450" eaLnBrk="0" hangingPunct="0">
              <a:buFont typeface="Arial" panose="020B0604020202020204" pitchFamily="34" charset="0"/>
              <a:buChar char="•"/>
            </a:pPr>
            <a:r>
              <a:rPr lang="pt-BR" sz="1500" b="1" dirty="0"/>
              <a:t>Gerenciamento de Conectividade</a:t>
            </a:r>
          </a:p>
          <a:p>
            <a:pPr marL="171450" indent="-171450" eaLnBrk="0" hangingPunct="0">
              <a:buFont typeface="Arial" panose="020B0604020202020204" pitchFamily="34" charset="0"/>
              <a:buChar char="•"/>
            </a:pPr>
            <a:r>
              <a:rPr lang="pt-BR" sz="1500" b="1" dirty="0"/>
              <a:t>Gerenciamento de Configuração</a:t>
            </a:r>
          </a:p>
          <a:p>
            <a:pPr marL="171450" indent="-171450" eaLnBrk="0" hangingPunct="0">
              <a:buFont typeface="Arial" panose="020B0604020202020204" pitchFamily="34" charset="0"/>
              <a:buChar char="•"/>
            </a:pPr>
            <a:r>
              <a:rPr lang="pt-BR" sz="1500" b="1" dirty="0"/>
              <a:t>Gerenciamento de Logs</a:t>
            </a:r>
          </a:p>
          <a:p>
            <a:pPr marL="171450" indent="-171450" eaLnBrk="0" hangingPunct="0">
              <a:buFont typeface="Arial" panose="020B0604020202020204" pitchFamily="34" charset="0"/>
              <a:buChar char="•"/>
            </a:pPr>
            <a:r>
              <a:rPr lang="pt-BR" sz="1500" b="1" dirty="0"/>
              <a:t>Gerenciamento de Sensores</a:t>
            </a:r>
          </a:p>
          <a:p>
            <a:pPr marL="171450" indent="-171450" eaLnBrk="0" hangingPunct="0">
              <a:buFont typeface="Arial" panose="020B0604020202020204" pitchFamily="34" charset="0"/>
              <a:buChar char="•"/>
            </a:pPr>
            <a:r>
              <a:rPr lang="pt-BR" sz="1500" b="1" dirty="0"/>
              <a:t>Correlação de Dados</a:t>
            </a:r>
          </a:p>
          <a:p>
            <a:pPr marL="171450" indent="-171450" eaLnBrk="0" hangingPunct="0">
              <a:buFont typeface="Arial" panose="020B0604020202020204" pitchFamily="34" charset="0"/>
              <a:buChar char="•"/>
            </a:pPr>
            <a:r>
              <a:rPr lang="pt-BR" sz="1500" b="1" dirty="0"/>
              <a:t>Predição</a:t>
            </a:r>
          </a:p>
          <a:p>
            <a:pPr marL="171450" indent="-171450" eaLnBrk="0" hangingPunct="0">
              <a:buFont typeface="Arial" panose="020B0604020202020204" pitchFamily="34" charset="0"/>
              <a:buChar char="•"/>
            </a:pPr>
            <a:endParaRPr lang="pt-BR" sz="1500" b="1" dirty="0"/>
          </a:p>
          <a:p>
            <a:pPr marL="171450" indent="-171450" eaLnBrk="0" hangingPunct="0">
              <a:buFont typeface="Arial" panose="020B0604020202020204" pitchFamily="34" charset="0"/>
              <a:buChar char="•"/>
            </a:pPr>
            <a:endParaRPr lang="pt-BR" sz="1500" b="1" dirty="0">
              <a:solidFill>
                <a:srgbClr val="033F60"/>
              </a:solidFill>
            </a:endParaRPr>
          </a:p>
          <a:p>
            <a:pPr marL="171450" indent="-171450" eaLnBrk="0" hangingPunct="0">
              <a:buFont typeface="Arial" panose="020B0604020202020204" pitchFamily="34" charset="0"/>
              <a:buChar char="•"/>
            </a:pPr>
            <a:endParaRPr lang="pt-BR" sz="1500" b="1" dirty="0">
              <a:solidFill>
                <a:srgbClr val="033F60"/>
              </a:solidFill>
            </a:endParaRPr>
          </a:p>
          <a:p>
            <a:pPr marL="171450" indent="-171450" eaLnBrk="0" hangingPunct="0">
              <a:buFont typeface="Arial" panose="020B0604020202020204" pitchFamily="34" charset="0"/>
              <a:buChar char="•"/>
            </a:pPr>
            <a:endParaRPr lang="pt-BR" sz="1500" b="1" dirty="0">
              <a:solidFill>
                <a:srgbClr val="033F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434593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9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="" xmlns:a16="http://schemas.microsoft.com/office/drawing/2014/main" id="{A78B53A9-9E6B-4CA2-8882-EE6B83347176}"/>
              </a:ext>
            </a:extLst>
          </p:cNvPr>
          <p:cNvSpPr txBox="1"/>
          <p:nvPr/>
        </p:nvSpPr>
        <p:spPr>
          <a:xfrm>
            <a:off x="511317" y="167641"/>
            <a:ext cx="8154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Rounded MT Bold" panose="020F0704030504030204" pitchFamily="34" charset="0"/>
                <a:ea typeface="+mn-ea"/>
                <a:cs typeface="+mn-cs"/>
              </a:rPr>
              <a:t>Cases: 2 Gerenciamento de Processos Rede ramo financeiro:</a:t>
            </a:r>
            <a:r>
              <a:rPr kumimoji="0" lang="pt-BR" sz="1800" b="0" i="0" u="none" strike="noStrike" kern="1200" cap="none" spc="0" normalizeH="0" noProof="0" dirty="0">
                <a:ln>
                  <a:noFill/>
                </a:ln>
                <a:effectLst/>
                <a:uLnTx/>
                <a:uFillTx/>
                <a:latin typeface="Arial Rounded MT Bold" panose="020F0704030504030204" pitchFamily="34" charset="0"/>
                <a:ea typeface="+mn-ea"/>
                <a:cs typeface="+mn-cs"/>
              </a:rPr>
              <a:t> Banco</a:t>
            </a:r>
            <a:r>
              <a:rPr kumimoji="0" lang="pt-BR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Rounded MT Bold" panose="020F0704030504030204" pitchFamily="34" charset="0"/>
                <a:ea typeface="+mn-ea"/>
                <a:cs typeface="+mn-cs"/>
              </a:rPr>
              <a:t> 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="" xmlns:a16="http://schemas.microsoft.com/office/drawing/2014/main" id="{1F6AC20E-DEC2-4189-B775-11295C924F7A}"/>
              </a:ext>
            </a:extLst>
          </p:cNvPr>
          <p:cNvSpPr/>
          <p:nvPr/>
        </p:nvSpPr>
        <p:spPr>
          <a:xfrm>
            <a:off x="511317" y="570543"/>
            <a:ext cx="2601382" cy="5433538"/>
          </a:xfrm>
          <a:prstGeom prst="rect">
            <a:avLst/>
          </a:prstGeom>
          <a:solidFill>
            <a:schemeClr val="accent5">
              <a:lumMod val="75000"/>
              <a:alpha val="46000"/>
            </a:schemeClr>
          </a:solidFill>
          <a:ln w="63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pt-BR">
              <a:solidFill>
                <a:schemeClr val="tx1"/>
              </a:solidFill>
              <a:latin typeface="Calibri" panose="020F0502020204030204"/>
            </a:endParaRPr>
          </a:p>
        </p:txBody>
      </p:sp>
      <p:sp>
        <p:nvSpPr>
          <p:cNvPr id="6" name="Seta: Divisa 2">
            <a:extLst>
              <a:ext uri="{FF2B5EF4-FFF2-40B4-BE49-F238E27FC236}">
                <a16:creationId xmlns="" xmlns:a16="http://schemas.microsoft.com/office/drawing/2014/main" id="{F59EB8EB-F14F-4519-A3D5-6418FC84624B}"/>
              </a:ext>
            </a:extLst>
          </p:cNvPr>
          <p:cNvSpPr/>
          <p:nvPr/>
        </p:nvSpPr>
        <p:spPr>
          <a:xfrm>
            <a:off x="581292" y="893239"/>
            <a:ext cx="2531407" cy="423075"/>
          </a:xfrm>
          <a:prstGeom prst="chevron">
            <a:avLst/>
          </a:prstGeom>
          <a:solidFill>
            <a:srgbClr val="005883"/>
          </a:solidFill>
          <a:ln w="28575" algn="ctr">
            <a:noFill/>
            <a:miter lim="800000"/>
            <a:headEnd/>
            <a:tailEnd/>
          </a:ln>
          <a:effectLst/>
        </p:spPr>
        <p:txBody>
          <a:bodyPr lIns="0" tIns="0" rIns="0" bIns="0"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b="1" dirty="0"/>
              <a:t>Gerenciamento</a:t>
            </a:r>
          </a:p>
        </p:txBody>
      </p:sp>
      <p:sp>
        <p:nvSpPr>
          <p:cNvPr id="7" name="Retângulo de cantos arredondados 84">
            <a:extLst>
              <a:ext uri="{FF2B5EF4-FFF2-40B4-BE49-F238E27FC236}">
                <a16:creationId xmlns="" xmlns:a16="http://schemas.microsoft.com/office/drawing/2014/main" id="{0CBC0082-1121-4786-9EAB-2D3C9E39B938}"/>
              </a:ext>
            </a:extLst>
          </p:cNvPr>
          <p:cNvSpPr/>
          <p:nvPr/>
        </p:nvSpPr>
        <p:spPr bwMode="gray">
          <a:xfrm>
            <a:off x="581291" y="1411847"/>
            <a:ext cx="2434707" cy="3747007"/>
          </a:xfrm>
          <a:prstGeom prst="roundRect">
            <a:avLst>
              <a:gd name="adj" fmla="val 6998"/>
            </a:avLst>
          </a:prstGeom>
          <a:solidFill>
            <a:srgbClr val="033F60">
              <a:alpha val="50196"/>
            </a:srgbClr>
          </a:solidFill>
          <a:ln w="12700">
            <a:noFill/>
          </a:ln>
        </p:spPr>
        <p:txBody>
          <a:bodyPr wrap="square" lIns="0" tIns="0" rIns="0" bIns="0" rtlCol="0" anchor="ctr" anchorCtr="0">
            <a:noAutofit/>
          </a:bodyPr>
          <a:lstStyle/>
          <a:p>
            <a:pPr marL="269075" indent="-132157" defTabSz="685783" fontAlgn="auto">
              <a:spcBef>
                <a:spcPts val="450"/>
              </a:spcBef>
              <a:spcAft>
                <a:spcPts val="0"/>
              </a:spcAft>
              <a:buFont typeface="Wingdings" pitchFamily="2" charset="2"/>
              <a:buChar char="ü"/>
              <a:defRPr/>
            </a:pPr>
            <a:endParaRPr lang="pt-BR" sz="900" b="1" kern="0" dirty="0">
              <a:solidFill>
                <a:srgbClr val="4BACC6"/>
              </a:solidFill>
              <a:cs typeface="Arial" pitchFamily="34" charset="0"/>
            </a:endParaRPr>
          </a:p>
        </p:txBody>
      </p:sp>
      <p:sp>
        <p:nvSpPr>
          <p:cNvPr id="16" name="Retângulo 15">
            <a:extLst>
              <a:ext uri="{FF2B5EF4-FFF2-40B4-BE49-F238E27FC236}">
                <a16:creationId xmlns="" xmlns:a16="http://schemas.microsoft.com/office/drawing/2014/main" id="{B78A2CDF-F317-4DED-9349-C35E363940E3}"/>
              </a:ext>
            </a:extLst>
          </p:cNvPr>
          <p:cNvSpPr/>
          <p:nvPr/>
        </p:nvSpPr>
        <p:spPr bwMode="gray">
          <a:xfrm>
            <a:off x="662406" y="4034389"/>
            <a:ext cx="2412864" cy="1970998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eaLnBrk="0" hangingPunct="0"/>
            <a:endParaRPr lang="pt-BR" sz="1500" b="1" dirty="0"/>
          </a:p>
          <a:p>
            <a:pPr marL="171450" indent="-171450" eaLnBrk="0" hangingPunct="0">
              <a:buFont typeface="Arial" panose="020B0604020202020204" pitchFamily="34" charset="0"/>
              <a:buChar char="•"/>
            </a:pPr>
            <a:endParaRPr lang="pt-BR" sz="1500" b="1" dirty="0"/>
          </a:p>
          <a:p>
            <a:pPr marL="171450" indent="-171450" eaLnBrk="0" hangingPunct="0">
              <a:buFont typeface="Arial" panose="020B0604020202020204" pitchFamily="34" charset="0"/>
              <a:buChar char="•"/>
            </a:pPr>
            <a:endParaRPr lang="pt-BR" sz="1500" b="1" dirty="0">
              <a:solidFill>
                <a:srgbClr val="033F60"/>
              </a:solidFill>
            </a:endParaRPr>
          </a:p>
          <a:p>
            <a:pPr marL="171450" indent="-171450" eaLnBrk="0" hangingPunct="0">
              <a:buFont typeface="Arial" panose="020B0604020202020204" pitchFamily="34" charset="0"/>
              <a:buChar char="•"/>
            </a:pPr>
            <a:endParaRPr lang="pt-BR" sz="1500" b="1" dirty="0">
              <a:solidFill>
                <a:srgbClr val="033F60"/>
              </a:solidFill>
            </a:endParaRPr>
          </a:p>
          <a:p>
            <a:pPr marL="171450" indent="-171450" eaLnBrk="0" hangingPunct="0">
              <a:buFont typeface="Arial" panose="020B0604020202020204" pitchFamily="34" charset="0"/>
              <a:buChar char="•"/>
            </a:pPr>
            <a:endParaRPr lang="pt-BR" sz="1500" b="1" dirty="0">
              <a:solidFill>
                <a:srgbClr val="033F60"/>
              </a:solidFill>
            </a:endParaRPr>
          </a:p>
        </p:txBody>
      </p:sp>
      <p:pic>
        <p:nvPicPr>
          <p:cNvPr id="11" name="Imagem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89110" y="740250"/>
            <a:ext cx="8876037" cy="5265137"/>
          </a:xfrm>
          <a:prstGeom prst="rect">
            <a:avLst/>
          </a:prstGeom>
        </p:spPr>
      </p:pic>
      <p:sp>
        <p:nvSpPr>
          <p:cNvPr id="13" name="Retângulo 12">
            <a:extLst>
              <a:ext uri="{FF2B5EF4-FFF2-40B4-BE49-F238E27FC236}">
                <a16:creationId xmlns="" xmlns:a16="http://schemas.microsoft.com/office/drawing/2014/main" id="{B78A2CDF-F317-4DED-9349-C35E363940E3}"/>
              </a:ext>
            </a:extLst>
          </p:cNvPr>
          <p:cNvSpPr/>
          <p:nvPr/>
        </p:nvSpPr>
        <p:spPr bwMode="gray">
          <a:xfrm>
            <a:off x="616497" y="1208238"/>
            <a:ext cx="2412864" cy="4687594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marL="171450" indent="-171450" eaLnBrk="0" hangingPunct="0">
              <a:buFont typeface="Arial" panose="020B0604020202020204" pitchFamily="34" charset="0"/>
              <a:buChar char="•"/>
            </a:pPr>
            <a:r>
              <a:rPr lang="pt-BR" sz="1500" b="1" dirty="0"/>
              <a:t>Monitorar ambiente de Alta Disponibilidade com correlação de dados em tempo real.</a:t>
            </a:r>
          </a:p>
          <a:p>
            <a:pPr marL="171450" indent="-171450" eaLnBrk="0" hangingPunct="0">
              <a:buFont typeface="Arial" panose="020B0604020202020204" pitchFamily="34" charset="0"/>
              <a:buChar char="•"/>
            </a:pPr>
            <a:endParaRPr lang="pt-BR" sz="1500" b="1" dirty="0"/>
          </a:p>
          <a:p>
            <a:pPr marL="171450" indent="-171450" eaLnBrk="0" hangingPunct="0">
              <a:buFont typeface="Arial" panose="020B0604020202020204" pitchFamily="34" charset="0"/>
              <a:buChar char="•"/>
            </a:pPr>
            <a:r>
              <a:rPr lang="pt-BR" sz="1500" b="1" dirty="0"/>
              <a:t>Gerenciamento de interfaces físicas</a:t>
            </a:r>
          </a:p>
          <a:p>
            <a:pPr marL="171450" indent="-171450" eaLnBrk="0" hangingPunct="0">
              <a:buFont typeface="Arial" panose="020B0604020202020204" pitchFamily="34" charset="0"/>
              <a:buChar char="•"/>
            </a:pPr>
            <a:r>
              <a:rPr lang="pt-BR" sz="1500" b="1" dirty="0"/>
              <a:t>Gerenciamento de interfaces virtuais</a:t>
            </a:r>
          </a:p>
          <a:p>
            <a:pPr marL="171450" indent="-171450" eaLnBrk="0" hangingPunct="0">
              <a:buFont typeface="Arial" panose="020B0604020202020204" pitchFamily="34" charset="0"/>
              <a:buChar char="•"/>
            </a:pPr>
            <a:r>
              <a:rPr lang="pt-BR" sz="1500" b="1" dirty="0"/>
              <a:t>Correlação de dados</a:t>
            </a:r>
          </a:p>
          <a:p>
            <a:pPr marL="171450" indent="-171450" eaLnBrk="0" hangingPunct="0">
              <a:buFont typeface="Arial" panose="020B0604020202020204" pitchFamily="34" charset="0"/>
              <a:buChar char="•"/>
            </a:pPr>
            <a:r>
              <a:rPr lang="pt-BR" sz="1500" b="1" dirty="0"/>
              <a:t>Gerenciamento de latência</a:t>
            </a:r>
          </a:p>
          <a:p>
            <a:pPr marL="171450" indent="-171450" eaLnBrk="0" hangingPunct="0">
              <a:buFont typeface="Arial" panose="020B0604020202020204" pitchFamily="34" charset="0"/>
              <a:buChar char="•"/>
            </a:pPr>
            <a:r>
              <a:rPr lang="pt-BR" sz="1500" b="1" dirty="0"/>
              <a:t>Gerenciamento de Sensores (CPU, Memória, </a:t>
            </a:r>
            <a:r>
              <a:rPr lang="pt-BR" sz="1500" b="1" dirty="0" err="1"/>
              <a:t>etc</a:t>
            </a:r>
            <a:r>
              <a:rPr lang="pt-BR" sz="1500" b="1" dirty="0"/>
              <a:t>)</a:t>
            </a:r>
          </a:p>
          <a:p>
            <a:pPr marL="171450" indent="-171450" eaLnBrk="0" hangingPunct="0">
              <a:buFont typeface="Arial" panose="020B0604020202020204" pitchFamily="34" charset="0"/>
              <a:buChar char="•"/>
            </a:pPr>
            <a:r>
              <a:rPr lang="pt-BR" sz="1500" b="1" dirty="0"/>
              <a:t>Gerenciamento de CFG</a:t>
            </a:r>
          </a:p>
          <a:p>
            <a:pPr eaLnBrk="0" hangingPunct="0"/>
            <a:endParaRPr lang="pt-BR" sz="1500" b="1" dirty="0">
              <a:solidFill>
                <a:srgbClr val="033F60"/>
              </a:solidFill>
            </a:endParaRPr>
          </a:p>
          <a:p>
            <a:pPr marL="171450" indent="-171450" eaLnBrk="0" hangingPunct="0">
              <a:buFont typeface="Arial" panose="020B0604020202020204" pitchFamily="34" charset="0"/>
              <a:buChar char="•"/>
            </a:pPr>
            <a:endParaRPr lang="pt-BR" sz="1500" b="1" dirty="0">
              <a:solidFill>
                <a:srgbClr val="033F60"/>
              </a:solidFill>
            </a:endParaRPr>
          </a:p>
          <a:p>
            <a:pPr marL="171450" indent="-171450" eaLnBrk="0" hangingPunct="0">
              <a:buFont typeface="Arial" panose="020B0604020202020204" pitchFamily="34" charset="0"/>
              <a:buChar char="•"/>
            </a:pPr>
            <a:endParaRPr lang="pt-BR" sz="1500" b="1" dirty="0">
              <a:solidFill>
                <a:srgbClr val="033F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37475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="" xmlns:a16="http://schemas.microsoft.com/office/drawing/2014/main" id="{A78B53A9-9E6B-4CA2-8882-EE6B83347176}"/>
              </a:ext>
            </a:extLst>
          </p:cNvPr>
          <p:cNvSpPr txBox="1"/>
          <p:nvPr/>
        </p:nvSpPr>
        <p:spPr>
          <a:xfrm>
            <a:off x="511317" y="167641"/>
            <a:ext cx="79715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Rounded MT Bold" panose="020F0704030504030204" pitchFamily="34" charset="0"/>
                <a:ea typeface="+mn-ea"/>
                <a:cs typeface="+mn-cs"/>
              </a:rPr>
              <a:t>Cases: 2 Gerenciamento de Processos Rede ramo financeiro:</a:t>
            </a:r>
            <a:r>
              <a:rPr kumimoji="0" lang="pt-BR" sz="1800" b="0" i="0" u="none" strike="noStrike" kern="1200" cap="none" spc="0" normalizeH="0" noProof="0" dirty="0">
                <a:ln>
                  <a:noFill/>
                </a:ln>
                <a:effectLst/>
                <a:uLnTx/>
                <a:uFillTx/>
                <a:latin typeface="Arial Rounded MT Bold" panose="020F0704030504030204" pitchFamily="34" charset="0"/>
                <a:ea typeface="+mn-ea"/>
                <a:cs typeface="+mn-cs"/>
              </a:rPr>
              <a:t> Banco</a:t>
            </a:r>
            <a:r>
              <a:rPr kumimoji="0" lang="pt-BR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Rounded MT Bold" panose="020F0704030504030204" pitchFamily="34" charset="0"/>
                <a:ea typeface="+mn-ea"/>
                <a:cs typeface="+mn-cs"/>
              </a:rPr>
              <a:t> 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="" xmlns:a16="http://schemas.microsoft.com/office/drawing/2014/main" id="{1F6AC20E-DEC2-4189-B775-11295C924F7A}"/>
              </a:ext>
            </a:extLst>
          </p:cNvPr>
          <p:cNvSpPr/>
          <p:nvPr/>
        </p:nvSpPr>
        <p:spPr>
          <a:xfrm>
            <a:off x="511317" y="570543"/>
            <a:ext cx="2601382" cy="5433538"/>
          </a:xfrm>
          <a:prstGeom prst="rect">
            <a:avLst/>
          </a:prstGeom>
          <a:solidFill>
            <a:schemeClr val="accent5">
              <a:lumMod val="75000"/>
              <a:alpha val="46000"/>
            </a:schemeClr>
          </a:solidFill>
          <a:ln w="63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pt-BR">
              <a:solidFill>
                <a:schemeClr val="tx1"/>
              </a:solidFill>
              <a:latin typeface="Calibri" panose="020F0502020204030204"/>
            </a:endParaRPr>
          </a:p>
        </p:txBody>
      </p:sp>
      <p:sp>
        <p:nvSpPr>
          <p:cNvPr id="6" name="Seta: Divisa 2">
            <a:extLst>
              <a:ext uri="{FF2B5EF4-FFF2-40B4-BE49-F238E27FC236}">
                <a16:creationId xmlns="" xmlns:a16="http://schemas.microsoft.com/office/drawing/2014/main" id="{F59EB8EB-F14F-4519-A3D5-6418FC84624B}"/>
              </a:ext>
            </a:extLst>
          </p:cNvPr>
          <p:cNvSpPr/>
          <p:nvPr/>
        </p:nvSpPr>
        <p:spPr>
          <a:xfrm>
            <a:off x="603134" y="783302"/>
            <a:ext cx="2531407" cy="518609"/>
          </a:xfrm>
          <a:prstGeom prst="chevron">
            <a:avLst/>
          </a:prstGeom>
          <a:solidFill>
            <a:srgbClr val="005883"/>
          </a:solidFill>
          <a:ln w="28575" algn="ctr">
            <a:noFill/>
            <a:miter lim="800000"/>
            <a:headEnd/>
            <a:tailEnd/>
          </a:ln>
          <a:effectLst/>
        </p:spPr>
        <p:txBody>
          <a:bodyPr lIns="0" tIns="0" rIns="0" bIns="0"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b="1" dirty="0"/>
              <a:t>Gerenciamento Personalizado</a:t>
            </a:r>
          </a:p>
        </p:txBody>
      </p:sp>
      <p:sp>
        <p:nvSpPr>
          <p:cNvPr id="9" name="Seta: Divisa 2">
            <a:extLst>
              <a:ext uri="{FF2B5EF4-FFF2-40B4-BE49-F238E27FC236}">
                <a16:creationId xmlns="" xmlns:a16="http://schemas.microsoft.com/office/drawing/2014/main" id="{F59EB8EB-F14F-4519-A3D5-6418FC84624B}"/>
              </a:ext>
            </a:extLst>
          </p:cNvPr>
          <p:cNvSpPr/>
          <p:nvPr/>
        </p:nvSpPr>
        <p:spPr>
          <a:xfrm>
            <a:off x="548960" y="2544624"/>
            <a:ext cx="2531407" cy="423075"/>
          </a:xfrm>
          <a:prstGeom prst="chevron">
            <a:avLst/>
          </a:prstGeom>
          <a:solidFill>
            <a:srgbClr val="005883"/>
          </a:solidFill>
          <a:ln w="28575" algn="ctr">
            <a:noFill/>
            <a:miter lim="800000"/>
            <a:headEnd/>
            <a:tailEnd/>
          </a:ln>
          <a:effectLst/>
        </p:spPr>
        <p:txBody>
          <a:bodyPr lIns="0" tIns="0" rIns="0" bIns="0"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b="1" dirty="0"/>
              <a:t>PREDIÇÃO</a:t>
            </a:r>
          </a:p>
        </p:txBody>
      </p:sp>
      <p:sp>
        <p:nvSpPr>
          <p:cNvPr id="10" name="Retângulo de cantos arredondados 84">
            <a:extLst>
              <a:ext uri="{FF2B5EF4-FFF2-40B4-BE49-F238E27FC236}">
                <a16:creationId xmlns="" xmlns:a16="http://schemas.microsoft.com/office/drawing/2014/main" id="{0CBC0082-1121-4786-9EAB-2D3C9E39B938}"/>
              </a:ext>
            </a:extLst>
          </p:cNvPr>
          <p:cNvSpPr/>
          <p:nvPr/>
        </p:nvSpPr>
        <p:spPr bwMode="gray">
          <a:xfrm>
            <a:off x="603134" y="3098043"/>
            <a:ext cx="2434707" cy="2920620"/>
          </a:xfrm>
          <a:prstGeom prst="roundRect">
            <a:avLst>
              <a:gd name="adj" fmla="val 6998"/>
            </a:avLst>
          </a:prstGeom>
          <a:solidFill>
            <a:srgbClr val="033F60">
              <a:alpha val="50196"/>
            </a:srgbClr>
          </a:solidFill>
          <a:ln w="12700">
            <a:noFill/>
          </a:ln>
        </p:spPr>
        <p:txBody>
          <a:bodyPr wrap="square" lIns="0" tIns="0" rIns="0" bIns="0" rtlCol="0" anchor="ctr" anchorCtr="0">
            <a:noAutofit/>
          </a:bodyPr>
          <a:lstStyle/>
          <a:p>
            <a:pPr marL="136918" defTabSz="685783" fontAlgn="auto">
              <a:spcBef>
                <a:spcPts val="450"/>
              </a:spcBef>
              <a:spcAft>
                <a:spcPts val="0"/>
              </a:spcAft>
              <a:defRPr/>
            </a:pPr>
            <a:endParaRPr lang="pt-BR" sz="900" b="1" kern="0" dirty="0">
              <a:solidFill>
                <a:srgbClr val="4BACC6"/>
              </a:solidFill>
              <a:cs typeface="Arial" pitchFamily="34" charset="0"/>
            </a:endParaRPr>
          </a:p>
        </p:txBody>
      </p:sp>
      <p:sp>
        <p:nvSpPr>
          <p:cNvPr id="16" name="Retângulo 15">
            <a:extLst>
              <a:ext uri="{FF2B5EF4-FFF2-40B4-BE49-F238E27FC236}">
                <a16:creationId xmlns="" xmlns:a16="http://schemas.microsoft.com/office/drawing/2014/main" id="{B78A2CDF-F317-4DED-9349-C35E363940E3}"/>
              </a:ext>
            </a:extLst>
          </p:cNvPr>
          <p:cNvSpPr/>
          <p:nvPr/>
        </p:nvSpPr>
        <p:spPr bwMode="gray">
          <a:xfrm>
            <a:off x="662406" y="4034389"/>
            <a:ext cx="2412864" cy="1970998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marL="171450" indent="-171450" eaLnBrk="0" hangingPunct="0">
              <a:buFont typeface="Arial" panose="020B0604020202020204" pitchFamily="34" charset="0"/>
              <a:buChar char="•"/>
            </a:pPr>
            <a:r>
              <a:rPr lang="pt-BR" sz="1500" b="1" dirty="0"/>
              <a:t>Antecipação de eventos com risco potencial</a:t>
            </a:r>
          </a:p>
          <a:p>
            <a:pPr marL="171450" indent="-171450" eaLnBrk="0" hangingPunct="0">
              <a:buFont typeface="Arial" panose="020B0604020202020204" pitchFamily="34" charset="0"/>
              <a:buChar char="•"/>
            </a:pPr>
            <a:r>
              <a:rPr lang="pt-BR" sz="1500" b="1" dirty="0"/>
              <a:t>Aumento de disponibilidade</a:t>
            </a:r>
          </a:p>
          <a:p>
            <a:pPr marL="171450" indent="-171450" eaLnBrk="0" hangingPunct="0">
              <a:buFont typeface="Arial" panose="020B0604020202020204" pitchFamily="34" charset="0"/>
              <a:buChar char="•"/>
            </a:pPr>
            <a:r>
              <a:rPr lang="pt-BR" sz="1500" b="1" dirty="0"/>
              <a:t>Gerenciamento de rede Elétrica</a:t>
            </a:r>
          </a:p>
          <a:p>
            <a:pPr marL="171450" indent="-171450" eaLnBrk="0" hangingPunct="0">
              <a:buFont typeface="Arial" panose="020B0604020202020204" pitchFamily="34" charset="0"/>
              <a:buChar char="•"/>
            </a:pPr>
            <a:r>
              <a:rPr lang="pt-BR" sz="1500" b="1" dirty="0"/>
              <a:t>Gerenciamento de Temperatura</a:t>
            </a:r>
          </a:p>
          <a:p>
            <a:pPr marL="171450" indent="-171450" eaLnBrk="0" hangingPunct="0">
              <a:buFont typeface="Arial" panose="020B0604020202020204" pitchFamily="34" charset="0"/>
              <a:buChar char="•"/>
            </a:pPr>
            <a:r>
              <a:rPr lang="pt-BR" sz="1500" b="1" dirty="0"/>
              <a:t>Gerenciamento personalizado de sensores</a:t>
            </a:r>
          </a:p>
          <a:p>
            <a:pPr marL="171450" indent="-171450" eaLnBrk="0" hangingPunct="0">
              <a:buFont typeface="Arial" panose="020B0604020202020204" pitchFamily="34" charset="0"/>
              <a:buChar char="•"/>
            </a:pPr>
            <a:endParaRPr lang="pt-BR" sz="1500" b="1" dirty="0"/>
          </a:p>
          <a:p>
            <a:pPr marL="171450" indent="-171450" eaLnBrk="0" hangingPunct="0">
              <a:buFont typeface="Arial" panose="020B0604020202020204" pitchFamily="34" charset="0"/>
              <a:buChar char="•"/>
            </a:pPr>
            <a:endParaRPr lang="pt-BR" sz="1500" b="1" dirty="0">
              <a:solidFill>
                <a:srgbClr val="033F60"/>
              </a:solidFill>
            </a:endParaRPr>
          </a:p>
          <a:p>
            <a:pPr marL="171450" indent="-171450" eaLnBrk="0" hangingPunct="0">
              <a:buFont typeface="Arial" panose="020B0604020202020204" pitchFamily="34" charset="0"/>
              <a:buChar char="•"/>
            </a:pPr>
            <a:endParaRPr lang="pt-BR" sz="1500" b="1" dirty="0">
              <a:solidFill>
                <a:srgbClr val="033F60"/>
              </a:solidFill>
            </a:endParaRPr>
          </a:p>
          <a:p>
            <a:pPr marL="171450" indent="-171450" eaLnBrk="0" hangingPunct="0">
              <a:buFont typeface="Arial" panose="020B0604020202020204" pitchFamily="34" charset="0"/>
              <a:buChar char="•"/>
            </a:pPr>
            <a:endParaRPr lang="pt-BR" sz="1500" b="1" dirty="0">
              <a:solidFill>
                <a:srgbClr val="033F60"/>
              </a:solidFill>
            </a:endParaRP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4542" y="750176"/>
            <a:ext cx="8818394" cy="5145656"/>
          </a:xfrm>
          <a:prstGeom prst="rect">
            <a:avLst/>
          </a:prstGeom>
        </p:spPr>
      </p:pic>
      <p:sp>
        <p:nvSpPr>
          <p:cNvPr id="12" name="Retângulo de cantos arredondados 84">
            <a:extLst>
              <a:ext uri="{FF2B5EF4-FFF2-40B4-BE49-F238E27FC236}">
                <a16:creationId xmlns="" xmlns:a16="http://schemas.microsoft.com/office/drawing/2014/main" id="{0CBC0082-1121-4786-9EAB-2D3C9E39B938}"/>
              </a:ext>
            </a:extLst>
          </p:cNvPr>
          <p:cNvSpPr/>
          <p:nvPr/>
        </p:nvSpPr>
        <p:spPr bwMode="gray">
          <a:xfrm>
            <a:off x="578148" y="1341515"/>
            <a:ext cx="2434707" cy="1154686"/>
          </a:xfrm>
          <a:prstGeom prst="roundRect">
            <a:avLst>
              <a:gd name="adj" fmla="val 6998"/>
            </a:avLst>
          </a:prstGeom>
          <a:solidFill>
            <a:srgbClr val="033F60">
              <a:alpha val="50196"/>
            </a:srgbClr>
          </a:solidFill>
          <a:ln w="12700">
            <a:noFill/>
          </a:ln>
        </p:spPr>
        <p:txBody>
          <a:bodyPr wrap="square" lIns="0" tIns="0" rIns="0" bIns="0" rtlCol="0" anchor="ctr" anchorCtr="0">
            <a:noAutofit/>
          </a:bodyPr>
          <a:lstStyle/>
          <a:p>
            <a:pPr marL="269075" indent="-132157" defTabSz="685783" fontAlgn="auto">
              <a:spcBef>
                <a:spcPts val="450"/>
              </a:spcBef>
              <a:spcAft>
                <a:spcPts val="0"/>
              </a:spcAft>
              <a:buFont typeface="Wingdings" pitchFamily="2" charset="2"/>
              <a:buChar char="ü"/>
              <a:defRPr/>
            </a:pPr>
            <a:endParaRPr lang="pt-BR" sz="900" b="1" kern="0" dirty="0">
              <a:solidFill>
                <a:srgbClr val="4BACC6"/>
              </a:solidFill>
              <a:cs typeface="Arial" pitchFamily="34" charset="0"/>
            </a:endParaRPr>
          </a:p>
        </p:txBody>
      </p:sp>
      <p:sp>
        <p:nvSpPr>
          <p:cNvPr id="11" name="Retângulo 10">
            <a:extLst>
              <a:ext uri="{FF2B5EF4-FFF2-40B4-BE49-F238E27FC236}">
                <a16:creationId xmlns="" xmlns:a16="http://schemas.microsoft.com/office/drawing/2014/main" id="{B78A2CDF-F317-4DED-9349-C35E363940E3}"/>
              </a:ext>
            </a:extLst>
          </p:cNvPr>
          <p:cNvSpPr/>
          <p:nvPr/>
        </p:nvSpPr>
        <p:spPr bwMode="gray">
          <a:xfrm>
            <a:off x="511317" y="1678391"/>
            <a:ext cx="2412864" cy="985499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marL="171450" indent="-171450" eaLnBrk="0" hangingPunct="0">
              <a:buFont typeface="Arial" panose="020B0604020202020204" pitchFamily="34" charset="0"/>
              <a:buChar char="•"/>
            </a:pPr>
            <a:r>
              <a:rPr lang="pt-BR" sz="1500" b="1" dirty="0"/>
              <a:t>Gerenciamento de Logs e </a:t>
            </a:r>
            <a:r>
              <a:rPr lang="pt-BR" sz="1500" b="1" dirty="0" err="1"/>
              <a:t>Syslogs</a:t>
            </a:r>
            <a:r>
              <a:rPr lang="pt-BR" sz="1500" b="1" dirty="0"/>
              <a:t>. </a:t>
            </a:r>
          </a:p>
          <a:p>
            <a:pPr marL="171450" indent="-171450" eaLnBrk="0" hangingPunct="0">
              <a:buFont typeface="Arial" panose="020B0604020202020204" pitchFamily="34" charset="0"/>
              <a:buChar char="•"/>
            </a:pPr>
            <a:r>
              <a:rPr lang="pt-BR" sz="1500" b="1" dirty="0"/>
              <a:t>16mil devices com volume médio de:</a:t>
            </a:r>
          </a:p>
          <a:p>
            <a:pPr marL="171450" indent="-171450" eaLnBrk="0" hangingPunct="0">
              <a:buFont typeface="Arial" panose="020B0604020202020204" pitchFamily="34" charset="0"/>
              <a:buChar char="•"/>
            </a:pPr>
            <a:r>
              <a:rPr lang="pt-BR" sz="1500" b="1" dirty="0"/>
              <a:t>2 Milhões de registros.</a:t>
            </a:r>
          </a:p>
          <a:p>
            <a:pPr eaLnBrk="0" hangingPunct="0"/>
            <a:endParaRPr lang="pt-BR" sz="1500" b="1" dirty="0">
              <a:solidFill>
                <a:srgbClr val="033F60"/>
              </a:solidFill>
            </a:endParaRPr>
          </a:p>
          <a:p>
            <a:pPr marL="171450" indent="-171450" eaLnBrk="0" hangingPunct="0">
              <a:buFont typeface="Arial" panose="020B0604020202020204" pitchFamily="34" charset="0"/>
              <a:buChar char="•"/>
            </a:pPr>
            <a:endParaRPr lang="pt-BR" sz="1500" b="1" dirty="0">
              <a:solidFill>
                <a:srgbClr val="033F60"/>
              </a:solidFill>
            </a:endParaRPr>
          </a:p>
          <a:p>
            <a:pPr marL="171450" indent="-171450" eaLnBrk="0" hangingPunct="0">
              <a:buFont typeface="Arial" panose="020B0604020202020204" pitchFamily="34" charset="0"/>
              <a:buChar char="•"/>
            </a:pPr>
            <a:endParaRPr lang="pt-BR" sz="1500" b="1" dirty="0">
              <a:solidFill>
                <a:srgbClr val="033F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37475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9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="" xmlns:a16="http://schemas.microsoft.com/office/drawing/2014/main" id="{A78B53A9-9E6B-4CA2-8882-EE6B83347176}"/>
              </a:ext>
            </a:extLst>
          </p:cNvPr>
          <p:cNvSpPr txBox="1"/>
          <p:nvPr/>
        </p:nvSpPr>
        <p:spPr>
          <a:xfrm>
            <a:off x="511317" y="167641"/>
            <a:ext cx="83231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Rounded MT Bold" panose="020F0704030504030204" pitchFamily="34" charset="0"/>
                <a:ea typeface="+mn-ea"/>
                <a:cs typeface="+mn-cs"/>
              </a:rPr>
              <a:t>Cases: 2 Gerenciamento de Processos Rede ramo financeiro:</a:t>
            </a:r>
            <a:r>
              <a:rPr kumimoji="0" lang="pt-BR" sz="1800" b="0" i="0" u="none" strike="noStrike" kern="1200" cap="none" spc="0" normalizeH="0" noProof="0" dirty="0">
                <a:ln>
                  <a:noFill/>
                </a:ln>
                <a:effectLst/>
                <a:uLnTx/>
                <a:uFillTx/>
                <a:latin typeface="Arial Rounded MT Bold" panose="020F0704030504030204" pitchFamily="34" charset="0"/>
                <a:ea typeface="+mn-ea"/>
                <a:cs typeface="+mn-cs"/>
              </a:rPr>
              <a:t> Banco</a:t>
            </a:r>
            <a:r>
              <a:rPr kumimoji="0" lang="pt-BR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Rounded MT Bold" panose="020F0704030504030204" pitchFamily="34" charset="0"/>
                <a:ea typeface="+mn-ea"/>
                <a:cs typeface="+mn-cs"/>
              </a:rPr>
              <a:t> 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="" xmlns:a16="http://schemas.microsoft.com/office/drawing/2014/main" id="{1F6AC20E-DEC2-4189-B775-11295C924F7A}"/>
              </a:ext>
            </a:extLst>
          </p:cNvPr>
          <p:cNvSpPr/>
          <p:nvPr/>
        </p:nvSpPr>
        <p:spPr>
          <a:xfrm>
            <a:off x="511317" y="570543"/>
            <a:ext cx="2601382" cy="5433538"/>
          </a:xfrm>
          <a:prstGeom prst="rect">
            <a:avLst/>
          </a:prstGeom>
          <a:solidFill>
            <a:schemeClr val="accent5">
              <a:lumMod val="75000"/>
              <a:alpha val="46000"/>
            </a:schemeClr>
          </a:solidFill>
          <a:ln w="63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pt-BR">
              <a:solidFill>
                <a:schemeClr val="tx1"/>
              </a:solidFill>
              <a:latin typeface="Calibri" panose="020F0502020204030204"/>
            </a:endParaRPr>
          </a:p>
        </p:txBody>
      </p:sp>
      <p:sp>
        <p:nvSpPr>
          <p:cNvPr id="6" name="Seta: Divisa 2">
            <a:extLst>
              <a:ext uri="{FF2B5EF4-FFF2-40B4-BE49-F238E27FC236}">
                <a16:creationId xmlns="" xmlns:a16="http://schemas.microsoft.com/office/drawing/2014/main" id="{F59EB8EB-F14F-4519-A3D5-6418FC84624B}"/>
              </a:ext>
            </a:extLst>
          </p:cNvPr>
          <p:cNvSpPr/>
          <p:nvPr/>
        </p:nvSpPr>
        <p:spPr>
          <a:xfrm>
            <a:off x="581292" y="786013"/>
            <a:ext cx="2531407" cy="530302"/>
          </a:xfrm>
          <a:prstGeom prst="chevron">
            <a:avLst/>
          </a:prstGeom>
          <a:solidFill>
            <a:srgbClr val="005883"/>
          </a:solidFill>
          <a:ln w="28575" algn="ctr">
            <a:noFill/>
            <a:miter lim="800000"/>
            <a:headEnd/>
            <a:tailEnd/>
          </a:ln>
          <a:effectLst/>
        </p:spPr>
        <p:txBody>
          <a:bodyPr lIns="0" tIns="0" rIns="0" bIns="0"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b="1" dirty="0"/>
              <a:t>Gerenciamento de Interfaces</a:t>
            </a:r>
          </a:p>
        </p:txBody>
      </p:sp>
      <p:sp>
        <p:nvSpPr>
          <p:cNvPr id="7" name="Retângulo de cantos arredondados 84">
            <a:extLst>
              <a:ext uri="{FF2B5EF4-FFF2-40B4-BE49-F238E27FC236}">
                <a16:creationId xmlns="" xmlns:a16="http://schemas.microsoft.com/office/drawing/2014/main" id="{0CBC0082-1121-4786-9EAB-2D3C9E39B938}"/>
              </a:ext>
            </a:extLst>
          </p:cNvPr>
          <p:cNvSpPr/>
          <p:nvPr/>
        </p:nvSpPr>
        <p:spPr bwMode="gray">
          <a:xfrm>
            <a:off x="581291" y="1411848"/>
            <a:ext cx="2434707" cy="1392072"/>
          </a:xfrm>
          <a:prstGeom prst="roundRect">
            <a:avLst>
              <a:gd name="adj" fmla="val 6998"/>
            </a:avLst>
          </a:prstGeom>
          <a:solidFill>
            <a:srgbClr val="033F60">
              <a:alpha val="50196"/>
            </a:srgbClr>
          </a:solidFill>
          <a:ln w="12700">
            <a:noFill/>
          </a:ln>
        </p:spPr>
        <p:txBody>
          <a:bodyPr wrap="square" lIns="0" tIns="0" rIns="0" bIns="0" rtlCol="0" anchor="ctr" anchorCtr="0">
            <a:noAutofit/>
          </a:bodyPr>
          <a:lstStyle/>
          <a:p>
            <a:pPr marL="269075" indent="-132157" defTabSz="685783" fontAlgn="auto">
              <a:spcBef>
                <a:spcPts val="450"/>
              </a:spcBef>
              <a:spcAft>
                <a:spcPts val="0"/>
              </a:spcAft>
              <a:buFont typeface="Wingdings" pitchFamily="2" charset="2"/>
              <a:buChar char="ü"/>
              <a:defRPr/>
            </a:pPr>
            <a:endParaRPr lang="pt-BR" sz="900" b="1" kern="0" dirty="0">
              <a:solidFill>
                <a:srgbClr val="4BACC6"/>
              </a:solidFill>
              <a:cs typeface="Arial" pitchFamily="34" charset="0"/>
            </a:endParaRPr>
          </a:p>
        </p:txBody>
      </p:sp>
      <p:sp>
        <p:nvSpPr>
          <p:cNvPr id="8" name="Retângulo 7">
            <a:extLst>
              <a:ext uri="{FF2B5EF4-FFF2-40B4-BE49-F238E27FC236}">
                <a16:creationId xmlns="" xmlns:a16="http://schemas.microsoft.com/office/drawing/2014/main" id="{B78A2CDF-F317-4DED-9349-C35E363940E3}"/>
              </a:ext>
            </a:extLst>
          </p:cNvPr>
          <p:cNvSpPr/>
          <p:nvPr/>
        </p:nvSpPr>
        <p:spPr bwMode="gray">
          <a:xfrm>
            <a:off x="616497" y="1109762"/>
            <a:ext cx="2412864" cy="1970998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marL="171450" indent="-171450" eaLnBrk="0" hangingPunct="0">
              <a:buFont typeface="Arial" panose="020B0604020202020204" pitchFamily="34" charset="0"/>
              <a:buChar char="•"/>
            </a:pPr>
            <a:r>
              <a:rPr lang="pt-BR" sz="1500" b="1" dirty="0"/>
              <a:t>Monitorar interfaces e dados de tráfego</a:t>
            </a:r>
            <a:endParaRPr lang="pt-BR" sz="1500" b="1" dirty="0">
              <a:solidFill>
                <a:srgbClr val="033F60"/>
              </a:solidFill>
            </a:endParaRPr>
          </a:p>
        </p:txBody>
      </p:sp>
      <p:sp>
        <p:nvSpPr>
          <p:cNvPr id="9" name="Seta: Divisa 2">
            <a:extLst>
              <a:ext uri="{FF2B5EF4-FFF2-40B4-BE49-F238E27FC236}">
                <a16:creationId xmlns="" xmlns:a16="http://schemas.microsoft.com/office/drawing/2014/main" id="{F59EB8EB-F14F-4519-A3D5-6418FC84624B}"/>
              </a:ext>
            </a:extLst>
          </p:cNvPr>
          <p:cNvSpPr/>
          <p:nvPr/>
        </p:nvSpPr>
        <p:spPr>
          <a:xfrm>
            <a:off x="603135" y="2967699"/>
            <a:ext cx="2531407" cy="423075"/>
          </a:xfrm>
          <a:prstGeom prst="chevron">
            <a:avLst/>
          </a:prstGeom>
          <a:solidFill>
            <a:srgbClr val="005883"/>
          </a:solidFill>
          <a:ln w="28575" algn="ctr">
            <a:noFill/>
            <a:miter lim="800000"/>
            <a:headEnd/>
            <a:tailEnd/>
          </a:ln>
          <a:effectLst/>
        </p:spPr>
        <p:txBody>
          <a:bodyPr lIns="0" tIns="0" rIns="0" bIns="0"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b="1" dirty="0"/>
              <a:t>Predição</a:t>
            </a:r>
          </a:p>
        </p:txBody>
      </p:sp>
      <p:sp>
        <p:nvSpPr>
          <p:cNvPr id="10" name="Retângulo de cantos arredondados 84">
            <a:extLst>
              <a:ext uri="{FF2B5EF4-FFF2-40B4-BE49-F238E27FC236}">
                <a16:creationId xmlns="" xmlns:a16="http://schemas.microsoft.com/office/drawing/2014/main" id="{0CBC0082-1121-4786-9EAB-2D3C9E39B938}"/>
              </a:ext>
            </a:extLst>
          </p:cNvPr>
          <p:cNvSpPr/>
          <p:nvPr/>
        </p:nvSpPr>
        <p:spPr bwMode="gray">
          <a:xfrm>
            <a:off x="603134" y="3486307"/>
            <a:ext cx="2434707" cy="2409525"/>
          </a:xfrm>
          <a:prstGeom prst="roundRect">
            <a:avLst>
              <a:gd name="adj" fmla="val 6998"/>
            </a:avLst>
          </a:prstGeom>
          <a:solidFill>
            <a:srgbClr val="033F60">
              <a:alpha val="50196"/>
            </a:srgbClr>
          </a:solidFill>
          <a:ln w="12700">
            <a:noFill/>
          </a:ln>
        </p:spPr>
        <p:txBody>
          <a:bodyPr wrap="square" lIns="0" tIns="0" rIns="0" bIns="0" rtlCol="0" anchor="ctr" anchorCtr="0">
            <a:noAutofit/>
          </a:bodyPr>
          <a:lstStyle/>
          <a:p>
            <a:pPr marL="136918" defTabSz="685783" fontAlgn="auto">
              <a:spcBef>
                <a:spcPts val="450"/>
              </a:spcBef>
              <a:spcAft>
                <a:spcPts val="0"/>
              </a:spcAft>
              <a:defRPr/>
            </a:pPr>
            <a:endParaRPr lang="pt-BR" sz="900" b="1" kern="0" dirty="0">
              <a:solidFill>
                <a:srgbClr val="4BACC6"/>
              </a:solidFill>
              <a:cs typeface="Arial" pitchFamily="34" charset="0"/>
            </a:endParaRPr>
          </a:p>
        </p:txBody>
      </p:sp>
      <p:sp>
        <p:nvSpPr>
          <p:cNvPr id="16" name="Retângulo 15">
            <a:extLst>
              <a:ext uri="{FF2B5EF4-FFF2-40B4-BE49-F238E27FC236}">
                <a16:creationId xmlns="" xmlns:a16="http://schemas.microsoft.com/office/drawing/2014/main" id="{B78A2CDF-F317-4DED-9349-C35E363940E3}"/>
              </a:ext>
            </a:extLst>
          </p:cNvPr>
          <p:cNvSpPr/>
          <p:nvPr/>
        </p:nvSpPr>
        <p:spPr bwMode="gray">
          <a:xfrm>
            <a:off x="662406" y="4034389"/>
            <a:ext cx="2412864" cy="1970998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marL="171450" indent="-171450" eaLnBrk="0" hangingPunct="0">
              <a:buFont typeface="Arial" panose="020B0604020202020204" pitchFamily="34" charset="0"/>
              <a:buChar char="•"/>
            </a:pPr>
            <a:r>
              <a:rPr lang="pt-BR" sz="1500" b="1" dirty="0"/>
              <a:t>Antecipação de problemas com erros em links</a:t>
            </a:r>
          </a:p>
          <a:p>
            <a:pPr marL="171450" indent="-171450" eaLnBrk="0" hangingPunct="0">
              <a:buFont typeface="Arial" panose="020B0604020202020204" pitchFamily="34" charset="0"/>
              <a:buChar char="•"/>
            </a:pPr>
            <a:r>
              <a:rPr lang="pt-BR" sz="1500" b="1" dirty="0"/>
              <a:t>Antecipação com problemas com alto tráfego</a:t>
            </a:r>
          </a:p>
          <a:p>
            <a:pPr marL="171450" indent="-171450" eaLnBrk="0" hangingPunct="0">
              <a:buFont typeface="Arial" panose="020B0604020202020204" pitchFamily="34" charset="0"/>
              <a:buChar char="•"/>
            </a:pPr>
            <a:r>
              <a:rPr lang="pt-BR" sz="1500" b="1" dirty="0"/>
              <a:t>Antecipação de perdas de pacotes.</a:t>
            </a:r>
          </a:p>
          <a:p>
            <a:pPr marL="171450" indent="-171450" eaLnBrk="0" hangingPunct="0">
              <a:buFont typeface="Arial" panose="020B0604020202020204" pitchFamily="34" charset="0"/>
              <a:buChar char="•"/>
            </a:pPr>
            <a:endParaRPr lang="pt-BR" sz="1500" b="1" dirty="0"/>
          </a:p>
          <a:p>
            <a:pPr marL="171450" indent="-171450" eaLnBrk="0" hangingPunct="0">
              <a:buFont typeface="Arial" panose="020B0604020202020204" pitchFamily="34" charset="0"/>
              <a:buChar char="•"/>
            </a:pPr>
            <a:endParaRPr lang="pt-BR" sz="1500" b="1" dirty="0">
              <a:solidFill>
                <a:srgbClr val="033F60"/>
              </a:solidFill>
            </a:endParaRPr>
          </a:p>
          <a:p>
            <a:pPr marL="171450" indent="-171450" eaLnBrk="0" hangingPunct="0">
              <a:buFont typeface="Arial" panose="020B0604020202020204" pitchFamily="34" charset="0"/>
              <a:buChar char="•"/>
            </a:pPr>
            <a:endParaRPr lang="pt-BR" sz="1500" b="1" dirty="0">
              <a:solidFill>
                <a:srgbClr val="033F60"/>
              </a:solidFill>
            </a:endParaRPr>
          </a:p>
          <a:p>
            <a:pPr marL="171450" indent="-171450" eaLnBrk="0" hangingPunct="0">
              <a:buFont typeface="Arial" panose="020B0604020202020204" pitchFamily="34" charset="0"/>
              <a:buChar char="•"/>
            </a:pPr>
            <a:endParaRPr lang="pt-BR" sz="1500" b="1" dirty="0">
              <a:solidFill>
                <a:srgbClr val="033F60"/>
              </a:solidFill>
            </a:endParaRP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6209" y="786012"/>
            <a:ext cx="8985791" cy="5109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37475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9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="" xmlns:a16="http://schemas.microsoft.com/office/drawing/2014/main" id="{A78B53A9-9E6B-4CA2-8882-EE6B83347176}"/>
              </a:ext>
            </a:extLst>
          </p:cNvPr>
          <p:cNvSpPr txBox="1"/>
          <p:nvPr/>
        </p:nvSpPr>
        <p:spPr>
          <a:xfrm>
            <a:off x="511317" y="167641"/>
            <a:ext cx="83231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Rounded MT Bold" panose="020F0704030504030204" pitchFamily="34" charset="0"/>
                <a:ea typeface="+mn-ea"/>
                <a:cs typeface="+mn-cs"/>
              </a:rPr>
              <a:t>Cases: </a:t>
            </a:r>
            <a:r>
              <a:rPr kumimoji="0" lang="pt-BR" sz="1800" b="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Arial Rounded MT Bold" panose="020F0704030504030204" pitchFamily="34" charset="0"/>
                <a:ea typeface="+mn-ea"/>
                <a:cs typeface="+mn-cs"/>
              </a:rPr>
              <a:t>3 </a:t>
            </a:r>
            <a:r>
              <a:rPr kumimoji="0" lang="pt-BR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Rounded MT Bold" panose="020F0704030504030204" pitchFamily="34" charset="0"/>
                <a:ea typeface="+mn-ea"/>
                <a:cs typeface="+mn-cs"/>
              </a:rPr>
              <a:t>Gerenciamento de Processos </a:t>
            </a:r>
            <a:r>
              <a:rPr kumimoji="0" lang="pt-BR" sz="1800" b="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Arial Rounded MT Bold" panose="020F0704030504030204" pitchFamily="34" charset="0"/>
                <a:ea typeface="+mn-ea"/>
                <a:cs typeface="+mn-cs"/>
              </a:rPr>
              <a:t>– Ordens de Serviço:</a:t>
            </a:r>
            <a:r>
              <a:rPr kumimoji="0" lang="pt-BR" sz="1800" b="0" i="0" u="none" strike="noStrike" kern="1200" cap="none" spc="0" normalizeH="0" noProof="0" dirty="0" smtClean="0">
                <a:ln>
                  <a:noFill/>
                </a:ln>
                <a:effectLst/>
                <a:uLnTx/>
                <a:uFillTx/>
                <a:latin typeface="Arial Rounded MT Bold" panose="020F0704030504030204" pitchFamily="34" charset="0"/>
                <a:ea typeface="+mn-ea"/>
                <a:cs typeface="+mn-cs"/>
              </a:rPr>
              <a:t> Operadora</a:t>
            </a:r>
            <a:r>
              <a:rPr kumimoji="0" lang="pt-BR" sz="1800" b="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Arial Rounded MT Bold" panose="020F0704030504030204" pitchFamily="34" charset="0"/>
                <a:ea typeface="+mn-ea"/>
                <a:cs typeface="+mn-cs"/>
              </a:rPr>
              <a:t> </a:t>
            </a:r>
            <a:endParaRPr kumimoji="0" lang="pt-BR" sz="18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</p:txBody>
      </p:sp>
      <p:sp>
        <p:nvSpPr>
          <p:cNvPr id="5" name="Retângulo 4">
            <a:extLst>
              <a:ext uri="{FF2B5EF4-FFF2-40B4-BE49-F238E27FC236}">
                <a16:creationId xmlns="" xmlns:a16="http://schemas.microsoft.com/office/drawing/2014/main" id="{1F6AC20E-DEC2-4189-B775-11295C924F7A}"/>
              </a:ext>
            </a:extLst>
          </p:cNvPr>
          <p:cNvSpPr/>
          <p:nvPr/>
        </p:nvSpPr>
        <p:spPr>
          <a:xfrm>
            <a:off x="511317" y="570543"/>
            <a:ext cx="2601382" cy="5433538"/>
          </a:xfrm>
          <a:prstGeom prst="rect">
            <a:avLst/>
          </a:prstGeom>
          <a:solidFill>
            <a:schemeClr val="accent5">
              <a:lumMod val="75000"/>
              <a:alpha val="46000"/>
            </a:schemeClr>
          </a:solidFill>
          <a:ln w="63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pt-BR">
              <a:solidFill>
                <a:schemeClr val="tx1"/>
              </a:solidFill>
              <a:latin typeface="Calibri" panose="020F0502020204030204"/>
            </a:endParaRPr>
          </a:p>
        </p:txBody>
      </p:sp>
      <p:sp>
        <p:nvSpPr>
          <p:cNvPr id="6" name="Seta: Divisa 2">
            <a:extLst>
              <a:ext uri="{FF2B5EF4-FFF2-40B4-BE49-F238E27FC236}">
                <a16:creationId xmlns="" xmlns:a16="http://schemas.microsoft.com/office/drawing/2014/main" id="{F59EB8EB-F14F-4519-A3D5-6418FC84624B}"/>
              </a:ext>
            </a:extLst>
          </p:cNvPr>
          <p:cNvSpPr/>
          <p:nvPr/>
        </p:nvSpPr>
        <p:spPr>
          <a:xfrm>
            <a:off x="581292" y="786013"/>
            <a:ext cx="2531407" cy="530302"/>
          </a:xfrm>
          <a:prstGeom prst="chevron">
            <a:avLst/>
          </a:prstGeom>
          <a:solidFill>
            <a:srgbClr val="005883"/>
          </a:solidFill>
          <a:ln w="28575" algn="ctr">
            <a:noFill/>
            <a:miter lim="800000"/>
            <a:headEnd/>
            <a:tailEnd/>
          </a:ln>
          <a:effectLst/>
        </p:spPr>
        <p:txBody>
          <a:bodyPr lIns="0" tIns="0" rIns="0" bIns="0"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b="1" dirty="0"/>
              <a:t>Gerenciamento </a:t>
            </a:r>
            <a:r>
              <a:rPr lang="pt-BR" b="1" dirty="0" smtClean="0"/>
              <a:t>Tarefas</a:t>
            </a:r>
            <a:endParaRPr lang="pt-BR" b="1" dirty="0"/>
          </a:p>
        </p:txBody>
      </p:sp>
      <p:sp>
        <p:nvSpPr>
          <p:cNvPr id="7" name="Retângulo de cantos arredondados 84">
            <a:extLst>
              <a:ext uri="{FF2B5EF4-FFF2-40B4-BE49-F238E27FC236}">
                <a16:creationId xmlns="" xmlns:a16="http://schemas.microsoft.com/office/drawing/2014/main" id="{0CBC0082-1121-4786-9EAB-2D3C9E39B938}"/>
              </a:ext>
            </a:extLst>
          </p:cNvPr>
          <p:cNvSpPr/>
          <p:nvPr/>
        </p:nvSpPr>
        <p:spPr bwMode="gray">
          <a:xfrm>
            <a:off x="581291" y="1411848"/>
            <a:ext cx="2434707" cy="1392072"/>
          </a:xfrm>
          <a:prstGeom prst="roundRect">
            <a:avLst>
              <a:gd name="adj" fmla="val 6998"/>
            </a:avLst>
          </a:prstGeom>
          <a:solidFill>
            <a:srgbClr val="033F60">
              <a:alpha val="50196"/>
            </a:srgbClr>
          </a:solidFill>
          <a:ln w="12700">
            <a:noFill/>
          </a:ln>
        </p:spPr>
        <p:txBody>
          <a:bodyPr wrap="square" lIns="0" tIns="0" rIns="0" bIns="0" rtlCol="0" anchor="ctr" anchorCtr="0">
            <a:noAutofit/>
          </a:bodyPr>
          <a:lstStyle/>
          <a:p>
            <a:pPr marL="269075" indent="-132157" defTabSz="685783" fontAlgn="auto">
              <a:spcBef>
                <a:spcPts val="450"/>
              </a:spcBef>
              <a:spcAft>
                <a:spcPts val="0"/>
              </a:spcAft>
              <a:buFont typeface="Wingdings" pitchFamily="2" charset="2"/>
              <a:buChar char="ü"/>
              <a:defRPr/>
            </a:pPr>
            <a:endParaRPr lang="pt-BR" sz="900" b="1" kern="0" dirty="0">
              <a:solidFill>
                <a:srgbClr val="4BACC6"/>
              </a:solidFill>
              <a:cs typeface="Arial" pitchFamily="34" charset="0"/>
            </a:endParaRPr>
          </a:p>
        </p:txBody>
      </p:sp>
      <p:sp>
        <p:nvSpPr>
          <p:cNvPr id="8" name="Retângulo 7">
            <a:extLst>
              <a:ext uri="{FF2B5EF4-FFF2-40B4-BE49-F238E27FC236}">
                <a16:creationId xmlns="" xmlns:a16="http://schemas.microsoft.com/office/drawing/2014/main" id="{B78A2CDF-F317-4DED-9349-C35E363940E3}"/>
              </a:ext>
            </a:extLst>
          </p:cNvPr>
          <p:cNvSpPr/>
          <p:nvPr/>
        </p:nvSpPr>
        <p:spPr bwMode="gray">
          <a:xfrm>
            <a:off x="616497" y="1109762"/>
            <a:ext cx="2412864" cy="1970998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marL="171450" indent="-171450" eaLnBrk="0" hangingPunct="0">
              <a:buFont typeface="Arial" panose="020B0604020202020204" pitchFamily="34" charset="0"/>
              <a:buChar char="•"/>
            </a:pPr>
            <a:r>
              <a:rPr lang="pt-BR" sz="1500" b="1" dirty="0" smtClean="0"/>
              <a:t>Controlar as ordens de serviços executadas na rede da operadora</a:t>
            </a:r>
            <a:endParaRPr lang="pt-BR" sz="1500" b="1" dirty="0">
              <a:solidFill>
                <a:srgbClr val="033F60"/>
              </a:solidFill>
            </a:endParaRPr>
          </a:p>
        </p:txBody>
      </p:sp>
      <p:sp>
        <p:nvSpPr>
          <p:cNvPr id="9" name="Seta: Divisa 2">
            <a:extLst>
              <a:ext uri="{FF2B5EF4-FFF2-40B4-BE49-F238E27FC236}">
                <a16:creationId xmlns="" xmlns:a16="http://schemas.microsoft.com/office/drawing/2014/main" id="{F59EB8EB-F14F-4519-A3D5-6418FC84624B}"/>
              </a:ext>
            </a:extLst>
          </p:cNvPr>
          <p:cNvSpPr/>
          <p:nvPr/>
        </p:nvSpPr>
        <p:spPr>
          <a:xfrm>
            <a:off x="603135" y="2967699"/>
            <a:ext cx="2531407" cy="423075"/>
          </a:xfrm>
          <a:prstGeom prst="chevron">
            <a:avLst/>
          </a:prstGeom>
          <a:solidFill>
            <a:srgbClr val="005883"/>
          </a:solidFill>
          <a:ln w="28575" algn="ctr">
            <a:noFill/>
            <a:miter lim="800000"/>
            <a:headEnd/>
            <a:tailEnd/>
          </a:ln>
          <a:effectLst/>
        </p:spPr>
        <p:txBody>
          <a:bodyPr lIns="0" tIns="0" rIns="0" bIns="0"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b="1" dirty="0"/>
              <a:t>Predição</a:t>
            </a:r>
          </a:p>
        </p:txBody>
      </p:sp>
      <p:sp>
        <p:nvSpPr>
          <p:cNvPr id="10" name="Retângulo de cantos arredondados 84">
            <a:extLst>
              <a:ext uri="{FF2B5EF4-FFF2-40B4-BE49-F238E27FC236}">
                <a16:creationId xmlns="" xmlns:a16="http://schemas.microsoft.com/office/drawing/2014/main" id="{0CBC0082-1121-4786-9EAB-2D3C9E39B938}"/>
              </a:ext>
            </a:extLst>
          </p:cNvPr>
          <p:cNvSpPr/>
          <p:nvPr/>
        </p:nvSpPr>
        <p:spPr bwMode="gray">
          <a:xfrm>
            <a:off x="603134" y="3486307"/>
            <a:ext cx="2434707" cy="2409525"/>
          </a:xfrm>
          <a:prstGeom prst="roundRect">
            <a:avLst>
              <a:gd name="adj" fmla="val 6998"/>
            </a:avLst>
          </a:prstGeom>
          <a:solidFill>
            <a:srgbClr val="033F60">
              <a:alpha val="50196"/>
            </a:srgbClr>
          </a:solidFill>
          <a:ln w="12700">
            <a:noFill/>
          </a:ln>
        </p:spPr>
        <p:txBody>
          <a:bodyPr wrap="square" lIns="0" tIns="0" rIns="0" bIns="0" rtlCol="0" anchor="ctr" anchorCtr="0">
            <a:noAutofit/>
          </a:bodyPr>
          <a:lstStyle/>
          <a:p>
            <a:pPr marL="136918" defTabSz="685783" fontAlgn="auto">
              <a:spcBef>
                <a:spcPts val="450"/>
              </a:spcBef>
              <a:spcAft>
                <a:spcPts val="0"/>
              </a:spcAft>
              <a:defRPr/>
            </a:pPr>
            <a:endParaRPr lang="pt-BR" sz="900" b="1" kern="0" dirty="0">
              <a:solidFill>
                <a:srgbClr val="4BACC6"/>
              </a:solidFill>
              <a:cs typeface="Arial" pitchFamily="34" charset="0"/>
            </a:endParaRPr>
          </a:p>
        </p:txBody>
      </p:sp>
      <p:sp>
        <p:nvSpPr>
          <p:cNvPr id="16" name="Retângulo 15">
            <a:extLst>
              <a:ext uri="{FF2B5EF4-FFF2-40B4-BE49-F238E27FC236}">
                <a16:creationId xmlns="" xmlns:a16="http://schemas.microsoft.com/office/drawing/2014/main" id="{B78A2CDF-F317-4DED-9349-C35E363940E3}"/>
              </a:ext>
            </a:extLst>
          </p:cNvPr>
          <p:cNvSpPr/>
          <p:nvPr/>
        </p:nvSpPr>
        <p:spPr bwMode="gray">
          <a:xfrm>
            <a:off x="662406" y="4034389"/>
            <a:ext cx="2412864" cy="1970998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marL="171450" indent="-171450" eaLnBrk="0" hangingPunct="0">
              <a:buFont typeface="Arial" panose="020B0604020202020204" pitchFamily="34" charset="0"/>
              <a:buChar char="•"/>
            </a:pPr>
            <a:r>
              <a:rPr lang="pt-BR" sz="1500" b="1" dirty="0" smtClean="0"/>
              <a:t>Histórico </a:t>
            </a:r>
            <a:r>
              <a:rPr lang="pt-BR" sz="1500" b="1" dirty="0" smtClean="0"/>
              <a:t>de Alterações</a:t>
            </a:r>
          </a:p>
          <a:p>
            <a:pPr marL="171450" indent="-171450" eaLnBrk="0" hangingPunct="0">
              <a:buFont typeface="Arial" panose="020B0604020202020204" pitchFamily="34" charset="0"/>
              <a:buChar char="•"/>
            </a:pPr>
            <a:r>
              <a:rPr lang="pt-BR" sz="1500" b="1" dirty="0" smtClean="0"/>
              <a:t>Antecipação de problemas por novas configurações</a:t>
            </a:r>
            <a:endParaRPr lang="pt-BR" sz="1500" b="1" dirty="0"/>
          </a:p>
          <a:p>
            <a:pPr marL="171450" indent="-171450" eaLnBrk="0" hangingPunct="0">
              <a:buFont typeface="Arial" panose="020B0604020202020204" pitchFamily="34" charset="0"/>
              <a:buChar char="•"/>
            </a:pPr>
            <a:r>
              <a:rPr lang="pt-BR" sz="1500" b="1" dirty="0" smtClean="0"/>
              <a:t>Estabilidade de Rede.</a:t>
            </a:r>
            <a:endParaRPr lang="pt-BR" sz="1500" b="1" dirty="0"/>
          </a:p>
          <a:p>
            <a:pPr marL="171450" indent="-171450" eaLnBrk="0" hangingPunct="0">
              <a:buFont typeface="Arial" panose="020B0604020202020204" pitchFamily="34" charset="0"/>
              <a:buChar char="•"/>
            </a:pPr>
            <a:endParaRPr lang="pt-BR" sz="1500" b="1" dirty="0"/>
          </a:p>
          <a:p>
            <a:pPr marL="171450" indent="-171450" eaLnBrk="0" hangingPunct="0">
              <a:buFont typeface="Arial" panose="020B0604020202020204" pitchFamily="34" charset="0"/>
              <a:buChar char="•"/>
            </a:pPr>
            <a:endParaRPr lang="pt-BR" sz="1500" b="1" dirty="0">
              <a:solidFill>
                <a:srgbClr val="033F60"/>
              </a:solidFill>
            </a:endParaRPr>
          </a:p>
          <a:p>
            <a:pPr marL="171450" indent="-171450" eaLnBrk="0" hangingPunct="0">
              <a:buFont typeface="Arial" panose="020B0604020202020204" pitchFamily="34" charset="0"/>
              <a:buChar char="•"/>
            </a:pPr>
            <a:endParaRPr lang="pt-BR" sz="1500" b="1" dirty="0">
              <a:solidFill>
                <a:srgbClr val="033F60"/>
              </a:solidFill>
            </a:endParaRPr>
          </a:p>
          <a:p>
            <a:pPr marL="171450" indent="-171450" eaLnBrk="0" hangingPunct="0">
              <a:buFont typeface="Arial" panose="020B0604020202020204" pitchFamily="34" charset="0"/>
              <a:buChar char="•"/>
            </a:pPr>
            <a:endParaRPr lang="pt-BR" sz="1500" b="1" dirty="0">
              <a:solidFill>
                <a:srgbClr val="033F60"/>
              </a:solidFill>
            </a:endParaRPr>
          </a:p>
        </p:txBody>
      </p:sp>
      <p:pic>
        <p:nvPicPr>
          <p:cNvPr id="2052" name="Picture 4" descr="C:\Users\User\Desktop\liinkoo\88_arcosdourados\cases\gerenciamento_chamados1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47391" y="711197"/>
            <a:ext cx="8673060" cy="52941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74136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9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="" xmlns:a16="http://schemas.microsoft.com/office/drawing/2014/main" id="{A78B53A9-9E6B-4CA2-8882-EE6B83347176}"/>
              </a:ext>
            </a:extLst>
          </p:cNvPr>
          <p:cNvSpPr txBox="1"/>
          <p:nvPr/>
        </p:nvSpPr>
        <p:spPr>
          <a:xfrm>
            <a:off x="511317" y="167641"/>
            <a:ext cx="83231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Rounded MT Bold" panose="020F0704030504030204" pitchFamily="34" charset="0"/>
                <a:ea typeface="+mn-ea"/>
                <a:cs typeface="+mn-cs"/>
              </a:rPr>
              <a:t>Cases: </a:t>
            </a:r>
            <a:r>
              <a:rPr kumimoji="0" lang="pt-BR" sz="1800" b="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Arial Rounded MT Bold" panose="020F0704030504030204" pitchFamily="34" charset="0"/>
                <a:ea typeface="+mn-ea"/>
                <a:cs typeface="+mn-cs"/>
              </a:rPr>
              <a:t>3 </a:t>
            </a:r>
            <a:r>
              <a:rPr kumimoji="0" lang="pt-BR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Rounded MT Bold" panose="020F0704030504030204" pitchFamily="34" charset="0"/>
                <a:ea typeface="+mn-ea"/>
                <a:cs typeface="+mn-cs"/>
              </a:rPr>
              <a:t>Gerenciamento de Processos </a:t>
            </a:r>
            <a:r>
              <a:rPr kumimoji="0" lang="pt-BR" sz="1800" b="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Arial Rounded MT Bold" panose="020F0704030504030204" pitchFamily="34" charset="0"/>
                <a:ea typeface="+mn-ea"/>
                <a:cs typeface="+mn-cs"/>
              </a:rPr>
              <a:t>– Ordens de Serviço:</a:t>
            </a:r>
            <a:r>
              <a:rPr kumimoji="0" lang="pt-BR" sz="1800" b="0" i="0" u="none" strike="noStrike" kern="1200" cap="none" spc="0" normalizeH="0" noProof="0" dirty="0" smtClean="0">
                <a:ln>
                  <a:noFill/>
                </a:ln>
                <a:effectLst/>
                <a:uLnTx/>
                <a:uFillTx/>
                <a:latin typeface="Arial Rounded MT Bold" panose="020F0704030504030204" pitchFamily="34" charset="0"/>
                <a:ea typeface="+mn-ea"/>
                <a:cs typeface="+mn-cs"/>
              </a:rPr>
              <a:t> Operadora</a:t>
            </a:r>
            <a:r>
              <a:rPr kumimoji="0" lang="pt-BR" sz="1800" b="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Arial Rounded MT Bold" panose="020F0704030504030204" pitchFamily="34" charset="0"/>
                <a:ea typeface="+mn-ea"/>
                <a:cs typeface="+mn-cs"/>
              </a:rPr>
              <a:t> </a:t>
            </a:r>
            <a:endParaRPr kumimoji="0" lang="pt-BR" sz="18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</p:txBody>
      </p:sp>
      <p:sp>
        <p:nvSpPr>
          <p:cNvPr id="5" name="Retângulo 4">
            <a:extLst>
              <a:ext uri="{FF2B5EF4-FFF2-40B4-BE49-F238E27FC236}">
                <a16:creationId xmlns="" xmlns:a16="http://schemas.microsoft.com/office/drawing/2014/main" id="{1F6AC20E-DEC2-4189-B775-11295C924F7A}"/>
              </a:ext>
            </a:extLst>
          </p:cNvPr>
          <p:cNvSpPr/>
          <p:nvPr/>
        </p:nvSpPr>
        <p:spPr>
          <a:xfrm>
            <a:off x="511317" y="570543"/>
            <a:ext cx="2601382" cy="5433538"/>
          </a:xfrm>
          <a:prstGeom prst="rect">
            <a:avLst/>
          </a:prstGeom>
          <a:solidFill>
            <a:schemeClr val="accent5">
              <a:lumMod val="75000"/>
              <a:alpha val="46000"/>
            </a:schemeClr>
          </a:solidFill>
          <a:ln w="63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pt-BR">
              <a:solidFill>
                <a:schemeClr val="tx1"/>
              </a:solidFill>
              <a:latin typeface="Calibri" panose="020F0502020204030204"/>
            </a:endParaRPr>
          </a:p>
        </p:txBody>
      </p:sp>
      <p:sp>
        <p:nvSpPr>
          <p:cNvPr id="6" name="Seta: Divisa 2">
            <a:extLst>
              <a:ext uri="{FF2B5EF4-FFF2-40B4-BE49-F238E27FC236}">
                <a16:creationId xmlns="" xmlns:a16="http://schemas.microsoft.com/office/drawing/2014/main" id="{F59EB8EB-F14F-4519-A3D5-6418FC84624B}"/>
              </a:ext>
            </a:extLst>
          </p:cNvPr>
          <p:cNvSpPr/>
          <p:nvPr/>
        </p:nvSpPr>
        <p:spPr>
          <a:xfrm>
            <a:off x="581292" y="786013"/>
            <a:ext cx="2531407" cy="530302"/>
          </a:xfrm>
          <a:prstGeom prst="chevron">
            <a:avLst/>
          </a:prstGeom>
          <a:solidFill>
            <a:srgbClr val="005883"/>
          </a:solidFill>
          <a:ln w="28575" algn="ctr">
            <a:noFill/>
            <a:miter lim="800000"/>
            <a:headEnd/>
            <a:tailEnd/>
          </a:ln>
          <a:effectLst/>
        </p:spPr>
        <p:txBody>
          <a:bodyPr lIns="0" tIns="0" rIns="0" bIns="0"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b="1" dirty="0"/>
              <a:t>Gerenciamento </a:t>
            </a:r>
            <a:r>
              <a:rPr lang="pt-BR" b="1" dirty="0" smtClean="0"/>
              <a:t>Tarefas</a:t>
            </a:r>
            <a:endParaRPr lang="pt-BR" b="1" dirty="0"/>
          </a:p>
        </p:txBody>
      </p:sp>
      <p:sp>
        <p:nvSpPr>
          <p:cNvPr id="7" name="Retângulo de cantos arredondados 84">
            <a:extLst>
              <a:ext uri="{FF2B5EF4-FFF2-40B4-BE49-F238E27FC236}">
                <a16:creationId xmlns="" xmlns:a16="http://schemas.microsoft.com/office/drawing/2014/main" id="{0CBC0082-1121-4786-9EAB-2D3C9E39B938}"/>
              </a:ext>
            </a:extLst>
          </p:cNvPr>
          <p:cNvSpPr/>
          <p:nvPr/>
        </p:nvSpPr>
        <p:spPr bwMode="gray">
          <a:xfrm>
            <a:off x="581291" y="1411848"/>
            <a:ext cx="2434707" cy="1392072"/>
          </a:xfrm>
          <a:prstGeom prst="roundRect">
            <a:avLst>
              <a:gd name="adj" fmla="val 6998"/>
            </a:avLst>
          </a:prstGeom>
          <a:solidFill>
            <a:srgbClr val="033F60">
              <a:alpha val="50196"/>
            </a:srgbClr>
          </a:solidFill>
          <a:ln w="12700">
            <a:noFill/>
          </a:ln>
        </p:spPr>
        <p:txBody>
          <a:bodyPr wrap="square" lIns="0" tIns="0" rIns="0" bIns="0" rtlCol="0" anchor="ctr" anchorCtr="0">
            <a:noAutofit/>
          </a:bodyPr>
          <a:lstStyle/>
          <a:p>
            <a:pPr marL="269075" indent="-132157" defTabSz="685783" fontAlgn="auto">
              <a:spcBef>
                <a:spcPts val="450"/>
              </a:spcBef>
              <a:spcAft>
                <a:spcPts val="0"/>
              </a:spcAft>
              <a:buFont typeface="Wingdings" pitchFamily="2" charset="2"/>
              <a:buChar char="ü"/>
              <a:defRPr/>
            </a:pPr>
            <a:endParaRPr lang="pt-BR" sz="900" b="1" kern="0" dirty="0">
              <a:solidFill>
                <a:srgbClr val="4BACC6"/>
              </a:solidFill>
              <a:cs typeface="Arial" pitchFamily="34" charset="0"/>
            </a:endParaRPr>
          </a:p>
        </p:txBody>
      </p:sp>
      <p:sp>
        <p:nvSpPr>
          <p:cNvPr id="8" name="Retângulo 7">
            <a:extLst>
              <a:ext uri="{FF2B5EF4-FFF2-40B4-BE49-F238E27FC236}">
                <a16:creationId xmlns="" xmlns:a16="http://schemas.microsoft.com/office/drawing/2014/main" id="{B78A2CDF-F317-4DED-9349-C35E363940E3}"/>
              </a:ext>
            </a:extLst>
          </p:cNvPr>
          <p:cNvSpPr/>
          <p:nvPr/>
        </p:nvSpPr>
        <p:spPr bwMode="gray">
          <a:xfrm>
            <a:off x="616497" y="1109762"/>
            <a:ext cx="2412864" cy="1970998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marL="171450" indent="-171450" eaLnBrk="0" hangingPunct="0">
              <a:buFont typeface="Arial" panose="020B0604020202020204" pitchFamily="34" charset="0"/>
              <a:buChar char="•"/>
            </a:pPr>
            <a:r>
              <a:rPr lang="pt-BR" sz="1500" b="1" dirty="0" smtClean="0"/>
              <a:t>Controlar as ordens de serviços executadas na rede da operadora</a:t>
            </a:r>
            <a:endParaRPr lang="pt-BR" sz="1500" b="1" dirty="0">
              <a:solidFill>
                <a:srgbClr val="033F60"/>
              </a:solidFill>
            </a:endParaRPr>
          </a:p>
        </p:txBody>
      </p:sp>
      <p:sp>
        <p:nvSpPr>
          <p:cNvPr id="9" name="Seta: Divisa 2">
            <a:extLst>
              <a:ext uri="{FF2B5EF4-FFF2-40B4-BE49-F238E27FC236}">
                <a16:creationId xmlns="" xmlns:a16="http://schemas.microsoft.com/office/drawing/2014/main" id="{F59EB8EB-F14F-4519-A3D5-6418FC84624B}"/>
              </a:ext>
            </a:extLst>
          </p:cNvPr>
          <p:cNvSpPr/>
          <p:nvPr/>
        </p:nvSpPr>
        <p:spPr>
          <a:xfrm>
            <a:off x="603135" y="2967699"/>
            <a:ext cx="2531407" cy="423075"/>
          </a:xfrm>
          <a:prstGeom prst="chevron">
            <a:avLst/>
          </a:prstGeom>
          <a:solidFill>
            <a:srgbClr val="005883"/>
          </a:solidFill>
          <a:ln w="28575" algn="ctr">
            <a:noFill/>
            <a:miter lim="800000"/>
            <a:headEnd/>
            <a:tailEnd/>
          </a:ln>
          <a:effectLst/>
        </p:spPr>
        <p:txBody>
          <a:bodyPr lIns="0" tIns="0" rIns="0" bIns="0"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b="1" dirty="0"/>
              <a:t>Predição</a:t>
            </a:r>
          </a:p>
        </p:txBody>
      </p:sp>
      <p:sp>
        <p:nvSpPr>
          <p:cNvPr id="10" name="Retângulo de cantos arredondados 84">
            <a:extLst>
              <a:ext uri="{FF2B5EF4-FFF2-40B4-BE49-F238E27FC236}">
                <a16:creationId xmlns="" xmlns:a16="http://schemas.microsoft.com/office/drawing/2014/main" id="{0CBC0082-1121-4786-9EAB-2D3C9E39B938}"/>
              </a:ext>
            </a:extLst>
          </p:cNvPr>
          <p:cNvSpPr/>
          <p:nvPr/>
        </p:nvSpPr>
        <p:spPr bwMode="gray">
          <a:xfrm>
            <a:off x="603134" y="3486307"/>
            <a:ext cx="2434707" cy="2409525"/>
          </a:xfrm>
          <a:prstGeom prst="roundRect">
            <a:avLst>
              <a:gd name="adj" fmla="val 6998"/>
            </a:avLst>
          </a:prstGeom>
          <a:solidFill>
            <a:srgbClr val="033F60">
              <a:alpha val="50196"/>
            </a:srgbClr>
          </a:solidFill>
          <a:ln w="12700">
            <a:noFill/>
          </a:ln>
        </p:spPr>
        <p:txBody>
          <a:bodyPr wrap="square" lIns="0" tIns="0" rIns="0" bIns="0" rtlCol="0" anchor="ctr" anchorCtr="0">
            <a:noAutofit/>
          </a:bodyPr>
          <a:lstStyle/>
          <a:p>
            <a:pPr marL="136918" defTabSz="685783" fontAlgn="auto">
              <a:spcBef>
                <a:spcPts val="450"/>
              </a:spcBef>
              <a:spcAft>
                <a:spcPts val="0"/>
              </a:spcAft>
              <a:defRPr/>
            </a:pPr>
            <a:endParaRPr lang="pt-BR" sz="900" b="1" kern="0" dirty="0">
              <a:solidFill>
                <a:srgbClr val="4BACC6"/>
              </a:solidFill>
              <a:cs typeface="Arial" pitchFamily="34" charset="0"/>
            </a:endParaRPr>
          </a:p>
        </p:txBody>
      </p:sp>
      <p:sp>
        <p:nvSpPr>
          <p:cNvPr id="16" name="Retângulo 15">
            <a:extLst>
              <a:ext uri="{FF2B5EF4-FFF2-40B4-BE49-F238E27FC236}">
                <a16:creationId xmlns="" xmlns:a16="http://schemas.microsoft.com/office/drawing/2014/main" id="{B78A2CDF-F317-4DED-9349-C35E363940E3}"/>
              </a:ext>
            </a:extLst>
          </p:cNvPr>
          <p:cNvSpPr/>
          <p:nvPr/>
        </p:nvSpPr>
        <p:spPr bwMode="gray">
          <a:xfrm>
            <a:off x="662406" y="4034389"/>
            <a:ext cx="2412864" cy="1970998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marL="171450" indent="-171450" eaLnBrk="0" hangingPunct="0">
              <a:buFont typeface="Arial" panose="020B0604020202020204" pitchFamily="34" charset="0"/>
              <a:buChar char="•"/>
            </a:pPr>
            <a:r>
              <a:rPr lang="pt-BR" sz="1500" b="1" dirty="0" smtClean="0"/>
              <a:t>Oportunidades de automação.</a:t>
            </a:r>
            <a:endParaRPr lang="pt-BR" sz="1500" b="1" dirty="0"/>
          </a:p>
          <a:p>
            <a:pPr marL="171450" indent="-171450" eaLnBrk="0" hangingPunct="0">
              <a:buFont typeface="Arial" panose="020B0604020202020204" pitchFamily="34" charset="0"/>
              <a:buChar char="•"/>
            </a:pPr>
            <a:endParaRPr lang="pt-BR" sz="1500" b="1" dirty="0"/>
          </a:p>
          <a:p>
            <a:pPr marL="171450" indent="-171450" eaLnBrk="0" hangingPunct="0">
              <a:buFont typeface="Arial" panose="020B0604020202020204" pitchFamily="34" charset="0"/>
              <a:buChar char="•"/>
            </a:pPr>
            <a:endParaRPr lang="pt-BR" sz="1500" b="1" dirty="0">
              <a:solidFill>
                <a:srgbClr val="033F60"/>
              </a:solidFill>
            </a:endParaRPr>
          </a:p>
          <a:p>
            <a:pPr marL="171450" indent="-171450" eaLnBrk="0" hangingPunct="0">
              <a:buFont typeface="Arial" panose="020B0604020202020204" pitchFamily="34" charset="0"/>
              <a:buChar char="•"/>
            </a:pPr>
            <a:endParaRPr lang="pt-BR" sz="1500" b="1" dirty="0">
              <a:solidFill>
                <a:srgbClr val="033F60"/>
              </a:solidFill>
            </a:endParaRPr>
          </a:p>
          <a:p>
            <a:pPr marL="171450" indent="-171450" eaLnBrk="0" hangingPunct="0">
              <a:buFont typeface="Arial" panose="020B0604020202020204" pitchFamily="34" charset="0"/>
              <a:buChar char="•"/>
            </a:pPr>
            <a:endParaRPr lang="pt-BR" sz="1500" b="1" dirty="0">
              <a:solidFill>
                <a:srgbClr val="033F60"/>
              </a:solidFill>
            </a:endParaRPr>
          </a:p>
        </p:txBody>
      </p:sp>
      <p:pic>
        <p:nvPicPr>
          <p:cNvPr id="2054" name="Picture 6" descr="C:\Users\User\Desktop\liinkoo\88_arcosdourados\cases\gerenciamento_chamados2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83280" y="607683"/>
            <a:ext cx="5620963" cy="53977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55664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9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lipse 4">
            <a:extLst>
              <a:ext uri="{FF2B5EF4-FFF2-40B4-BE49-F238E27FC236}">
                <a16:creationId xmlns="" xmlns:a16="http://schemas.microsoft.com/office/drawing/2014/main" id="{B37C45E9-519B-4705-828C-CCEAE31C92CB}"/>
              </a:ext>
            </a:extLst>
          </p:cNvPr>
          <p:cNvSpPr/>
          <p:nvPr/>
        </p:nvSpPr>
        <p:spPr>
          <a:xfrm>
            <a:off x="3428999" y="1016556"/>
            <a:ext cx="6000750" cy="2731770"/>
          </a:xfrm>
          <a:prstGeom prst="ellipse">
            <a:avLst/>
          </a:prstGeom>
          <a:solidFill>
            <a:srgbClr val="FF6600">
              <a:alpha val="4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BR">
              <a:solidFill>
                <a:prstClr val="white"/>
              </a:solidFill>
            </a:endParaRPr>
          </a:p>
        </p:txBody>
      </p:sp>
      <p:pic>
        <p:nvPicPr>
          <p:cNvPr id="6" name="Imagem 5">
            <a:extLst>
              <a:ext uri="{FF2B5EF4-FFF2-40B4-BE49-F238E27FC236}">
                <a16:creationId xmlns="" xmlns:a16="http://schemas.microsoft.com/office/drawing/2014/main" id="{B02C047D-6C15-4ADB-BD14-2253CAFE94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620" y="0"/>
            <a:ext cx="2623245" cy="760206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="" xmlns:a16="http://schemas.microsoft.com/office/drawing/2014/main" id="{B934621D-082E-4813-BBB9-F0BFB1E9F113}"/>
              </a:ext>
            </a:extLst>
          </p:cNvPr>
          <p:cNvSpPr txBox="1"/>
          <p:nvPr/>
        </p:nvSpPr>
        <p:spPr>
          <a:xfrm>
            <a:off x="3554729" y="1828086"/>
            <a:ext cx="5566409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6600" b="1" dirty="0"/>
              <a:t>Obrigado!</a:t>
            </a:r>
          </a:p>
        </p:txBody>
      </p:sp>
      <p:sp>
        <p:nvSpPr>
          <p:cNvPr id="8" name="TextBox 2">
            <a:extLst>
              <a:ext uri="{FF2B5EF4-FFF2-40B4-BE49-F238E27FC236}">
                <a16:creationId xmlns="" xmlns:a16="http://schemas.microsoft.com/office/drawing/2014/main" id="{518F3250-823D-4A2B-A454-8947DCF82B00}"/>
              </a:ext>
            </a:extLst>
          </p:cNvPr>
          <p:cNvSpPr txBox="1"/>
          <p:nvPr/>
        </p:nvSpPr>
        <p:spPr>
          <a:xfrm>
            <a:off x="1331063" y="4611231"/>
            <a:ext cx="891840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b="1" dirty="0" err="1">
                <a:solidFill>
                  <a:srgbClr val="003399"/>
                </a:solidFill>
              </a:rPr>
              <a:t>TriadeWan</a:t>
            </a:r>
            <a:r>
              <a:rPr lang="pt-BR" sz="2800" b="1" dirty="0">
                <a:solidFill>
                  <a:srgbClr val="003399"/>
                </a:solidFill>
              </a:rPr>
              <a:t> Comércio e Serviços Eletrônicos</a:t>
            </a:r>
          </a:p>
          <a:p>
            <a:r>
              <a:rPr lang="pt-BR" sz="2800" b="1" dirty="0">
                <a:solidFill>
                  <a:srgbClr val="003399"/>
                </a:solidFill>
              </a:rPr>
              <a:t>Arquitetura de Soluções Digitais</a:t>
            </a:r>
          </a:p>
          <a:p>
            <a:r>
              <a:rPr lang="pt-BR" sz="2800" b="1" dirty="0">
                <a:solidFill>
                  <a:srgbClr val="003399"/>
                </a:solidFill>
              </a:rPr>
              <a:t>(011)-2313-0000</a:t>
            </a:r>
          </a:p>
          <a:p>
            <a:r>
              <a:rPr lang="pt-BR" sz="2800" b="1" dirty="0">
                <a:solidFill>
                  <a:srgbClr val="003399"/>
                </a:solidFill>
              </a:rPr>
              <a:t>https://triadewan.com.br</a:t>
            </a:r>
            <a:endParaRPr lang="pt-BR" sz="2800" dirty="0">
              <a:solidFill>
                <a:srgbClr val="00339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2264679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gradFill rotWithShape="1">
          <a:gsLst>
            <a:gs pos="10000">
              <a:schemeClr val="tx1">
                <a:lumMod val="65000"/>
              </a:schemeClr>
            </a:gs>
            <a:gs pos="100000">
              <a:schemeClr val="bg2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lão de Fala: Oval 1">
            <a:extLst>
              <a:ext uri="{FF2B5EF4-FFF2-40B4-BE49-F238E27FC236}">
                <a16:creationId xmlns="" xmlns:a16="http://schemas.microsoft.com/office/drawing/2014/main" id="{4467BF18-4B30-4639-92ED-80BB670AB4B4}"/>
              </a:ext>
            </a:extLst>
          </p:cNvPr>
          <p:cNvSpPr/>
          <p:nvPr/>
        </p:nvSpPr>
        <p:spPr>
          <a:xfrm>
            <a:off x="3211830" y="1794510"/>
            <a:ext cx="6263640" cy="2994660"/>
          </a:xfrm>
          <a:prstGeom prst="wedgeEllipseCallout">
            <a:avLst/>
          </a:prstGeom>
          <a:solidFill>
            <a:srgbClr val="FF6600">
              <a:alpha val="4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prstClr val="white"/>
              </a:solidFill>
            </a:endParaRPr>
          </a:p>
        </p:txBody>
      </p:sp>
      <p:pic>
        <p:nvPicPr>
          <p:cNvPr id="13" name="Imagem 12">
            <a:extLst>
              <a:ext uri="{FF2B5EF4-FFF2-40B4-BE49-F238E27FC236}">
                <a16:creationId xmlns="" xmlns:a16="http://schemas.microsoft.com/office/drawing/2014/main" id="{B02C047D-6C15-4ADB-BD14-2253CAFE94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75470" y="6203811"/>
            <a:ext cx="2623245" cy="760206"/>
          </a:xfrm>
          <a:prstGeom prst="rect">
            <a:avLst/>
          </a:prstGeom>
        </p:spPr>
      </p:pic>
      <p:sp>
        <p:nvSpPr>
          <p:cNvPr id="10" name="CaixaDeTexto 9">
            <a:extLst>
              <a:ext uri="{FF2B5EF4-FFF2-40B4-BE49-F238E27FC236}">
                <a16:creationId xmlns="" xmlns:a16="http://schemas.microsoft.com/office/drawing/2014/main" id="{B934621D-082E-4813-BBB9-F0BFB1E9F113}"/>
              </a:ext>
            </a:extLst>
          </p:cNvPr>
          <p:cNvSpPr txBox="1"/>
          <p:nvPr/>
        </p:nvSpPr>
        <p:spPr>
          <a:xfrm>
            <a:off x="3646170" y="2640330"/>
            <a:ext cx="5566409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6600" b="1" dirty="0">
                <a:solidFill>
                  <a:srgbClr val="002060"/>
                </a:solidFill>
              </a:rPr>
              <a:t>Perguntas...</a:t>
            </a:r>
          </a:p>
        </p:txBody>
      </p:sp>
    </p:spTree>
    <p:extLst>
      <p:ext uri="{BB962C8B-B14F-4D97-AF65-F5344CB8AC3E}">
        <p14:creationId xmlns:p14="http://schemas.microsoft.com/office/powerpoint/2010/main" val="13221926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14">
            <a:extLst>
              <a:ext uri="{FF2B5EF4-FFF2-40B4-BE49-F238E27FC236}">
                <a16:creationId xmlns="" xmlns:a16="http://schemas.microsoft.com/office/drawing/2014/main" id="{360FBCF4-B73A-4949-A121-8FE9C64F12FB}"/>
              </a:ext>
            </a:extLst>
          </p:cNvPr>
          <p:cNvSpPr/>
          <p:nvPr/>
        </p:nvSpPr>
        <p:spPr>
          <a:xfrm rot="20956176">
            <a:off x="-700419" y="-33825"/>
            <a:ext cx="1133938" cy="1133938"/>
          </a:xfrm>
          <a:prstGeom prst="ellipse">
            <a:avLst/>
          </a:prstGeom>
          <a:solidFill>
            <a:schemeClr val="accent5">
              <a:lumMod val="50000"/>
              <a:alpha val="4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chemeClr val="tx1"/>
              </a:solidFill>
            </a:endParaRPr>
          </a:p>
        </p:txBody>
      </p:sp>
      <p:cxnSp>
        <p:nvCxnSpPr>
          <p:cNvPr id="6" name="Conector reto 5">
            <a:extLst>
              <a:ext uri="{FF2B5EF4-FFF2-40B4-BE49-F238E27FC236}">
                <a16:creationId xmlns="" xmlns:a16="http://schemas.microsoft.com/office/drawing/2014/main" id="{6D9017F8-2146-414A-A0CD-C1FC92D7FFA3}"/>
              </a:ext>
            </a:extLst>
          </p:cNvPr>
          <p:cNvCxnSpPr>
            <a:cxnSpLocks/>
          </p:cNvCxnSpPr>
          <p:nvPr/>
        </p:nvCxnSpPr>
        <p:spPr>
          <a:xfrm>
            <a:off x="400562" y="674771"/>
            <a:ext cx="4176215" cy="0"/>
          </a:xfrm>
          <a:prstGeom prst="line">
            <a:avLst/>
          </a:prstGeom>
          <a:solidFill>
            <a:srgbClr val="FF6600">
              <a:alpha val="42000"/>
            </a:srgbClr>
          </a:solidFill>
          <a:ln w="57150">
            <a:solidFill>
              <a:schemeClr val="accent5">
                <a:lumMod val="50000"/>
                <a:alpha val="42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35" name="CaixaDeTexto 134">
            <a:extLst>
              <a:ext uri="{FF2B5EF4-FFF2-40B4-BE49-F238E27FC236}">
                <a16:creationId xmlns="" xmlns:a16="http://schemas.microsoft.com/office/drawing/2014/main" id="{22E580CF-4450-4D91-9DE1-614779AD4509}"/>
              </a:ext>
            </a:extLst>
          </p:cNvPr>
          <p:cNvSpPr txBox="1"/>
          <p:nvPr/>
        </p:nvSpPr>
        <p:spPr>
          <a:xfrm>
            <a:off x="511317" y="167641"/>
            <a:ext cx="74310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>
                <a:latin typeface="Arial Rounded MT Bold" panose="020F0704030504030204" pitchFamily="34" charset="0"/>
              </a:rPr>
              <a:t>PROCESSO ATIVAÇÃO</a:t>
            </a:r>
            <a:endParaRPr kumimoji="0" lang="pt-BR" sz="18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 Rounded MT Bold" panose="020F0704030504030204" pitchFamily="34" charset="0"/>
            </a:endParaRPr>
          </a:p>
        </p:txBody>
      </p:sp>
      <p:grpSp>
        <p:nvGrpSpPr>
          <p:cNvPr id="84" name="Agrupar 83">
            <a:extLst>
              <a:ext uri="{FF2B5EF4-FFF2-40B4-BE49-F238E27FC236}">
                <a16:creationId xmlns="" xmlns:a16="http://schemas.microsoft.com/office/drawing/2014/main" id="{48E1301C-66EC-4E21-9F4E-C05B7AAEF7F2}"/>
              </a:ext>
            </a:extLst>
          </p:cNvPr>
          <p:cNvGrpSpPr/>
          <p:nvPr/>
        </p:nvGrpSpPr>
        <p:grpSpPr>
          <a:xfrm>
            <a:off x="76212" y="1029124"/>
            <a:ext cx="12033111" cy="5661235"/>
            <a:chOff x="61303" y="992694"/>
            <a:chExt cx="12033111" cy="5661235"/>
          </a:xfrm>
        </p:grpSpPr>
        <p:sp>
          <p:nvSpPr>
            <p:cNvPr id="173" name="Retângulo: Cantos Arredondados 172">
              <a:extLst>
                <a:ext uri="{FF2B5EF4-FFF2-40B4-BE49-F238E27FC236}">
                  <a16:creationId xmlns="" xmlns:a16="http://schemas.microsoft.com/office/drawing/2014/main" id="{22F26A4E-DCA5-4184-BCE9-DF3D5203D2A6}"/>
                </a:ext>
              </a:extLst>
            </p:cNvPr>
            <p:cNvSpPr/>
            <p:nvPr/>
          </p:nvSpPr>
          <p:spPr>
            <a:xfrm>
              <a:off x="10779339" y="1010346"/>
              <a:ext cx="1315075" cy="432048"/>
            </a:xfrm>
            <a:prstGeom prst="roundRect">
              <a:avLst/>
            </a:prstGeom>
            <a:no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b="1" dirty="0">
                  <a:solidFill>
                    <a:schemeClr val="tx1"/>
                  </a:solidFill>
                </a:rPr>
                <a:t>Conversão</a:t>
              </a:r>
            </a:p>
          </p:txBody>
        </p:sp>
        <p:sp>
          <p:nvSpPr>
            <p:cNvPr id="160" name="Retângulo: Cantos Arredondados 159">
              <a:extLst>
                <a:ext uri="{FF2B5EF4-FFF2-40B4-BE49-F238E27FC236}">
                  <a16:creationId xmlns="" xmlns:a16="http://schemas.microsoft.com/office/drawing/2014/main" id="{27A16F9A-38A6-403E-A0A0-0CA10EC9AC4B}"/>
                </a:ext>
              </a:extLst>
            </p:cNvPr>
            <p:cNvSpPr/>
            <p:nvPr/>
          </p:nvSpPr>
          <p:spPr>
            <a:xfrm>
              <a:off x="4515264" y="1001577"/>
              <a:ext cx="5803594" cy="432048"/>
            </a:xfrm>
            <a:prstGeom prst="roundRect">
              <a:avLst/>
            </a:prstGeom>
            <a:no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b="1" dirty="0">
                  <a:solidFill>
                    <a:schemeClr val="tx1"/>
                  </a:solidFill>
                </a:rPr>
                <a:t>Abordagem – Régua de comunicação da Ativação</a:t>
              </a:r>
            </a:p>
          </p:txBody>
        </p:sp>
        <p:sp>
          <p:nvSpPr>
            <p:cNvPr id="159" name="Retângulo: Cantos Arredondados 158">
              <a:extLst>
                <a:ext uri="{FF2B5EF4-FFF2-40B4-BE49-F238E27FC236}">
                  <a16:creationId xmlns="" xmlns:a16="http://schemas.microsoft.com/office/drawing/2014/main" id="{512E6F30-0FDB-425A-A6ED-DFC015D81E8F}"/>
                </a:ext>
              </a:extLst>
            </p:cNvPr>
            <p:cNvSpPr/>
            <p:nvPr/>
          </p:nvSpPr>
          <p:spPr>
            <a:xfrm>
              <a:off x="591169" y="1020561"/>
              <a:ext cx="3649309" cy="432048"/>
            </a:xfrm>
            <a:prstGeom prst="roundRect">
              <a:avLst/>
            </a:prstGeom>
            <a:no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b="1" dirty="0">
                  <a:solidFill>
                    <a:schemeClr val="tx1"/>
                  </a:solidFill>
                </a:rPr>
                <a:t>Inteligência</a:t>
              </a:r>
            </a:p>
          </p:txBody>
        </p:sp>
        <p:pic>
          <p:nvPicPr>
            <p:cNvPr id="186" name="Imagen 86" descr="iconos-01Naranja-80.png">
              <a:extLst>
                <a:ext uri="{FF2B5EF4-FFF2-40B4-BE49-F238E27FC236}">
                  <a16:creationId xmlns="" xmlns:a16="http://schemas.microsoft.com/office/drawing/2014/main" id="{3FC7345B-88C7-4A4D-B5EC-7C9271DF3E5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293395" y="1697647"/>
              <a:ext cx="642649" cy="4396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8" name="CaixaDeTexto 57">
              <a:extLst>
                <a:ext uri="{FF2B5EF4-FFF2-40B4-BE49-F238E27FC236}">
                  <a16:creationId xmlns="" xmlns:a16="http://schemas.microsoft.com/office/drawing/2014/main" id="{F4DA35B3-21D1-499A-946D-89B97C3C94BC}"/>
                </a:ext>
              </a:extLst>
            </p:cNvPr>
            <p:cNvSpPr txBox="1"/>
            <p:nvPr/>
          </p:nvSpPr>
          <p:spPr>
            <a:xfrm>
              <a:off x="1655856" y="4090392"/>
              <a:ext cx="1331245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1" i="1" u="none" strike="noStrike" kern="0" cap="none" spc="0" normalizeH="0" baseline="0" noProof="0" dirty="0" err="1">
                  <a:ln>
                    <a:noFill/>
                  </a:ln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Clientes</a:t>
              </a:r>
              <a:r>
                <a:rPr kumimoji="0" lang="en-US" sz="1100" b="1" i="1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</a:t>
              </a:r>
              <a:r>
                <a:rPr kumimoji="0" lang="en-US" sz="1100" b="1" i="1" u="none" strike="noStrike" kern="0" cap="none" spc="0" normalizeH="0" baseline="0" noProof="0" dirty="0" err="1">
                  <a:ln>
                    <a:noFill/>
                  </a:ln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agendados</a:t>
              </a:r>
              <a:endParaRPr kumimoji="0" lang="en-US" sz="1100" b="1" i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9" name="Divisa 28">
              <a:extLst>
                <a:ext uri="{FF2B5EF4-FFF2-40B4-BE49-F238E27FC236}">
                  <a16:creationId xmlns="" xmlns:a16="http://schemas.microsoft.com/office/drawing/2014/main" id="{7D3E4CF4-A6B9-4DFC-B09B-04A195A05406}"/>
                </a:ext>
              </a:extLst>
            </p:cNvPr>
            <p:cNvSpPr/>
            <p:nvPr/>
          </p:nvSpPr>
          <p:spPr>
            <a:xfrm>
              <a:off x="2906297" y="3528340"/>
              <a:ext cx="294545" cy="458182"/>
            </a:xfrm>
            <a:prstGeom prst="chevron">
              <a:avLst/>
            </a:prstGeom>
            <a:solidFill>
              <a:srgbClr val="002060"/>
            </a:solidFill>
            <a:ln w="38100" cap="flat" cmpd="sng" algn="ctr">
              <a:solidFill>
                <a:srgbClr val="00206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lIns="0" tIns="0" rIns="0" bIns="0" anchor="ctr"/>
            <a:lstStyle>
              <a:defPPr>
                <a:defRPr lang="pt-B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2025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ahoma"/>
                <a:ea typeface="Tahoma" pitchFamily="34" charset="0"/>
                <a:cs typeface="Tahoma" pitchFamily="34" charset="0"/>
              </a:endParaRPr>
            </a:p>
          </p:txBody>
        </p:sp>
        <p:pic>
          <p:nvPicPr>
            <p:cNvPr id="60" name="Imagem 59">
              <a:extLst>
                <a:ext uri="{FF2B5EF4-FFF2-40B4-BE49-F238E27FC236}">
                  <a16:creationId xmlns="" xmlns:a16="http://schemas.microsoft.com/office/drawing/2014/main" id="{D6549F4C-18A9-4A0C-9037-097C53DC9CB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3412556" y="3360878"/>
              <a:ext cx="854816" cy="769334"/>
            </a:xfrm>
            <a:prstGeom prst="rect">
              <a:avLst/>
            </a:prstGeom>
            <a:ln>
              <a:noFill/>
            </a:ln>
          </p:spPr>
        </p:pic>
        <p:sp>
          <p:nvSpPr>
            <p:cNvPr id="61" name="CaixaDeTexto 60">
              <a:extLst>
                <a:ext uri="{FF2B5EF4-FFF2-40B4-BE49-F238E27FC236}">
                  <a16:creationId xmlns="" xmlns:a16="http://schemas.microsoft.com/office/drawing/2014/main" id="{8507DB83-EFE4-4358-8E0D-A90A583B147A}"/>
                </a:ext>
              </a:extLst>
            </p:cNvPr>
            <p:cNvSpPr txBox="1"/>
            <p:nvPr/>
          </p:nvSpPr>
          <p:spPr>
            <a:xfrm>
              <a:off x="3177522" y="4093179"/>
              <a:ext cx="1331245" cy="43088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1" i="1" u="none" strike="noStrike" kern="0" cap="none" spc="0" normalizeH="0" baseline="0" noProof="0" dirty="0" err="1">
                  <a:ln>
                    <a:noFill/>
                  </a:ln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Início</a:t>
              </a:r>
              <a:r>
                <a:rPr kumimoji="0" lang="en-US" sz="1100" b="1" i="1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da </a:t>
              </a:r>
              <a:r>
                <a:rPr kumimoji="0" lang="en-US" sz="1100" b="1" i="1" u="none" strike="noStrike" kern="0" cap="none" spc="0" normalizeH="0" baseline="0" noProof="0" dirty="0" err="1">
                  <a:ln>
                    <a:noFill/>
                  </a:ln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esteira</a:t>
              </a:r>
              <a:endParaRPr kumimoji="0" lang="en-US" sz="1100" b="1" i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1" i="1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de </a:t>
              </a:r>
              <a:r>
                <a:rPr kumimoji="0" lang="en-US" sz="1100" b="1" i="1" u="none" strike="noStrike" kern="0" cap="none" spc="0" normalizeH="0" baseline="0" noProof="0" dirty="0" err="1">
                  <a:ln>
                    <a:noFill/>
                  </a:ln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Ativação</a:t>
              </a:r>
              <a:endParaRPr kumimoji="0" lang="en-US" sz="1100" b="1" i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62" name="Conector reto 61">
              <a:extLst>
                <a:ext uri="{FF2B5EF4-FFF2-40B4-BE49-F238E27FC236}">
                  <a16:creationId xmlns="" xmlns:a16="http://schemas.microsoft.com/office/drawing/2014/main" id="{EB696082-0BDB-4B8C-A5F1-43801E64E8A4}"/>
                </a:ext>
              </a:extLst>
            </p:cNvPr>
            <p:cNvCxnSpPr>
              <a:cxnSpLocks/>
              <a:endCxn id="88" idx="1"/>
            </p:cNvCxnSpPr>
            <p:nvPr/>
          </p:nvCxnSpPr>
          <p:spPr>
            <a:xfrm>
              <a:off x="4061012" y="3655806"/>
              <a:ext cx="7209769" cy="16103"/>
            </a:xfrm>
            <a:prstGeom prst="line">
              <a:avLst/>
            </a:prstGeom>
            <a:noFill/>
            <a:ln w="28575" cap="flat" cmpd="sng" algn="ctr">
              <a:solidFill>
                <a:srgbClr val="002060"/>
              </a:solidFill>
              <a:prstDash val="sysDot"/>
              <a:miter lim="800000"/>
              <a:tailEnd type="triangle" w="lg" len="lg"/>
            </a:ln>
            <a:effectLst/>
          </p:spPr>
        </p:cxnSp>
        <p:grpSp>
          <p:nvGrpSpPr>
            <p:cNvPr id="63" name="Agrupar 62">
              <a:extLst>
                <a:ext uri="{FF2B5EF4-FFF2-40B4-BE49-F238E27FC236}">
                  <a16:creationId xmlns="" xmlns:a16="http://schemas.microsoft.com/office/drawing/2014/main" id="{794E1358-8471-4BF2-B930-6C50495A76B8}"/>
                </a:ext>
              </a:extLst>
            </p:cNvPr>
            <p:cNvGrpSpPr/>
            <p:nvPr/>
          </p:nvGrpSpPr>
          <p:grpSpPr>
            <a:xfrm>
              <a:off x="4647474" y="3014911"/>
              <a:ext cx="167951" cy="816075"/>
              <a:chOff x="3290259" y="2689557"/>
              <a:chExt cx="167951" cy="816075"/>
            </a:xfrm>
          </p:grpSpPr>
          <p:sp>
            <p:nvSpPr>
              <p:cNvPr id="64" name="Elipse 63">
                <a:extLst>
                  <a:ext uri="{FF2B5EF4-FFF2-40B4-BE49-F238E27FC236}">
                    <a16:creationId xmlns="" xmlns:a16="http://schemas.microsoft.com/office/drawing/2014/main" id="{E1154D34-3597-453E-9B3D-5789E2B4E051}"/>
                  </a:ext>
                </a:extLst>
              </p:cNvPr>
              <p:cNvSpPr/>
              <p:nvPr/>
            </p:nvSpPr>
            <p:spPr>
              <a:xfrm>
                <a:off x="3290259" y="3337681"/>
                <a:ext cx="167951" cy="167951"/>
              </a:xfrm>
              <a:prstGeom prst="ellipse">
                <a:avLst/>
              </a:prstGeom>
              <a:solidFill>
                <a:schemeClr val="bg2"/>
              </a:solidFill>
              <a:ln w="12700" cap="flat" cmpd="sng" algn="ctr">
                <a:solidFill>
                  <a:srgbClr val="00206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cxnSp>
            <p:nvCxnSpPr>
              <p:cNvPr id="66" name="Conector reto 65">
                <a:extLst>
                  <a:ext uri="{FF2B5EF4-FFF2-40B4-BE49-F238E27FC236}">
                    <a16:creationId xmlns="" xmlns:a16="http://schemas.microsoft.com/office/drawing/2014/main" id="{9AFABB58-F037-4556-99F0-725D9DC2EF3B}"/>
                  </a:ext>
                </a:extLst>
              </p:cNvPr>
              <p:cNvCxnSpPr>
                <a:stCxn id="64" idx="0"/>
              </p:cNvCxnSpPr>
              <p:nvPr/>
            </p:nvCxnSpPr>
            <p:spPr>
              <a:xfrm flipH="1" flipV="1">
                <a:off x="3374234" y="2689557"/>
                <a:ext cx="1" cy="648124"/>
              </a:xfrm>
              <a:prstGeom prst="line">
                <a:avLst/>
              </a:prstGeom>
              <a:noFill/>
              <a:ln w="19050" cap="flat" cmpd="sng" algn="ctr">
                <a:solidFill>
                  <a:srgbClr val="002060"/>
                </a:solidFill>
                <a:prstDash val="sysDot"/>
                <a:miter lim="800000"/>
              </a:ln>
              <a:effectLst/>
            </p:spPr>
          </p:cxnSp>
        </p:grpSp>
        <p:sp>
          <p:nvSpPr>
            <p:cNvPr id="67" name="CaixaDeTexto 66">
              <a:extLst>
                <a:ext uri="{FF2B5EF4-FFF2-40B4-BE49-F238E27FC236}">
                  <a16:creationId xmlns="" xmlns:a16="http://schemas.microsoft.com/office/drawing/2014/main" id="{5E31BA03-E2F7-40CC-8FE0-38E0889BC96E}"/>
                </a:ext>
              </a:extLst>
            </p:cNvPr>
            <p:cNvSpPr txBox="1"/>
            <p:nvPr/>
          </p:nvSpPr>
          <p:spPr>
            <a:xfrm>
              <a:off x="4183420" y="2405497"/>
              <a:ext cx="1069759" cy="55399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PA Digital </a:t>
              </a:r>
              <a:r>
                <a:rPr kumimoji="0" lang="en-US" sz="1000" b="1" u="none" strike="noStrike" kern="0" cap="none" spc="0" normalizeH="0" baseline="0" noProof="0" dirty="0" err="1">
                  <a:ln>
                    <a:noFill/>
                  </a:ln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fará</a:t>
              </a:r>
              <a:r>
                <a:rPr kumimoji="0" lang="en-US" sz="1000" b="1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a </a:t>
              </a:r>
              <a:r>
                <a:rPr kumimoji="0" lang="en-US" sz="1000" b="1" u="none" strike="noStrike" kern="0" cap="none" spc="0" normalizeH="0" baseline="0" noProof="0" dirty="0" err="1">
                  <a:ln>
                    <a:noFill/>
                  </a:ln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abordagem</a:t>
              </a:r>
              <a:r>
                <a:rPr kumimoji="0" lang="en-US" sz="1000" b="1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</a:t>
              </a:r>
              <a:r>
                <a:rPr kumimoji="0" lang="en-US" sz="1000" b="1" u="none" strike="noStrike" kern="0" cap="none" spc="0" normalizeH="0" baseline="0" noProof="0" dirty="0" err="1">
                  <a:ln>
                    <a:noFill/>
                  </a:ln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inicial</a:t>
              </a:r>
              <a:endParaRPr kumimoji="0" lang="en-US" sz="1000" b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72" name="Agrupar 71">
              <a:extLst>
                <a:ext uri="{FF2B5EF4-FFF2-40B4-BE49-F238E27FC236}">
                  <a16:creationId xmlns="" xmlns:a16="http://schemas.microsoft.com/office/drawing/2014/main" id="{9FCB2BDE-CE5E-41DD-BC21-946C969F29CC}"/>
                </a:ext>
              </a:extLst>
            </p:cNvPr>
            <p:cNvGrpSpPr/>
            <p:nvPr/>
          </p:nvGrpSpPr>
          <p:grpSpPr>
            <a:xfrm>
              <a:off x="6041913" y="3013446"/>
              <a:ext cx="167951" cy="816075"/>
              <a:chOff x="3182683" y="2703004"/>
              <a:chExt cx="167951" cy="816075"/>
            </a:xfrm>
          </p:grpSpPr>
          <p:sp>
            <p:nvSpPr>
              <p:cNvPr id="73" name="Elipse 72">
                <a:extLst>
                  <a:ext uri="{FF2B5EF4-FFF2-40B4-BE49-F238E27FC236}">
                    <a16:creationId xmlns="" xmlns:a16="http://schemas.microsoft.com/office/drawing/2014/main" id="{113A57F8-C7B2-4669-B0C0-8C3A9FC25B6D}"/>
                  </a:ext>
                </a:extLst>
              </p:cNvPr>
              <p:cNvSpPr/>
              <p:nvPr/>
            </p:nvSpPr>
            <p:spPr>
              <a:xfrm>
                <a:off x="3182683" y="3351128"/>
                <a:ext cx="167951" cy="167951"/>
              </a:xfrm>
              <a:prstGeom prst="ellipse">
                <a:avLst/>
              </a:prstGeom>
              <a:solidFill>
                <a:schemeClr val="bg2"/>
              </a:solidFill>
              <a:ln w="12700" cap="flat" cmpd="sng" algn="ctr">
                <a:solidFill>
                  <a:srgbClr val="00206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cxnSp>
            <p:nvCxnSpPr>
              <p:cNvPr id="74" name="Conector reto 73">
                <a:extLst>
                  <a:ext uri="{FF2B5EF4-FFF2-40B4-BE49-F238E27FC236}">
                    <a16:creationId xmlns="" xmlns:a16="http://schemas.microsoft.com/office/drawing/2014/main" id="{2F12714D-46C0-4F7F-85B4-440D86F065AD}"/>
                  </a:ext>
                </a:extLst>
              </p:cNvPr>
              <p:cNvCxnSpPr>
                <a:stCxn id="73" idx="0"/>
              </p:cNvCxnSpPr>
              <p:nvPr/>
            </p:nvCxnSpPr>
            <p:spPr>
              <a:xfrm flipH="1" flipV="1">
                <a:off x="3266658" y="2703004"/>
                <a:ext cx="1" cy="648124"/>
              </a:xfrm>
              <a:prstGeom prst="line">
                <a:avLst/>
              </a:prstGeom>
              <a:noFill/>
              <a:ln w="19050" cap="flat" cmpd="sng" algn="ctr">
                <a:solidFill>
                  <a:srgbClr val="002060"/>
                </a:solidFill>
                <a:prstDash val="sysDot"/>
                <a:miter lim="800000"/>
              </a:ln>
              <a:effectLst/>
            </p:spPr>
          </p:cxnSp>
        </p:grpSp>
        <p:sp>
          <p:nvSpPr>
            <p:cNvPr id="76" name="CaixaDeTexto 75">
              <a:extLst>
                <a:ext uri="{FF2B5EF4-FFF2-40B4-BE49-F238E27FC236}">
                  <a16:creationId xmlns="" xmlns:a16="http://schemas.microsoft.com/office/drawing/2014/main" id="{F038D04C-A611-4668-8A86-EAB8C0F902DD}"/>
                </a:ext>
              </a:extLst>
            </p:cNvPr>
            <p:cNvSpPr txBox="1"/>
            <p:nvPr/>
          </p:nvSpPr>
          <p:spPr>
            <a:xfrm>
              <a:off x="5446234" y="2390244"/>
              <a:ext cx="1508552" cy="55399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Se o </a:t>
              </a:r>
              <a:r>
                <a:rPr kumimoji="0" lang="en-US" sz="1000" b="1" u="none" strike="noStrike" kern="0" cap="none" spc="0" normalizeH="0" baseline="0" noProof="0" dirty="0" err="1">
                  <a:ln>
                    <a:noFill/>
                  </a:ln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cliente</a:t>
              </a:r>
              <a:r>
                <a:rPr kumimoji="0" lang="en-US" sz="1000" b="1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</a:t>
              </a:r>
              <a:r>
                <a:rPr kumimoji="0" lang="en-US" sz="1000" b="1" u="none" strike="noStrike" kern="0" cap="none" spc="0" normalizeH="0" baseline="0" noProof="0" dirty="0" err="1">
                  <a:ln>
                    <a:noFill/>
                  </a:ln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não</a:t>
              </a:r>
              <a:r>
                <a:rPr kumimoji="0" lang="en-US" sz="1000" b="1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</a:t>
              </a:r>
              <a:r>
                <a:rPr kumimoji="0" lang="en-US" sz="1000" b="1" u="none" strike="noStrike" kern="0" cap="none" spc="0" normalizeH="0" baseline="0" noProof="0" dirty="0" err="1">
                  <a:ln>
                    <a:noFill/>
                  </a:ln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aceitar</a:t>
              </a:r>
              <a:r>
                <a:rPr kumimoji="0" lang="en-US" sz="1000" b="1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a </a:t>
              </a:r>
              <a:r>
                <a:rPr kumimoji="0" lang="en-US" sz="1000" b="1" u="none" strike="noStrike" kern="0" cap="none" spc="0" normalizeH="0" baseline="0" noProof="0" dirty="0" err="1">
                  <a:ln>
                    <a:noFill/>
                  </a:ln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abordagem</a:t>
              </a:r>
              <a:r>
                <a:rPr kumimoji="0" lang="en-US" sz="1000" b="1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</a:t>
              </a:r>
              <a:r>
                <a:rPr kumimoji="0" lang="en-US" sz="1000" b="1" u="none" strike="noStrike" kern="0" cap="none" spc="0" normalizeH="0" baseline="0" noProof="0" dirty="0" err="1">
                  <a:ln>
                    <a:noFill/>
                  </a:ln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inicial</a:t>
              </a:r>
              <a:r>
                <a:rPr kumimoji="0" lang="en-US" sz="1000" b="1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, segue o </a:t>
              </a:r>
              <a:r>
                <a:rPr kumimoji="0" lang="en-US" sz="1000" b="1" u="none" strike="noStrike" kern="0" cap="none" spc="0" normalizeH="0" baseline="0" noProof="0" dirty="0" err="1">
                  <a:ln>
                    <a:noFill/>
                  </a:ln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fluxo</a:t>
              </a:r>
              <a:r>
                <a:rPr kumimoji="0" lang="en-US" sz="1000" b="1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do </a:t>
              </a:r>
              <a:r>
                <a:rPr kumimoji="0" lang="en-US" sz="1000" b="1" u="none" strike="noStrike" kern="0" cap="none" spc="0" normalizeH="0" baseline="0" noProof="0" dirty="0" err="1">
                  <a:ln>
                    <a:noFill/>
                  </a:ln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agendamento</a:t>
              </a:r>
              <a:endParaRPr kumimoji="0" lang="en-US" sz="1000" b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86" name="Imagem 85">
              <a:extLst>
                <a:ext uri="{FF2B5EF4-FFF2-40B4-BE49-F238E27FC236}">
                  <a16:creationId xmlns="" xmlns:a16="http://schemas.microsoft.com/office/drawing/2014/main" id="{0447B739-8965-4474-B461-D182F4B6F26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duotone>
                <a:schemeClr val="bg2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5671203" y="1710498"/>
              <a:ext cx="894647" cy="680709"/>
            </a:xfrm>
            <a:prstGeom prst="rect">
              <a:avLst/>
            </a:prstGeom>
            <a:ln>
              <a:noFill/>
            </a:ln>
          </p:spPr>
        </p:pic>
        <p:pic>
          <p:nvPicPr>
            <p:cNvPr id="88" name="Imagem 87">
              <a:extLst>
                <a:ext uri="{FF2B5EF4-FFF2-40B4-BE49-F238E27FC236}">
                  <a16:creationId xmlns="" xmlns:a16="http://schemas.microsoft.com/office/drawing/2014/main" id="{F4F7B86F-3410-48BF-93AA-2E1E2AAB159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11270781" y="3348944"/>
              <a:ext cx="643914" cy="645929"/>
            </a:xfrm>
            <a:prstGeom prst="rect">
              <a:avLst/>
            </a:prstGeom>
            <a:ln>
              <a:noFill/>
            </a:ln>
          </p:spPr>
        </p:pic>
        <p:pic>
          <p:nvPicPr>
            <p:cNvPr id="89" name="Imagem 88">
              <a:extLst>
                <a:ext uri="{FF2B5EF4-FFF2-40B4-BE49-F238E27FC236}">
                  <a16:creationId xmlns="" xmlns:a16="http://schemas.microsoft.com/office/drawing/2014/main" id="{D5523605-F14E-4154-A6A2-8C42566C414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duotone>
                <a:schemeClr val="bg2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1709501" y="3214615"/>
              <a:ext cx="1095691" cy="833677"/>
            </a:xfrm>
            <a:prstGeom prst="rect">
              <a:avLst/>
            </a:prstGeom>
            <a:ln>
              <a:noFill/>
            </a:ln>
          </p:spPr>
        </p:pic>
        <p:pic>
          <p:nvPicPr>
            <p:cNvPr id="102" name="Imagem 101">
              <a:extLst>
                <a:ext uri="{FF2B5EF4-FFF2-40B4-BE49-F238E27FC236}">
                  <a16:creationId xmlns="" xmlns:a16="http://schemas.microsoft.com/office/drawing/2014/main" id="{8ABCAE9C-F8AB-48AE-9CF5-747B83252D5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alphaModFix amt="70000"/>
              <a:extLst>
                <a:ext uri="{BEBA8EAE-BF5A-486C-A8C5-ECC9F3942E4B}">
                  <a14:imgProps xmlns:a14="http://schemas.microsoft.com/office/drawing/2010/main">
                    <a14:imgLayer r:embed="rId8">
                      <a14:imgEffect>
                        <a14:backgroundRemoval t="5778" b="95556" l="5778" r="97333">
                          <a14:foregroundMark x1="18222" y1="20889" x2="18222" y2="20889"/>
                          <a14:foregroundMark x1="47111" y1="5778" x2="47111" y2="5778"/>
                          <a14:foregroundMark x1="87556" y1="23556" x2="87556" y2="23556"/>
                          <a14:foregroundMark x1="91111" y1="45778" x2="91111" y2="45778"/>
                          <a14:foregroundMark x1="90667" y1="58222" x2="90667" y2="58222"/>
                          <a14:foregroundMark x1="91111" y1="65333" x2="91111" y2="65333"/>
                          <a14:foregroundMark x1="14222" y1="68444" x2="14222" y2="68444"/>
                          <a14:foregroundMark x1="12889" y1="81778" x2="12889" y2="81778"/>
                          <a14:foregroundMark x1="22667" y1="88000" x2="22667" y2="88000"/>
                          <a14:foregroundMark x1="7556" y1="92000" x2="7556" y2="92000"/>
                          <a14:foregroundMark x1="9333" y1="87556" x2="9333" y2="87556"/>
                          <a14:foregroundMark x1="5778" y1="95556" x2="5778" y2="95556"/>
                          <a14:foregroundMark x1="97333" y1="48444" x2="97333" y2="48444"/>
                          <a14:foregroundMark x1="5778" y1="46222" x2="5778" y2="46222"/>
                          <a14:foregroundMark x1="36444" y1="35556" x2="36444" y2="35556"/>
                        </a14:backgroundRemoval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8324493" y="2939355"/>
              <a:ext cx="402963" cy="402963"/>
            </a:xfrm>
            <a:prstGeom prst="rect">
              <a:avLst/>
            </a:prstGeom>
            <a:ln>
              <a:noFill/>
            </a:ln>
          </p:spPr>
        </p:pic>
        <p:pic>
          <p:nvPicPr>
            <p:cNvPr id="138" name="Picture 2" descr="Resultado de imagem para bot icon png">
              <a:extLst>
                <a:ext uri="{FF2B5EF4-FFF2-40B4-BE49-F238E27FC236}">
                  <a16:creationId xmlns="" xmlns:a16="http://schemas.microsoft.com/office/drawing/2014/main" id="{DE964255-13D3-4657-8306-7DCD8C8454F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61475" y="1748868"/>
              <a:ext cx="625098" cy="5980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44" name="CaixaDeTexto 143">
              <a:extLst>
                <a:ext uri="{FF2B5EF4-FFF2-40B4-BE49-F238E27FC236}">
                  <a16:creationId xmlns="" xmlns:a16="http://schemas.microsoft.com/office/drawing/2014/main" id="{ED954AD6-110D-4B56-B57E-E88752351B30}"/>
                </a:ext>
              </a:extLst>
            </p:cNvPr>
            <p:cNvSpPr txBox="1"/>
            <p:nvPr/>
          </p:nvSpPr>
          <p:spPr>
            <a:xfrm>
              <a:off x="61303" y="5364121"/>
              <a:ext cx="1331245" cy="4001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1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Registro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1" u="none" strike="noStrike" kern="0" cap="none" spc="0" normalizeH="0" baseline="0" noProof="0" dirty="0" err="1">
                  <a:ln>
                    <a:noFill/>
                  </a:ln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sistema</a:t>
              </a:r>
              <a:endParaRPr kumimoji="0" lang="en-US" sz="1000" b="1" i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4" name="Agrupar 3">
              <a:extLst>
                <a:ext uri="{FF2B5EF4-FFF2-40B4-BE49-F238E27FC236}">
                  <a16:creationId xmlns="" xmlns:a16="http://schemas.microsoft.com/office/drawing/2014/main" id="{198796D4-8629-4FB4-BDF3-420169E1557B}"/>
                </a:ext>
              </a:extLst>
            </p:cNvPr>
            <p:cNvGrpSpPr/>
            <p:nvPr/>
          </p:nvGrpSpPr>
          <p:grpSpPr>
            <a:xfrm>
              <a:off x="149819" y="3300960"/>
              <a:ext cx="1103619" cy="864000"/>
              <a:chOff x="108873" y="2700087"/>
              <a:chExt cx="1103619" cy="864000"/>
            </a:xfrm>
          </p:grpSpPr>
          <p:pic>
            <p:nvPicPr>
              <p:cNvPr id="169" name="Imagen 211" descr="iconos-01-Blanco-29.png">
                <a:extLst>
                  <a:ext uri="{FF2B5EF4-FFF2-40B4-BE49-F238E27FC236}">
                    <a16:creationId xmlns="" xmlns:a16="http://schemas.microsoft.com/office/drawing/2014/main" id="{D9DB9CCE-634B-420C-BE1D-C158414663A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 cstate="print">
                <a:extLst>
                  <a:ext uri="{BEBA8EAE-BF5A-486C-A8C5-ECC9F3942E4B}">
                    <a14:imgProps xmlns:a14="http://schemas.microsoft.com/office/drawing/2010/main">
                      <a14:imgLayer r:embed="rId11">
                        <a14:imgEffect>
                          <a14:brightnessContrast bright="-40000" contrast="-4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08873" y="2700087"/>
                <a:ext cx="1103619" cy="864000"/>
              </a:xfrm>
              <a:prstGeom prst="rect">
                <a:avLst/>
              </a:prstGeom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70" name="Imagem 169">
                <a:extLst>
                  <a:ext uri="{FF2B5EF4-FFF2-40B4-BE49-F238E27FC236}">
                    <a16:creationId xmlns="" xmlns:a16="http://schemas.microsoft.com/office/drawing/2014/main" id="{A9949B84-DC3D-45EA-A08E-0F9DC1E1DEF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236359" y="2765817"/>
                <a:ext cx="759044" cy="384639"/>
              </a:xfrm>
              <a:prstGeom prst="rect">
                <a:avLst/>
              </a:prstGeom>
            </p:spPr>
          </p:pic>
        </p:grpSp>
        <p:sp>
          <p:nvSpPr>
            <p:cNvPr id="171" name="Divisa 28">
              <a:extLst>
                <a:ext uri="{FF2B5EF4-FFF2-40B4-BE49-F238E27FC236}">
                  <a16:creationId xmlns="" xmlns:a16="http://schemas.microsoft.com/office/drawing/2014/main" id="{5D96AAB2-A8CA-4015-8651-7F48B1E71C0C}"/>
                </a:ext>
              </a:extLst>
            </p:cNvPr>
            <p:cNvSpPr/>
            <p:nvPr/>
          </p:nvSpPr>
          <p:spPr>
            <a:xfrm>
              <a:off x="1348649" y="3528340"/>
              <a:ext cx="294545" cy="458182"/>
            </a:xfrm>
            <a:prstGeom prst="chevron">
              <a:avLst/>
            </a:prstGeom>
            <a:solidFill>
              <a:srgbClr val="002060"/>
            </a:solidFill>
            <a:ln w="38100" cap="flat" cmpd="sng" algn="ctr">
              <a:solidFill>
                <a:srgbClr val="00206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lIns="0" tIns="0" rIns="0" bIns="0" anchor="ctr"/>
            <a:lstStyle>
              <a:defPPr>
                <a:defRPr lang="pt-B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2025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ahoma"/>
                <a:ea typeface="Tahoma" pitchFamily="34" charset="0"/>
                <a:cs typeface="Tahoma" pitchFamily="34" charset="0"/>
              </a:endParaRPr>
            </a:p>
          </p:txBody>
        </p:sp>
        <p:sp>
          <p:nvSpPr>
            <p:cNvPr id="172" name="CaixaDeTexto 171">
              <a:extLst>
                <a:ext uri="{FF2B5EF4-FFF2-40B4-BE49-F238E27FC236}">
                  <a16:creationId xmlns="" xmlns:a16="http://schemas.microsoft.com/office/drawing/2014/main" id="{3F6D301D-97EF-456F-8E68-8A2E462B5F97}"/>
                </a:ext>
              </a:extLst>
            </p:cNvPr>
            <p:cNvSpPr txBox="1"/>
            <p:nvPr/>
          </p:nvSpPr>
          <p:spPr>
            <a:xfrm>
              <a:off x="139278" y="4109034"/>
              <a:ext cx="1175296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1" i="1" u="none" strike="noStrike" kern="0" cap="none" spc="0" normalizeH="0" baseline="0" noProof="0" dirty="0" err="1">
                  <a:ln>
                    <a:noFill/>
                  </a:ln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Compra</a:t>
              </a:r>
              <a:r>
                <a:rPr kumimoji="0" lang="en-US" sz="1100" b="1" i="1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via </a:t>
              </a:r>
              <a:r>
                <a:rPr kumimoji="0" lang="en-US" sz="1100" b="1" i="1" u="none" strike="noStrike" kern="0" cap="none" spc="0" normalizeH="0" baseline="0" noProof="0" dirty="0" err="1">
                  <a:ln>
                    <a:noFill/>
                  </a:ln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SIte</a:t>
              </a:r>
              <a:endParaRPr kumimoji="0" lang="en-US" sz="1100" b="1" i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180" name="Agrupar 179">
              <a:extLst>
                <a:ext uri="{FF2B5EF4-FFF2-40B4-BE49-F238E27FC236}">
                  <a16:creationId xmlns="" xmlns:a16="http://schemas.microsoft.com/office/drawing/2014/main" id="{52035BB6-7F37-4CA9-8119-41CBAF75788D}"/>
                </a:ext>
              </a:extLst>
            </p:cNvPr>
            <p:cNvGrpSpPr/>
            <p:nvPr/>
          </p:nvGrpSpPr>
          <p:grpSpPr>
            <a:xfrm>
              <a:off x="7889550" y="3025802"/>
              <a:ext cx="167951" cy="816075"/>
              <a:chOff x="3290259" y="2729898"/>
              <a:chExt cx="167951" cy="816075"/>
            </a:xfrm>
          </p:grpSpPr>
          <p:sp>
            <p:nvSpPr>
              <p:cNvPr id="181" name="Elipse 180">
                <a:extLst>
                  <a:ext uri="{FF2B5EF4-FFF2-40B4-BE49-F238E27FC236}">
                    <a16:creationId xmlns="" xmlns:a16="http://schemas.microsoft.com/office/drawing/2014/main" id="{D2D094D8-F296-4F99-99C0-C4B01C3FC09A}"/>
                  </a:ext>
                </a:extLst>
              </p:cNvPr>
              <p:cNvSpPr/>
              <p:nvPr/>
            </p:nvSpPr>
            <p:spPr>
              <a:xfrm>
                <a:off x="3290259" y="3378022"/>
                <a:ext cx="167951" cy="167951"/>
              </a:xfrm>
              <a:prstGeom prst="ellipse">
                <a:avLst/>
              </a:prstGeom>
              <a:solidFill>
                <a:schemeClr val="bg2"/>
              </a:solidFill>
              <a:ln w="12700" cap="flat" cmpd="sng" algn="ctr">
                <a:solidFill>
                  <a:srgbClr val="00206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cxnSp>
            <p:nvCxnSpPr>
              <p:cNvPr id="182" name="Conector reto 181">
                <a:extLst>
                  <a:ext uri="{FF2B5EF4-FFF2-40B4-BE49-F238E27FC236}">
                    <a16:creationId xmlns="" xmlns:a16="http://schemas.microsoft.com/office/drawing/2014/main" id="{6FB259CE-472E-4718-A1CE-2A5FC9E912CB}"/>
                  </a:ext>
                </a:extLst>
              </p:cNvPr>
              <p:cNvCxnSpPr>
                <a:stCxn id="181" idx="0"/>
              </p:cNvCxnSpPr>
              <p:nvPr/>
            </p:nvCxnSpPr>
            <p:spPr>
              <a:xfrm flipH="1" flipV="1">
                <a:off x="3374234" y="2729898"/>
                <a:ext cx="1" cy="648124"/>
              </a:xfrm>
              <a:prstGeom prst="line">
                <a:avLst/>
              </a:prstGeom>
              <a:noFill/>
              <a:ln w="19050" cap="flat" cmpd="sng" algn="ctr">
                <a:solidFill>
                  <a:srgbClr val="002060"/>
                </a:solidFill>
                <a:prstDash val="sysDot"/>
                <a:miter lim="800000"/>
              </a:ln>
              <a:effectLst/>
            </p:spPr>
          </p:cxnSp>
        </p:grpSp>
        <p:sp>
          <p:nvSpPr>
            <p:cNvPr id="183" name="CaixaDeTexto 182">
              <a:extLst>
                <a:ext uri="{FF2B5EF4-FFF2-40B4-BE49-F238E27FC236}">
                  <a16:creationId xmlns="" xmlns:a16="http://schemas.microsoft.com/office/drawing/2014/main" id="{41B29FDF-6698-4654-9A2F-A70D5C89730D}"/>
                </a:ext>
              </a:extLst>
            </p:cNvPr>
            <p:cNvSpPr txBox="1"/>
            <p:nvPr/>
          </p:nvSpPr>
          <p:spPr>
            <a:xfrm>
              <a:off x="7147836" y="2376278"/>
              <a:ext cx="1534896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000" b="1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Calibri"/>
                  <a:ea typeface="+mn-ea"/>
                  <a:cs typeface="+mn-cs"/>
                </a:rPr>
                <a:t>SMS lembrando da Ativação e continuidade do contato via WhatsApp </a:t>
              </a:r>
            </a:p>
          </p:txBody>
        </p:sp>
        <p:sp>
          <p:nvSpPr>
            <p:cNvPr id="184" name="Elipse 183">
              <a:extLst>
                <a:ext uri="{FF2B5EF4-FFF2-40B4-BE49-F238E27FC236}">
                  <a16:creationId xmlns="" xmlns:a16="http://schemas.microsoft.com/office/drawing/2014/main" id="{EC4A8E14-3947-4F34-A115-E8C48FD563D0}"/>
                </a:ext>
              </a:extLst>
            </p:cNvPr>
            <p:cNvSpPr/>
            <p:nvPr/>
          </p:nvSpPr>
          <p:spPr>
            <a:xfrm>
              <a:off x="7705890" y="1793499"/>
              <a:ext cx="653380" cy="541808"/>
            </a:xfrm>
            <a:prstGeom prst="ellipse">
              <a:avLst/>
            </a:prstGeom>
            <a:solidFill>
              <a:schemeClr val="accent5">
                <a:lumMod val="50000"/>
              </a:schemeClr>
            </a:solidFill>
            <a:ln w="28575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85" name="CaixaDeTexto 184">
              <a:extLst>
                <a:ext uri="{FF2B5EF4-FFF2-40B4-BE49-F238E27FC236}">
                  <a16:creationId xmlns="" xmlns:a16="http://schemas.microsoft.com/office/drawing/2014/main" id="{474B5CAF-4AF0-4FCC-9C6A-19B75C551294}"/>
                </a:ext>
              </a:extLst>
            </p:cNvPr>
            <p:cNvSpPr txBox="1"/>
            <p:nvPr/>
          </p:nvSpPr>
          <p:spPr>
            <a:xfrm>
              <a:off x="7660951" y="1814193"/>
              <a:ext cx="759844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1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Calibri"/>
                  <a:ea typeface="+mn-ea"/>
                  <a:cs typeface="+mn-cs"/>
                </a:rPr>
                <a:t>72 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1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Calibri"/>
                  <a:ea typeface="+mn-ea"/>
                  <a:cs typeface="+mn-cs"/>
                </a:rPr>
                <a:t>horas</a:t>
              </a:r>
            </a:p>
          </p:txBody>
        </p:sp>
        <p:pic>
          <p:nvPicPr>
            <p:cNvPr id="189" name="Imagen 86" descr="iconos-01Naranja-80.png">
              <a:extLst>
                <a:ext uri="{FF2B5EF4-FFF2-40B4-BE49-F238E27FC236}">
                  <a16:creationId xmlns="" xmlns:a16="http://schemas.microsoft.com/office/drawing/2014/main" id="{8A738644-1E07-4D48-8E40-64B82C42AB74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106692" y="1688393"/>
              <a:ext cx="648934" cy="4439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90" name="Imagem 189">
              <a:extLst>
                <a:ext uri="{FF2B5EF4-FFF2-40B4-BE49-F238E27FC236}">
                  <a16:creationId xmlns="" xmlns:a16="http://schemas.microsoft.com/office/drawing/2014/main" id="{33BDD45D-3689-4549-893B-36A8BB92D08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alphaModFix amt="70000"/>
              <a:extLst>
                <a:ext uri="{BEBA8EAE-BF5A-486C-A8C5-ECC9F3942E4B}">
                  <a14:imgProps xmlns:a14="http://schemas.microsoft.com/office/drawing/2010/main">
                    <a14:imgLayer r:embed="rId8">
                      <a14:imgEffect>
                        <a14:backgroundRemoval t="5778" b="95556" l="5778" r="97333">
                          <a14:foregroundMark x1="18222" y1="20889" x2="18222" y2="20889"/>
                          <a14:foregroundMark x1="47111" y1="5778" x2="47111" y2="5778"/>
                          <a14:foregroundMark x1="87556" y1="23556" x2="87556" y2="23556"/>
                          <a14:foregroundMark x1="91111" y1="45778" x2="91111" y2="45778"/>
                          <a14:foregroundMark x1="90667" y1="58222" x2="90667" y2="58222"/>
                          <a14:foregroundMark x1="91111" y1="65333" x2="91111" y2="65333"/>
                          <a14:foregroundMark x1="14222" y1="68444" x2="14222" y2="68444"/>
                          <a14:foregroundMark x1="12889" y1="81778" x2="12889" y2="81778"/>
                          <a14:foregroundMark x1="22667" y1="88000" x2="22667" y2="88000"/>
                          <a14:foregroundMark x1="7556" y1="92000" x2="7556" y2="92000"/>
                          <a14:foregroundMark x1="9333" y1="87556" x2="9333" y2="87556"/>
                          <a14:foregroundMark x1="5778" y1="95556" x2="5778" y2="95556"/>
                          <a14:foregroundMark x1="97333" y1="48444" x2="97333" y2="48444"/>
                          <a14:foregroundMark x1="5778" y1="46222" x2="5778" y2="46222"/>
                          <a14:foregroundMark x1="36444" y1="35556" x2="36444" y2="35556"/>
                        </a14:backgroundRemoval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9921121" y="2925296"/>
              <a:ext cx="424631" cy="424631"/>
            </a:xfrm>
            <a:prstGeom prst="rect">
              <a:avLst/>
            </a:prstGeom>
            <a:ln>
              <a:noFill/>
            </a:ln>
          </p:spPr>
        </p:pic>
        <p:sp>
          <p:nvSpPr>
            <p:cNvPr id="191" name="CaixaDeTexto 190">
              <a:extLst>
                <a:ext uri="{FF2B5EF4-FFF2-40B4-BE49-F238E27FC236}">
                  <a16:creationId xmlns="" xmlns:a16="http://schemas.microsoft.com/office/drawing/2014/main" id="{A835D0C0-B81A-4571-97B0-021BC33D75DE}"/>
                </a:ext>
              </a:extLst>
            </p:cNvPr>
            <p:cNvSpPr txBox="1"/>
            <p:nvPr/>
          </p:nvSpPr>
          <p:spPr>
            <a:xfrm>
              <a:off x="8854160" y="2365341"/>
              <a:ext cx="1616158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ctr">
                <a:defRPr/>
              </a:pPr>
              <a:r>
                <a:rPr lang="pt-BR" sz="1000" b="1" kern="0" dirty="0"/>
                <a:t>SMS  lembrando da Ativação e continuidade do contato via WhatsApp </a:t>
              </a:r>
            </a:p>
          </p:txBody>
        </p:sp>
        <p:sp>
          <p:nvSpPr>
            <p:cNvPr id="192" name="Elipse 191">
              <a:extLst>
                <a:ext uri="{FF2B5EF4-FFF2-40B4-BE49-F238E27FC236}">
                  <a16:creationId xmlns="" xmlns:a16="http://schemas.microsoft.com/office/drawing/2014/main" id="{47E0CE05-0ED1-48AB-9556-1CEEA21C8A44}"/>
                </a:ext>
              </a:extLst>
            </p:cNvPr>
            <p:cNvSpPr/>
            <p:nvPr/>
          </p:nvSpPr>
          <p:spPr>
            <a:xfrm>
              <a:off x="9534685" y="1788545"/>
              <a:ext cx="653380" cy="541808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 w="28575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93" name="CaixaDeTexto 192">
              <a:extLst>
                <a:ext uri="{FF2B5EF4-FFF2-40B4-BE49-F238E27FC236}">
                  <a16:creationId xmlns="" xmlns:a16="http://schemas.microsoft.com/office/drawing/2014/main" id="{590D6391-1675-4C08-9681-901B0E66CCFE}"/>
                </a:ext>
              </a:extLst>
            </p:cNvPr>
            <p:cNvSpPr txBox="1"/>
            <p:nvPr/>
          </p:nvSpPr>
          <p:spPr>
            <a:xfrm>
              <a:off x="9499310" y="1819031"/>
              <a:ext cx="759844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1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Calibri"/>
                  <a:ea typeface="+mn-ea"/>
                  <a:cs typeface="+mn-cs"/>
                </a:rPr>
                <a:t>24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1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Calibri"/>
                  <a:ea typeface="+mn-ea"/>
                  <a:cs typeface="+mn-cs"/>
                </a:rPr>
                <a:t>horas</a:t>
              </a:r>
            </a:p>
          </p:txBody>
        </p:sp>
        <p:grpSp>
          <p:nvGrpSpPr>
            <p:cNvPr id="194" name="Agrupar 193">
              <a:extLst>
                <a:ext uri="{FF2B5EF4-FFF2-40B4-BE49-F238E27FC236}">
                  <a16:creationId xmlns="" xmlns:a16="http://schemas.microsoft.com/office/drawing/2014/main" id="{C45A6F89-9F95-4A17-B1F8-124B9568F1AD}"/>
                </a:ext>
              </a:extLst>
            </p:cNvPr>
            <p:cNvGrpSpPr/>
            <p:nvPr/>
          </p:nvGrpSpPr>
          <p:grpSpPr>
            <a:xfrm>
              <a:off x="9494288" y="3028835"/>
              <a:ext cx="167951" cy="816075"/>
              <a:chOff x="3128898" y="2810580"/>
              <a:chExt cx="167951" cy="816075"/>
            </a:xfrm>
          </p:grpSpPr>
          <p:sp>
            <p:nvSpPr>
              <p:cNvPr id="195" name="Elipse 194">
                <a:extLst>
                  <a:ext uri="{FF2B5EF4-FFF2-40B4-BE49-F238E27FC236}">
                    <a16:creationId xmlns="" xmlns:a16="http://schemas.microsoft.com/office/drawing/2014/main" id="{6BD04727-7824-4FFF-B5B2-F941DAA0594A}"/>
                  </a:ext>
                </a:extLst>
              </p:cNvPr>
              <p:cNvSpPr/>
              <p:nvPr/>
            </p:nvSpPr>
            <p:spPr>
              <a:xfrm>
                <a:off x="3128898" y="3458704"/>
                <a:ext cx="167951" cy="167951"/>
              </a:xfrm>
              <a:prstGeom prst="ellipse">
                <a:avLst/>
              </a:prstGeom>
              <a:solidFill>
                <a:schemeClr val="bg2"/>
              </a:solidFill>
              <a:ln w="12700" cap="flat" cmpd="sng" algn="ctr">
                <a:solidFill>
                  <a:srgbClr val="00206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cxnSp>
            <p:nvCxnSpPr>
              <p:cNvPr id="196" name="Conector reto 195">
                <a:extLst>
                  <a:ext uri="{FF2B5EF4-FFF2-40B4-BE49-F238E27FC236}">
                    <a16:creationId xmlns="" xmlns:a16="http://schemas.microsoft.com/office/drawing/2014/main" id="{02D936A4-B479-45FF-BF3B-4608AFA335B8}"/>
                  </a:ext>
                </a:extLst>
              </p:cNvPr>
              <p:cNvCxnSpPr>
                <a:stCxn id="195" idx="0"/>
              </p:cNvCxnSpPr>
              <p:nvPr/>
            </p:nvCxnSpPr>
            <p:spPr>
              <a:xfrm flipH="1" flipV="1">
                <a:off x="3212873" y="2810580"/>
                <a:ext cx="1" cy="648124"/>
              </a:xfrm>
              <a:prstGeom prst="line">
                <a:avLst/>
              </a:prstGeom>
              <a:noFill/>
              <a:ln w="19050" cap="flat" cmpd="sng" algn="ctr">
                <a:solidFill>
                  <a:srgbClr val="002060"/>
                </a:solidFill>
                <a:prstDash val="sysDot"/>
                <a:miter lim="800000"/>
              </a:ln>
              <a:effectLst/>
            </p:spPr>
          </p:cxnSp>
        </p:grpSp>
        <p:grpSp>
          <p:nvGrpSpPr>
            <p:cNvPr id="22" name="Agrupar 21">
              <a:extLst>
                <a:ext uri="{FF2B5EF4-FFF2-40B4-BE49-F238E27FC236}">
                  <a16:creationId xmlns="" xmlns:a16="http://schemas.microsoft.com/office/drawing/2014/main" id="{BD30C647-3E91-424A-B88D-FE3C37A0C3E1}"/>
                </a:ext>
              </a:extLst>
            </p:cNvPr>
            <p:cNvGrpSpPr/>
            <p:nvPr/>
          </p:nvGrpSpPr>
          <p:grpSpPr>
            <a:xfrm>
              <a:off x="5023203" y="4099678"/>
              <a:ext cx="5899121" cy="2554251"/>
              <a:chOff x="5317420" y="3996644"/>
              <a:chExt cx="5512128" cy="2618843"/>
            </a:xfrm>
            <a:solidFill>
              <a:schemeClr val="tx2">
                <a:lumMod val="20000"/>
                <a:lumOff val="80000"/>
              </a:schemeClr>
            </a:solidFill>
          </p:grpSpPr>
          <p:sp>
            <p:nvSpPr>
              <p:cNvPr id="21" name="Retângulo 20">
                <a:extLst>
                  <a:ext uri="{FF2B5EF4-FFF2-40B4-BE49-F238E27FC236}">
                    <a16:creationId xmlns="" xmlns:a16="http://schemas.microsoft.com/office/drawing/2014/main" id="{B83B9C69-4D56-420E-85E1-F93780225E74}"/>
                  </a:ext>
                </a:extLst>
              </p:cNvPr>
              <p:cNvSpPr/>
              <p:nvPr/>
            </p:nvSpPr>
            <p:spPr>
              <a:xfrm>
                <a:off x="5317420" y="3996644"/>
                <a:ext cx="5512128" cy="2618843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6" name="CaixaDeTexto 125">
                <a:extLst>
                  <a:ext uri="{FF2B5EF4-FFF2-40B4-BE49-F238E27FC236}">
                    <a16:creationId xmlns="" xmlns:a16="http://schemas.microsoft.com/office/drawing/2014/main" id="{0F278539-E137-4A95-8E6A-40AF84839A6E}"/>
                  </a:ext>
                </a:extLst>
              </p:cNvPr>
              <p:cNvSpPr txBox="1"/>
              <p:nvPr/>
            </p:nvSpPr>
            <p:spPr>
              <a:xfrm>
                <a:off x="5727304" y="4070818"/>
                <a:ext cx="4708647" cy="441783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1" i="1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Durante </a:t>
                </a:r>
                <a:r>
                  <a:rPr kumimoji="0" lang="en-US" sz="1100" b="1" i="1" u="none" strike="noStrike" kern="0" cap="none" spc="0" normalizeH="0" baseline="0" noProof="0" dirty="0" err="1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este</a:t>
                </a:r>
                <a:r>
                  <a:rPr kumimoji="0" lang="en-US" sz="1100" b="1" i="1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</a:t>
                </a:r>
                <a:r>
                  <a:rPr kumimoji="0" lang="en-US" sz="1100" b="1" i="1" u="none" strike="noStrike" kern="0" cap="none" spc="0" normalizeH="0" baseline="0" noProof="0" dirty="0" err="1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ciclo</a:t>
                </a:r>
                <a:r>
                  <a:rPr kumimoji="0" lang="en-US" sz="1100" b="1" i="1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, o Sistema </a:t>
                </a:r>
                <a:r>
                  <a:rPr kumimoji="0" lang="en-US" sz="1100" b="1" i="1" u="none" strike="noStrike" kern="0" cap="none" spc="0" normalizeH="0" baseline="0" noProof="0" dirty="0" err="1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deve</a:t>
                </a:r>
                <a:r>
                  <a:rPr kumimoji="0" lang="en-US" sz="1100" b="1" i="1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</a:t>
                </a:r>
                <a:r>
                  <a:rPr kumimoji="0" lang="en-US" sz="1100" b="1" i="1" u="none" strike="noStrike" kern="0" cap="none" spc="0" normalizeH="0" baseline="0" noProof="0" dirty="0" err="1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consultar</a:t>
                </a:r>
                <a:r>
                  <a:rPr kumimoji="0" lang="en-US" sz="1100" b="1" i="1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</a:t>
                </a:r>
                <a:r>
                  <a:rPr kumimoji="0" lang="en-US" sz="1100" b="1" i="1" u="none" strike="noStrike" kern="0" cap="none" spc="0" normalizeH="0" baseline="0" noProof="0" dirty="0" err="1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os</a:t>
                </a:r>
                <a:r>
                  <a:rPr kumimoji="0" lang="en-US" sz="1100" b="1" i="1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</a:t>
                </a:r>
                <a:r>
                  <a:rPr kumimoji="0" lang="en-US" sz="1100" b="1" i="1" u="none" strike="noStrike" kern="0" cap="none" spc="0" normalizeH="0" baseline="0" noProof="0" dirty="0" err="1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clientes</a:t>
                </a:r>
                <a:r>
                  <a:rPr kumimoji="0" lang="en-US" sz="1100" b="1" i="1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que </a:t>
                </a:r>
                <a:r>
                  <a:rPr kumimoji="0" lang="en-US" sz="1100" b="1" i="1" u="none" strike="noStrike" kern="0" cap="none" spc="0" normalizeH="0" baseline="0" noProof="0" dirty="0" err="1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já</a:t>
                </a:r>
                <a:r>
                  <a:rPr kumimoji="0" lang="en-US" sz="1100" b="1" i="1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</a:t>
                </a:r>
                <a:r>
                  <a:rPr kumimoji="0" lang="en-US" sz="1100" b="1" i="1" u="none" strike="noStrike" kern="0" cap="none" spc="0" normalizeH="0" baseline="0" noProof="0" dirty="0" err="1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realizaram</a:t>
                </a:r>
                <a:r>
                  <a:rPr kumimoji="0" lang="en-US" sz="1100" b="1" i="1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o </a:t>
                </a:r>
                <a:r>
                  <a:rPr kumimoji="0" lang="en-US" sz="1100" b="1" i="1" u="none" strike="noStrike" kern="0" cap="none" spc="0" normalizeH="0" baseline="0" noProof="0" dirty="0" err="1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processo</a:t>
                </a:r>
                <a:r>
                  <a:rPr kumimoji="0" lang="en-US" sz="1100" b="1" i="1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de </a:t>
                </a:r>
                <a:r>
                  <a:rPr kumimoji="0" lang="en-US" sz="1100" b="1" i="1" u="none" strike="noStrike" kern="0" cap="none" spc="0" normalizeH="0" baseline="0" noProof="0" dirty="0" err="1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Ativação</a:t>
                </a:r>
                <a:r>
                  <a:rPr kumimoji="0" lang="en-US" sz="1100" b="1" i="1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e </a:t>
                </a:r>
                <a:r>
                  <a:rPr kumimoji="0" lang="en-US" sz="1100" b="1" i="1" u="none" strike="noStrike" kern="0" cap="none" spc="0" normalizeH="0" baseline="0" noProof="0" dirty="0" err="1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somente</a:t>
                </a:r>
                <a:r>
                  <a:rPr kumimoji="0" lang="en-US" sz="1100" b="1" i="1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</a:t>
                </a:r>
                <a:r>
                  <a:rPr kumimoji="0" lang="en-US" sz="1100" b="1" i="1" u="none" strike="noStrike" kern="0" cap="none" spc="0" normalizeH="0" baseline="0" noProof="0" dirty="0" err="1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abordar</a:t>
                </a:r>
                <a:r>
                  <a:rPr kumimoji="0" lang="en-US" sz="1100" b="1" i="1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</a:t>
                </a:r>
                <a:r>
                  <a:rPr kumimoji="0" lang="en-US" sz="1100" b="1" i="1" u="none" strike="noStrike" kern="0" cap="none" spc="0" normalizeH="0" baseline="0" noProof="0" dirty="0" err="1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os</a:t>
                </a:r>
                <a:r>
                  <a:rPr kumimoji="0" lang="en-US" sz="1100" b="1" i="1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que </a:t>
                </a:r>
                <a:r>
                  <a:rPr kumimoji="0" lang="en-US" sz="1100" b="1" i="1" u="none" strike="noStrike" kern="0" cap="none" spc="0" normalizeH="0" baseline="0" noProof="0" dirty="0" err="1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ainda</a:t>
                </a:r>
                <a:r>
                  <a:rPr kumimoji="0" lang="en-US" sz="1100" b="1" i="1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</a:t>
                </a:r>
                <a:r>
                  <a:rPr kumimoji="0" lang="en-US" sz="1100" b="1" i="1" u="none" strike="noStrike" kern="0" cap="none" spc="0" normalizeH="0" baseline="0" noProof="0" dirty="0" err="1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estão</a:t>
                </a:r>
                <a:r>
                  <a:rPr kumimoji="0" lang="en-US" sz="1100" b="1" i="1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</a:t>
                </a:r>
                <a:r>
                  <a:rPr kumimoji="0" lang="en-US" sz="1100" b="1" i="1" u="none" strike="noStrike" kern="0" cap="none" spc="0" normalizeH="0" baseline="0" noProof="0" dirty="0" err="1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pendentes</a:t>
                </a:r>
                <a:r>
                  <a:rPr kumimoji="0" lang="en-US" sz="1100" b="1" i="1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de </a:t>
                </a:r>
                <a:r>
                  <a:rPr kumimoji="0" lang="en-US" sz="1100" b="1" i="1" u="none" strike="noStrike" kern="0" cap="none" spc="0" normalizeH="0" baseline="0" noProof="0" dirty="0" err="1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tratativa</a:t>
                </a:r>
                <a:r>
                  <a:rPr kumimoji="0" lang="en-US" sz="1100" b="1" i="1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</a:t>
                </a:r>
              </a:p>
            </p:txBody>
          </p:sp>
          <p:grpSp>
            <p:nvGrpSpPr>
              <p:cNvPr id="20" name="Agrupar 19">
                <a:extLst>
                  <a:ext uri="{FF2B5EF4-FFF2-40B4-BE49-F238E27FC236}">
                    <a16:creationId xmlns="" xmlns:a16="http://schemas.microsoft.com/office/drawing/2014/main" id="{C0B08A12-50CA-4F32-AD3F-93C518CFC104}"/>
                  </a:ext>
                </a:extLst>
              </p:cNvPr>
              <p:cNvGrpSpPr/>
              <p:nvPr/>
            </p:nvGrpSpPr>
            <p:grpSpPr>
              <a:xfrm>
                <a:off x="6762059" y="4472185"/>
                <a:ext cx="3126964" cy="2069454"/>
                <a:chOff x="7078893" y="4347313"/>
                <a:chExt cx="3126964" cy="2069454"/>
              </a:xfrm>
              <a:grpFill/>
            </p:grpSpPr>
            <p:pic>
              <p:nvPicPr>
                <p:cNvPr id="200" name="Imagem 199">
                  <a:extLst>
                    <a:ext uri="{FF2B5EF4-FFF2-40B4-BE49-F238E27FC236}">
                      <a16:creationId xmlns="" xmlns:a16="http://schemas.microsoft.com/office/drawing/2014/main" id="{36D8381E-6669-4207-A5E9-367514E8AD6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4">
                  <a:extLst>
                    <a:ext uri="{BEBA8EAE-BF5A-486C-A8C5-ECC9F3942E4B}">
                      <a14:imgProps xmlns:a14="http://schemas.microsoft.com/office/drawing/2010/main">
                        <a14:imgLayer r:embed="rId15">
                          <a14:imgEffect>
                            <a14:saturation sat="33000"/>
                          </a14:imgEffect>
                        </a14:imgLayer>
                      </a14:imgProps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164380" y="4347313"/>
                  <a:ext cx="638667" cy="649678"/>
                </a:xfrm>
                <a:prstGeom prst="ellipse">
                  <a:avLst/>
                </a:prstGeom>
                <a:grpFill/>
                <a:ln>
                  <a:noFill/>
                </a:ln>
                <a:effectLst>
                  <a:softEdge rad="112500"/>
                </a:effectLst>
              </p:spPr>
            </p:pic>
            <p:cxnSp>
              <p:nvCxnSpPr>
                <p:cNvPr id="203" name="Conector: Angulado 202">
                  <a:extLst>
                    <a:ext uri="{FF2B5EF4-FFF2-40B4-BE49-F238E27FC236}">
                      <a16:creationId xmlns="" xmlns:a16="http://schemas.microsoft.com/office/drawing/2014/main" id="{9473E596-615C-4DDD-A300-379E287C596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7923306" y="4850615"/>
                  <a:ext cx="257102" cy="668186"/>
                </a:xfrm>
                <a:prstGeom prst="bentConnector3">
                  <a:avLst>
                    <a:gd name="adj1" fmla="val 50000"/>
                  </a:avLst>
                </a:prstGeom>
                <a:grpFill/>
                <a:ln>
                  <a:solidFill>
                    <a:schemeClr val="bg1">
                      <a:lumMod val="75000"/>
                    </a:schemeClr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4" name="Conector: Angulado 203">
                  <a:extLst>
                    <a:ext uri="{FF2B5EF4-FFF2-40B4-BE49-F238E27FC236}">
                      <a16:creationId xmlns="" xmlns:a16="http://schemas.microsoft.com/office/drawing/2014/main" id="{CC3A5A4A-EFAA-4B63-8E53-41CBC9D79E2E}"/>
                    </a:ext>
                  </a:extLst>
                </p:cNvPr>
                <p:cNvCxnSpPr/>
                <p:nvPr/>
              </p:nvCxnSpPr>
              <p:spPr>
                <a:xfrm>
                  <a:off x="8760446" y="4850615"/>
                  <a:ext cx="347105" cy="652342"/>
                </a:xfrm>
                <a:prstGeom prst="bentConnector3">
                  <a:avLst/>
                </a:prstGeom>
                <a:grpFill/>
                <a:ln>
                  <a:solidFill>
                    <a:schemeClr val="bg1">
                      <a:lumMod val="75000"/>
                    </a:schemeClr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05" name="CaixaDeTexto 204">
                  <a:extLst>
                    <a:ext uri="{FF2B5EF4-FFF2-40B4-BE49-F238E27FC236}">
                      <a16:creationId xmlns="" xmlns:a16="http://schemas.microsoft.com/office/drawing/2014/main" id="{777193F0-4BCF-472E-A125-C39349C8A04D}"/>
                    </a:ext>
                  </a:extLst>
                </p:cNvPr>
                <p:cNvSpPr txBox="1"/>
                <p:nvPr/>
              </p:nvSpPr>
              <p:spPr>
                <a:xfrm>
                  <a:off x="7974201" y="4932216"/>
                  <a:ext cx="1019024" cy="5680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000" b="1" i="1" u="none" strike="noStrike" kern="0" cap="none" spc="0" normalizeH="0" baseline="0" noProof="0" dirty="0" err="1">
                      <a:ln>
                        <a:noFill/>
                      </a:ln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Realiza</a:t>
                  </a:r>
                  <a:r>
                    <a:rPr kumimoji="0" lang="en-US" sz="1000" b="1" i="1" u="none" strike="noStrike" kern="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 </a:t>
                  </a:r>
                </a:p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000" b="1" i="1" u="none" strike="noStrike" kern="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Consulta</a:t>
                  </a:r>
                </a:p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000" b="1" i="1" u="none" strike="noStrike" kern="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Sistema</a:t>
                  </a:r>
                </a:p>
              </p:txBody>
            </p:sp>
            <p:sp>
              <p:nvSpPr>
                <p:cNvPr id="208" name="CaixaDeTexto 207">
                  <a:extLst>
                    <a:ext uri="{FF2B5EF4-FFF2-40B4-BE49-F238E27FC236}">
                      <a16:creationId xmlns="" xmlns:a16="http://schemas.microsoft.com/office/drawing/2014/main" id="{6F6DB23D-6706-4483-9BBC-2E70F9084A95}"/>
                    </a:ext>
                  </a:extLst>
                </p:cNvPr>
                <p:cNvSpPr txBox="1"/>
                <p:nvPr/>
              </p:nvSpPr>
              <p:spPr>
                <a:xfrm>
                  <a:off x="7078893" y="5681853"/>
                  <a:ext cx="1331245" cy="252447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>
                  <a:noFill/>
                </a:ln>
              </p:spPr>
              <p:txBody>
                <a:bodyPr wrap="square" rtlCol="0">
                  <a:spAutoFit/>
                </a:bodyPr>
                <a:lstStyle>
                  <a:defPPr>
                    <a:defRPr lang="en-US"/>
                  </a:defPPr>
                  <a:lvl1pPr marR="0" lvl="0" indent="0" algn="ctr" defTabSz="914400" fontAlgn="auto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kumimoji="0" sz="1100" b="1" i="1" u="none" strike="noStrike" kern="0" cap="none" spc="0" normalizeH="0" baseline="0">
                      <a:ln>
                        <a:noFill/>
                      </a:ln>
                      <a:effectLst/>
                      <a:uLnTx/>
                      <a:uFillTx/>
                      <a:latin typeface="Calibri" panose="020F0502020204030204"/>
                    </a:defRPr>
                  </a:lvl1pPr>
                </a:lstStyle>
                <a:p>
                  <a:r>
                    <a:rPr lang="en-US"/>
                    <a:t>Robô</a:t>
                  </a:r>
                  <a:endParaRPr lang="en-US" dirty="0"/>
                </a:p>
              </p:txBody>
            </p:sp>
            <p:sp>
              <p:nvSpPr>
                <p:cNvPr id="209" name="CaixaDeTexto 208">
                  <a:extLst>
                    <a:ext uri="{FF2B5EF4-FFF2-40B4-BE49-F238E27FC236}">
                      <a16:creationId xmlns="" xmlns:a16="http://schemas.microsoft.com/office/drawing/2014/main" id="{E480ED80-7B5A-44C0-9B17-0E780973370D}"/>
                    </a:ext>
                  </a:extLst>
                </p:cNvPr>
                <p:cNvSpPr txBox="1"/>
                <p:nvPr/>
              </p:nvSpPr>
              <p:spPr>
                <a:xfrm>
                  <a:off x="8685894" y="5627868"/>
                  <a:ext cx="1519963" cy="725787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>
                  <a:noFill/>
                </a:ln>
              </p:spPr>
              <p:txBody>
                <a:bodyPr wrap="square" rtlCol="0">
                  <a:spAutoFit/>
                </a:bodyPr>
                <a:lstStyle>
                  <a:defPPr>
                    <a:defRPr lang="en-US"/>
                  </a:defPPr>
                  <a:lvl1pPr marR="0" lvl="0" indent="0" algn="ctr" defTabSz="914400" fontAlgn="auto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kumimoji="0" sz="1100" b="1" i="1" u="none" strike="noStrike" kern="0" cap="none" spc="0" normalizeH="0" baseline="0">
                      <a:ln>
                        <a:noFill/>
                      </a:ln>
                      <a:effectLst/>
                      <a:uLnTx/>
                      <a:uFillTx/>
                      <a:latin typeface="Calibri" panose="020F0502020204030204"/>
                    </a:defRPr>
                  </a:lvl1pPr>
                </a:lstStyle>
                <a:p>
                  <a:r>
                    <a:rPr lang="en-US"/>
                    <a:t>Se não</a:t>
                  </a:r>
                  <a:r>
                    <a:rPr lang="en-US" dirty="0"/>
                    <a:t> </a:t>
                  </a:r>
                  <a:r>
                    <a:rPr lang="en-US"/>
                    <a:t>for localizada a Ativação em sistema</a:t>
                  </a:r>
                  <a:r>
                    <a:rPr lang="en-US" dirty="0"/>
                    <a:t>,  segue com </a:t>
                  </a:r>
                  <a:r>
                    <a:rPr lang="en-US"/>
                    <a:t>a regua</a:t>
                  </a:r>
                  <a:r>
                    <a:rPr lang="en-US" dirty="0"/>
                    <a:t> </a:t>
                  </a:r>
                  <a:r>
                    <a:rPr lang="en-US"/>
                    <a:t>de comunicação</a:t>
                  </a:r>
                  <a:endParaRPr lang="en-US" dirty="0"/>
                </a:p>
              </p:txBody>
            </p:sp>
          </p:grpSp>
        </p:grpSp>
        <p:sp>
          <p:nvSpPr>
            <p:cNvPr id="91" name="CaixaDeTexto 90">
              <a:extLst>
                <a:ext uri="{FF2B5EF4-FFF2-40B4-BE49-F238E27FC236}">
                  <a16:creationId xmlns="" xmlns:a16="http://schemas.microsoft.com/office/drawing/2014/main" id="{6A49329D-2638-433E-B7A9-9793F3FD206B}"/>
                </a:ext>
              </a:extLst>
            </p:cNvPr>
            <p:cNvSpPr txBox="1"/>
            <p:nvPr/>
          </p:nvSpPr>
          <p:spPr>
            <a:xfrm>
              <a:off x="1573501" y="5315785"/>
              <a:ext cx="1331245" cy="4001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000" b="1" i="1" kern="0" dirty="0" err="1">
                  <a:latin typeface="Calibri" panose="020F0502020204030204"/>
                </a:rPr>
                <a:t>Robô</a:t>
              </a:r>
              <a:r>
                <a:rPr lang="en-US" sz="1000" b="1" i="1" kern="0" dirty="0">
                  <a:latin typeface="Calibri" panose="020F0502020204030204"/>
                </a:rPr>
                <a:t> </a:t>
              </a:r>
              <a:r>
                <a:rPr lang="en-US" sz="1000" b="1" i="1" kern="0" dirty="0" err="1">
                  <a:latin typeface="Calibri" panose="020F0502020204030204"/>
                </a:rPr>
                <a:t>executa</a:t>
              </a:r>
              <a:r>
                <a:rPr lang="en-US" sz="1000" b="1" i="1" kern="0" dirty="0">
                  <a:latin typeface="Calibri" panose="020F0502020204030204"/>
                </a:rPr>
                <a:t> o </a:t>
              </a:r>
              <a:r>
                <a:rPr lang="en-US" sz="1000" b="1" i="1" kern="0" dirty="0" err="1">
                  <a:latin typeface="Calibri" panose="020F0502020204030204"/>
                </a:rPr>
                <a:t>agendamento</a:t>
              </a:r>
              <a:endParaRPr kumimoji="0" lang="en-US" sz="1000" b="1" i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</a:endParaRPr>
            </a:p>
          </p:txBody>
        </p:sp>
        <p:cxnSp>
          <p:nvCxnSpPr>
            <p:cNvPr id="30" name="Conector de Seta Reta 29">
              <a:extLst>
                <a:ext uri="{FF2B5EF4-FFF2-40B4-BE49-F238E27FC236}">
                  <a16:creationId xmlns="" xmlns:a16="http://schemas.microsoft.com/office/drawing/2014/main" id="{81032B4F-FF8B-48D6-9995-84F47A1B24E3}"/>
                </a:ext>
              </a:extLst>
            </p:cNvPr>
            <p:cNvCxnSpPr>
              <a:cxnSpLocks/>
              <a:stCxn id="108" idx="6"/>
              <a:endCxn id="107" idx="1"/>
            </p:cNvCxnSpPr>
            <p:nvPr/>
          </p:nvCxnSpPr>
          <p:spPr>
            <a:xfrm flipV="1">
              <a:off x="1051693" y="5078238"/>
              <a:ext cx="906015" cy="7812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Conector de Seta Reta 92">
              <a:extLst>
                <a:ext uri="{FF2B5EF4-FFF2-40B4-BE49-F238E27FC236}">
                  <a16:creationId xmlns="" xmlns:a16="http://schemas.microsoft.com/office/drawing/2014/main" id="{2236C673-0B12-45DF-AFAA-B5E2E6FF7F7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254764" y="4386386"/>
              <a:ext cx="0" cy="460230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Conector de Seta Reta 100">
              <a:extLst>
                <a:ext uri="{FF2B5EF4-FFF2-40B4-BE49-F238E27FC236}">
                  <a16:creationId xmlns="" xmlns:a16="http://schemas.microsoft.com/office/drawing/2014/main" id="{4690310B-1500-4081-B928-F45055B5E480}"/>
                </a:ext>
              </a:extLst>
            </p:cNvPr>
            <p:cNvCxnSpPr>
              <a:cxnSpLocks/>
              <a:stCxn id="172" idx="2"/>
              <a:endCxn id="108" idx="0"/>
            </p:cNvCxnSpPr>
            <p:nvPr/>
          </p:nvCxnSpPr>
          <p:spPr>
            <a:xfrm>
              <a:off x="726926" y="4370644"/>
              <a:ext cx="5434" cy="390567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06" name="Imagem 105">
              <a:extLst>
                <a:ext uri="{FF2B5EF4-FFF2-40B4-BE49-F238E27FC236}">
                  <a16:creationId xmlns="" xmlns:a16="http://schemas.microsoft.com/office/drawing/2014/main" id="{5EDBA8B2-2BE5-4726-B7DD-3CD28E2216E7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17">
                      <a14:imgEffect>
                        <a14:backgroundRemoval t="10000" b="90000" l="10000" r="90000">
                          <a14:foregroundMark x1="61607" y1="46875" x2="61607" y2="46875"/>
                          <a14:foregroundMark x1="40625" y1="48214" x2="40625" y2="48214"/>
                          <a14:foregroundMark x1="42857" y1="58036" x2="42857" y2="58036"/>
                          <a14:foregroundMark x1="64732" y1="60714" x2="64732" y2="60714"/>
                          <a14:foregroundMark x1="50446" y1="50446" x2="50446" y2="50446"/>
                          <a14:foregroundMark x1="46429" y1="44643" x2="46429" y2="44643"/>
                          <a14:foregroundMark x1="46429" y1="43304" x2="46429" y2="43304"/>
                          <a14:foregroundMark x1="38839" y1="56696" x2="38839" y2="56696"/>
                          <a14:foregroundMark x1="35268" y1="61161" x2="36607" y2="61161"/>
                          <a14:foregroundMark x1="50893" y1="62500" x2="50893" y2="62500"/>
                          <a14:foregroundMark x1="48214" y1="69643" x2="48214" y2="69643"/>
                          <a14:foregroundMark x1="49554" y1="70536" x2="49554" y2="70536"/>
                          <a14:foregroundMark x1="61161" y1="64286" x2="61607" y2="62500"/>
                          <a14:foregroundMark x1="67411" y1="56696" x2="67411" y2="56696"/>
                          <a14:foregroundMark x1="67411" y1="51339" x2="67411" y2="51339"/>
                          <a14:foregroundMark x1="65625" y1="44196" x2="65625" y2="44196"/>
                          <a14:foregroundMark x1="53571" y1="53125" x2="53571" y2="53125"/>
                          <a14:foregroundMark x1="50446" y1="57143" x2="50446" y2="57143"/>
                          <a14:foregroundMark x1="48661" y1="57143" x2="48661" y2="57143"/>
                          <a14:foregroundMark x1="48661" y1="49554" x2="48661" y2="49554"/>
                          <a14:foregroundMark x1="34375" y1="44196" x2="34375" y2="44196"/>
                          <a14:foregroundMark x1="30357" y1="48661" x2="30357" y2="48661"/>
                          <a14:foregroundMark x1="30357" y1="51339" x2="30357" y2="53125"/>
                          <a14:foregroundMark x1="32143" y1="58036" x2="32143" y2="58036"/>
                          <a14:foregroundMark x1="32589" y1="59375" x2="32589" y2="59375"/>
                          <a14:foregroundMark x1="35714" y1="63839" x2="35268" y2="65179"/>
                          <a14:foregroundMark x1="33482" y1="65179" x2="33482" y2="65179"/>
                          <a14:foregroundMark x1="32143" y1="60268" x2="32143" y2="60268"/>
                          <a14:foregroundMark x1="33482" y1="43304" x2="33482" y2="43304"/>
                          <a14:foregroundMark x1="36607" y1="42411" x2="36607" y2="42411"/>
                          <a14:foregroundMark x1="40625" y1="42857" x2="48214" y2="42857"/>
                          <a14:foregroundMark x1="54464" y1="42857" x2="54464" y2="42857"/>
                          <a14:foregroundMark x1="57589" y1="42857" x2="61607" y2="42857"/>
                          <a14:foregroundMark x1="65625" y1="43304" x2="65625" y2="43304"/>
                          <a14:foregroundMark x1="66964" y1="45982" x2="67411" y2="48661"/>
                          <a14:foregroundMark x1="67411" y1="50893" x2="67411" y2="52232"/>
                          <a14:foregroundMark x1="50893" y1="30357" x2="50893" y2="30357"/>
                          <a14:foregroundMark x1="75446" y1="51786" x2="75446" y2="51786"/>
                        </a14:backgroundRemoval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6958183" y="5299769"/>
              <a:ext cx="620332" cy="597132"/>
            </a:xfrm>
            <a:prstGeom prst="rect">
              <a:avLst/>
            </a:prstGeom>
          </p:spPr>
        </p:pic>
        <p:pic>
          <p:nvPicPr>
            <p:cNvPr id="107" name="Imagem 106">
              <a:extLst>
                <a:ext uri="{FF2B5EF4-FFF2-40B4-BE49-F238E27FC236}">
                  <a16:creationId xmlns="" xmlns:a16="http://schemas.microsoft.com/office/drawing/2014/main" id="{F0C08A9F-1180-46F8-BEAB-EA69C8777315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17">
                      <a14:imgEffect>
                        <a14:backgroundRemoval t="10000" b="90000" l="10000" r="90000">
                          <a14:foregroundMark x1="61607" y1="46875" x2="61607" y2="46875"/>
                          <a14:foregroundMark x1="40625" y1="48214" x2="40625" y2="48214"/>
                          <a14:foregroundMark x1="42857" y1="58036" x2="42857" y2="58036"/>
                          <a14:foregroundMark x1="64732" y1="60714" x2="64732" y2="60714"/>
                          <a14:foregroundMark x1="50446" y1="50446" x2="50446" y2="50446"/>
                          <a14:foregroundMark x1="46429" y1="44643" x2="46429" y2="44643"/>
                          <a14:foregroundMark x1="46429" y1="43304" x2="46429" y2="43304"/>
                          <a14:foregroundMark x1="38839" y1="56696" x2="38839" y2="56696"/>
                          <a14:foregroundMark x1="35268" y1="61161" x2="36607" y2="61161"/>
                          <a14:foregroundMark x1="50893" y1="62500" x2="50893" y2="62500"/>
                          <a14:foregroundMark x1="48214" y1="69643" x2="48214" y2="69643"/>
                          <a14:foregroundMark x1="49554" y1="70536" x2="49554" y2="70536"/>
                          <a14:foregroundMark x1="61161" y1="64286" x2="61607" y2="62500"/>
                          <a14:foregroundMark x1="67411" y1="56696" x2="67411" y2="56696"/>
                          <a14:foregroundMark x1="67411" y1="51339" x2="67411" y2="51339"/>
                          <a14:foregroundMark x1="65625" y1="44196" x2="65625" y2="44196"/>
                          <a14:foregroundMark x1="53571" y1="53125" x2="53571" y2="53125"/>
                          <a14:foregroundMark x1="50446" y1="57143" x2="50446" y2="57143"/>
                          <a14:foregroundMark x1="48661" y1="57143" x2="48661" y2="57143"/>
                          <a14:foregroundMark x1="48661" y1="49554" x2="48661" y2="49554"/>
                          <a14:foregroundMark x1="34375" y1="44196" x2="34375" y2="44196"/>
                          <a14:foregroundMark x1="30357" y1="48661" x2="30357" y2="48661"/>
                          <a14:foregroundMark x1="30357" y1="51339" x2="30357" y2="53125"/>
                          <a14:foregroundMark x1="32143" y1="58036" x2="32143" y2="58036"/>
                          <a14:foregroundMark x1="32589" y1="59375" x2="32589" y2="59375"/>
                          <a14:foregroundMark x1="35714" y1="63839" x2="35268" y2="65179"/>
                          <a14:foregroundMark x1="33482" y1="65179" x2="33482" y2="65179"/>
                          <a14:foregroundMark x1="32143" y1="60268" x2="32143" y2="60268"/>
                          <a14:foregroundMark x1="33482" y1="43304" x2="33482" y2="43304"/>
                          <a14:foregroundMark x1="36607" y1="42411" x2="36607" y2="42411"/>
                          <a14:foregroundMark x1="40625" y1="42857" x2="48214" y2="42857"/>
                          <a14:foregroundMark x1="54464" y1="42857" x2="54464" y2="42857"/>
                          <a14:foregroundMark x1="57589" y1="42857" x2="61607" y2="42857"/>
                          <a14:foregroundMark x1="65625" y1="43304" x2="65625" y2="43304"/>
                          <a14:foregroundMark x1="66964" y1="45982" x2="67411" y2="48661"/>
                          <a14:foregroundMark x1="67411" y1="50893" x2="67411" y2="52232"/>
                          <a14:foregroundMark x1="50893" y1="30357" x2="50893" y2="30357"/>
                          <a14:foregroundMark x1="75446" y1="51786" x2="75446" y2="51786"/>
                        </a14:backgroundRemoval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957708" y="4779672"/>
              <a:ext cx="620332" cy="597132"/>
            </a:xfrm>
            <a:prstGeom prst="rect">
              <a:avLst/>
            </a:prstGeom>
          </p:spPr>
        </p:pic>
        <p:pic>
          <p:nvPicPr>
            <p:cNvPr id="108" name="Imagem 107">
              <a:extLst>
                <a:ext uri="{FF2B5EF4-FFF2-40B4-BE49-F238E27FC236}">
                  <a16:creationId xmlns="" xmlns:a16="http://schemas.microsoft.com/office/drawing/2014/main" id="{588C3359-9B27-4AE0-8732-F36C3FDADDE4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BEBA8EAE-BF5A-486C-A8C5-ECC9F3942E4B}">
                  <a14:imgProps xmlns:a14="http://schemas.microsoft.com/office/drawing/2010/main">
                    <a14:imgLayer r:embed="rId15">
                      <a14:imgEffect>
                        <a14:saturation sat="33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413026" y="4761211"/>
              <a:ext cx="638667" cy="649678"/>
            </a:xfrm>
            <a:prstGeom prst="ellipse">
              <a:avLst/>
            </a:prstGeom>
            <a:ln>
              <a:noFill/>
            </a:ln>
            <a:effectLst>
              <a:softEdge rad="112500"/>
            </a:effectLst>
          </p:spPr>
        </p:pic>
        <p:sp>
          <p:nvSpPr>
            <p:cNvPr id="145" name="Elipse 144">
              <a:extLst>
                <a:ext uri="{FF2B5EF4-FFF2-40B4-BE49-F238E27FC236}">
                  <a16:creationId xmlns="" xmlns:a16="http://schemas.microsoft.com/office/drawing/2014/main" id="{A2222D40-7363-4C80-9A72-57FBDCDEDD60}"/>
                </a:ext>
              </a:extLst>
            </p:cNvPr>
            <p:cNvSpPr/>
            <p:nvPr/>
          </p:nvSpPr>
          <p:spPr>
            <a:xfrm>
              <a:off x="191715" y="992694"/>
              <a:ext cx="501118" cy="484986"/>
            </a:xfrm>
            <a:prstGeom prst="ellipse">
              <a:avLst/>
            </a:prstGeom>
            <a:solidFill>
              <a:srgbClr val="F47A1F"/>
            </a:solidFill>
            <a:ln w="571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46" name="Rectangle 7">
              <a:extLst>
                <a:ext uri="{FF2B5EF4-FFF2-40B4-BE49-F238E27FC236}">
                  <a16:creationId xmlns="" xmlns:a16="http://schemas.microsoft.com/office/drawing/2014/main" id="{3BF5953E-764D-48DE-A4BA-FC1A1CE28DB5}"/>
                </a:ext>
              </a:extLst>
            </p:cNvPr>
            <p:cNvSpPr/>
            <p:nvPr/>
          </p:nvSpPr>
          <p:spPr>
            <a:xfrm>
              <a:off x="287860" y="1075753"/>
              <a:ext cx="280840" cy="40780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2500" b="1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Calibri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53" name="Elipse 152">
              <a:extLst>
                <a:ext uri="{FF2B5EF4-FFF2-40B4-BE49-F238E27FC236}">
                  <a16:creationId xmlns="" xmlns:a16="http://schemas.microsoft.com/office/drawing/2014/main" id="{1D81D92D-E1CB-4B41-BC73-920265645ADA}"/>
                </a:ext>
              </a:extLst>
            </p:cNvPr>
            <p:cNvSpPr/>
            <p:nvPr/>
          </p:nvSpPr>
          <p:spPr>
            <a:xfrm>
              <a:off x="4331673" y="1002338"/>
              <a:ext cx="558809" cy="484986"/>
            </a:xfrm>
            <a:prstGeom prst="ellipse">
              <a:avLst/>
            </a:prstGeom>
            <a:solidFill>
              <a:srgbClr val="F47A1F"/>
            </a:solidFill>
            <a:ln w="571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54" name="Rectangle 7">
              <a:extLst>
                <a:ext uri="{FF2B5EF4-FFF2-40B4-BE49-F238E27FC236}">
                  <a16:creationId xmlns="" xmlns:a16="http://schemas.microsoft.com/office/drawing/2014/main" id="{85CE7B8A-7AF8-4753-9997-910BB6414426}"/>
                </a:ext>
              </a:extLst>
            </p:cNvPr>
            <p:cNvSpPr/>
            <p:nvPr/>
          </p:nvSpPr>
          <p:spPr>
            <a:xfrm>
              <a:off x="4468143" y="1040990"/>
              <a:ext cx="313172" cy="40780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2500" b="1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Calibri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57" name="Elipse 156">
              <a:extLst>
                <a:ext uri="{FF2B5EF4-FFF2-40B4-BE49-F238E27FC236}">
                  <a16:creationId xmlns="" xmlns:a16="http://schemas.microsoft.com/office/drawing/2014/main" id="{7CDBEA7B-4931-4FD0-9109-84A84E8847DF}"/>
                </a:ext>
              </a:extLst>
            </p:cNvPr>
            <p:cNvSpPr/>
            <p:nvPr/>
          </p:nvSpPr>
          <p:spPr>
            <a:xfrm>
              <a:off x="10394312" y="992694"/>
              <a:ext cx="501118" cy="484986"/>
            </a:xfrm>
            <a:prstGeom prst="ellipse">
              <a:avLst/>
            </a:prstGeom>
            <a:solidFill>
              <a:srgbClr val="F47A1F"/>
            </a:solidFill>
            <a:ln w="571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58" name="Rectangle 7">
              <a:extLst>
                <a:ext uri="{FF2B5EF4-FFF2-40B4-BE49-F238E27FC236}">
                  <a16:creationId xmlns="" xmlns:a16="http://schemas.microsoft.com/office/drawing/2014/main" id="{891028BD-3FC4-4C2C-B960-0400AE4B5568}"/>
                </a:ext>
              </a:extLst>
            </p:cNvPr>
            <p:cNvSpPr/>
            <p:nvPr/>
          </p:nvSpPr>
          <p:spPr>
            <a:xfrm>
              <a:off x="10497266" y="1050335"/>
              <a:ext cx="280840" cy="40780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2500" b="1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Calibri"/>
                  <a:ea typeface="+mn-ea"/>
                  <a:cs typeface="+mn-cs"/>
                </a:rPr>
                <a:t>3</a:t>
              </a:r>
            </a:p>
          </p:txBody>
        </p:sp>
        <p:pic>
          <p:nvPicPr>
            <p:cNvPr id="174" name="Picture 2" descr="Resultado de imagem para bot icon png">
              <a:extLst>
                <a:ext uri="{FF2B5EF4-FFF2-40B4-BE49-F238E27FC236}">
                  <a16:creationId xmlns="" xmlns:a16="http://schemas.microsoft.com/office/drawing/2014/main" id="{1C15F701-A861-4EF1-819C-21510A807E3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 cstate="print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784937" y="5368371"/>
              <a:ext cx="552166" cy="5282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76" name="CaixaDeTexto 175">
            <a:extLst>
              <a:ext uri="{FF2B5EF4-FFF2-40B4-BE49-F238E27FC236}">
                <a16:creationId xmlns="" xmlns:a16="http://schemas.microsoft.com/office/drawing/2014/main" id="{CA31C4F4-D33B-453A-A559-1992E929A9EE}"/>
              </a:ext>
            </a:extLst>
          </p:cNvPr>
          <p:cNvSpPr txBox="1"/>
          <p:nvPr/>
        </p:nvSpPr>
        <p:spPr>
          <a:xfrm>
            <a:off x="10966744" y="3966837"/>
            <a:ext cx="1175296" cy="43088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100" b="1" i="1" kern="0" dirty="0" err="1">
                <a:latin typeface="Calibri" panose="020F0502020204030204"/>
              </a:rPr>
              <a:t>Agente</a:t>
            </a:r>
            <a:r>
              <a:rPr lang="en-US" sz="1100" b="1" i="1" kern="0" dirty="0">
                <a:latin typeface="Calibri" panose="020F0502020204030204"/>
              </a:rPr>
              <a:t>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100" b="1" i="1" kern="0" dirty="0">
                <a:latin typeface="Calibri" panose="020F0502020204030204"/>
              </a:rPr>
              <a:t>Digital</a:t>
            </a:r>
            <a:endParaRPr kumimoji="0" lang="en-US" sz="1100" b="1" i="1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187" name="CaixaDeTexto 186">
            <a:extLst>
              <a:ext uri="{FF2B5EF4-FFF2-40B4-BE49-F238E27FC236}">
                <a16:creationId xmlns="" xmlns:a16="http://schemas.microsoft.com/office/drawing/2014/main" id="{15425527-A782-49E3-BF56-3A76C4409ADC}"/>
              </a:ext>
            </a:extLst>
          </p:cNvPr>
          <p:cNvSpPr txBox="1"/>
          <p:nvPr/>
        </p:nvSpPr>
        <p:spPr>
          <a:xfrm>
            <a:off x="1026044" y="6159888"/>
            <a:ext cx="2346861" cy="477054"/>
          </a:xfrm>
          <a:prstGeom prst="rect">
            <a:avLst/>
          </a:prstGeom>
          <a:solidFill>
            <a:schemeClr val="accent1"/>
          </a:solidFill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5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Fase 1: </a:t>
            </a:r>
            <a:r>
              <a:rPr kumimoji="0" lang="pt-BR" sz="25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Ativação </a:t>
            </a:r>
          </a:p>
        </p:txBody>
      </p:sp>
    </p:spTree>
    <p:extLst>
      <p:ext uri="{BB962C8B-B14F-4D97-AF65-F5344CB8AC3E}">
        <p14:creationId xmlns:p14="http://schemas.microsoft.com/office/powerpoint/2010/main" val="18241954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Retângulo 130">
            <a:extLst>
              <a:ext uri="{FF2B5EF4-FFF2-40B4-BE49-F238E27FC236}">
                <a16:creationId xmlns="" xmlns:a16="http://schemas.microsoft.com/office/drawing/2014/main" id="{B2684ED9-9CF8-4E70-8E56-4F408A59180C}"/>
              </a:ext>
            </a:extLst>
          </p:cNvPr>
          <p:cNvSpPr/>
          <p:nvPr/>
        </p:nvSpPr>
        <p:spPr>
          <a:xfrm>
            <a:off x="354842" y="2266947"/>
            <a:ext cx="11482315" cy="4423412"/>
          </a:xfrm>
          <a:prstGeom prst="rect">
            <a:avLst/>
          </a:prstGeom>
          <a:noFill/>
          <a:ln w="25400" cap="flat" cmpd="sng" algn="ctr">
            <a:solidFill>
              <a:sysClr val="window" lastClr="FFFFFF">
                <a:lumMod val="85000"/>
              </a:sysClr>
            </a:solidFill>
            <a:prstDash val="solid"/>
          </a:ln>
          <a:effectLst/>
        </p:spPr>
        <p:txBody>
          <a:bodyPr anchor="ctr"/>
          <a:lstStyle/>
          <a:p>
            <a:pPr algn="ctr"/>
            <a:endParaRPr lang="pt-BR" kern="0" dirty="0">
              <a:latin typeface="Calibri"/>
            </a:endParaRPr>
          </a:p>
        </p:txBody>
      </p:sp>
      <p:sp>
        <p:nvSpPr>
          <p:cNvPr id="5" name="Oval 14">
            <a:extLst>
              <a:ext uri="{FF2B5EF4-FFF2-40B4-BE49-F238E27FC236}">
                <a16:creationId xmlns="" xmlns:a16="http://schemas.microsoft.com/office/drawing/2014/main" id="{360FBCF4-B73A-4949-A121-8FE9C64F12FB}"/>
              </a:ext>
            </a:extLst>
          </p:cNvPr>
          <p:cNvSpPr/>
          <p:nvPr/>
        </p:nvSpPr>
        <p:spPr>
          <a:xfrm rot="20956176">
            <a:off x="-700419" y="-33825"/>
            <a:ext cx="1133938" cy="1133938"/>
          </a:xfrm>
          <a:prstGeom prst="ellipse">
            <a:avLst/>
          </a:prstGeom>
          <a:solidFill>
            <a:schemeClr val="accent5">
              <a:lumMod val="50000"/>
              <a:alpha val="4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135" name="CaixaDeTexto 134">
            <a:extLst>
              <a:ext uri="{FF2B5EF4-FFF2-40B4-BE49-F238E27FC236}">
                <a16:creationId xmlns="" xmlns:a16="http://schemas.microsoft.com/office/drawing/2014/main" id="{22E580CF-4450-4D91-9DE1-614779AD4509}"/>
              </a:ext>
            </a:extLst>
          </p:cNvPr>
          <p:cNvSpPr txBox="1"/>
          <p:nvPr/>
        </p:nvSpPr>
        <p:spPr>
          <a:xfrm>
            <a:off x="511317" y="167641"/>
            <a:ext cx="74310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Rounded MT Bold" panose="020F0704030504030204" pitchFamily="34" charset="0"/>
                <a:ea typeface="+mn-ea"/>
                <a:cs typeface="+mn-cs"/>
              </a:rPr>
              <a:t>PROCESSO BLINDAGEM</a:t>
            </a:r>
          </a:p>
        </p:txBody>
      </p:sp>
      <p:sp>
        <p:nvSpPr>
          <p:cNvPr id="75" name="Retângulo de cantos arredondados 88">
            <a:extLst>
              <a:ext uri="{FF2B5EF4-FFF2-40B4-BE49-F238E27FC236}">
                <a16:creationId xmlns="" xmlns:a16="http://schemas.microsoft.com/office/drawing/2014/main" id="{9CC1028E-0FA5-4E07-B478-37FCEF7059C3}"/>
              </a:ext>
            </a:extLst>
          </p:cNvPr>
          <p:cNvSpPr/>
          <p:nvPr/>
        </p:nvSpPr>
        <p:spPr bwMode="auto">
          <a:xfrm>
            <a:off x="6434900" y="1021029"/>
            <a:ext cx="5402258" cy="1020218"/>
          </a:xfrm>
          <a:prstGeom prst="roundRect">
            <a:avLst>
              <a:gd name="adj" fmla="val 7261"/>
            </a:avLst>
          </a:prstGeom>
          <a:noFill/>
          <a:ln w="25400" cap="flat" cmpd="sng" algn="ctr">
            <a:solidFill>
              <a:sysClr val="window" lastClr="FFFFFF">
                <a:lumMod val="85000"/>
              </a:sysClr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7" name="CaixaDeTexto 16">
            <a:extLst>
              <a:ext uri="{FF2B5EF4-FFF2-40B4-BE49-F238E27FC236}">
                <a16:creationId xmlns="" xmlns:a16="http://schemas.microsoft.com/office/drawing/2014/main" id="{1817A60D-A0A5-4B94-82F6-6CCB06BE0C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18530" y="836363"/>
            <a:ext cx="1141535" cy="369332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b="1" kern="0" dirty="0">
                <a:latin typeface="Calibri"/>
                <a:ea typeface="Verdana" panose="020B0604030504040204" pitchFamily="34" charset="0"/>
                <a:cs typeface="Verdana" panose="020B0604030504040204" pitchFamily="34" charset="0"/>
              </a:rPr>
              <a:t>Objetivo</a:t>
            </a:r>
          </a:p>
        </p:txBody>
      </p:sp>
      <p:sp>
        <p:nvSpPr>
          <p:cNvPr id="78" name="CaixaDeTexto 77">
            <a:extLst>
              <a:ext uri="{FF2B5EF4-FFF2-40B4-BE49-F238E27FC236}">
                <a16:creationId xmlns="" xmlns:a16="http://schemas.microsoft.com/office/drawing/2014/main" id="{A1FC4ECA-37BC-4D49-B36C-81494175E35C}"/>
              </a:ext>
            </a:extLst>
          </p:cNvPr>
          <p:cNvSpPr txBox="1"/>
          <p:nvPr/>
        </p:nvSpPr>
        <p:spPr>
          <a:xfrm>
            <a:off x="5709015" y="1390361"/>
            <a:ext cx="56767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/>
              <a:t>Redução de </a:t>
            </a:r>
            <a:r>
              <a:rPr lang="pt-BR" sz="1400" dirty="0" err="1"/>
              <a:t>churn</a:t>
            </a:r>
            <a:r>
              <a:rPr lang="pt-BR" sz="1400" dirty="0"/>
              <a:t>.</a:t>
            </a:r>
          </a:p>
        </p:txBody>
      </p:sp>
      <p:sp>
        <p:nvSpPr>
          <p:cNvPr id="79" name="Retângulo de cantos arredondados 88">
            <a:extLst>
              <a:ext uri="{FF2B5EF4-FFF2-40B4-BE49-F238E27FC236}">
                <a16:creationId xmlns="" xmlns:a16="http://schemas.microsoft.com/office/drawing/2014/main" id="{4B5176FF-A013-47AA-A973-A2638B23FC5B}"/>
              </a:ext>
            </a:extLst>
          </p:cNvPr>
          <p:cNvSpPr/>
          <p:nvPr/>
        </p:nvSpPr>
        <p:spPr bwMode="auto">
          <a:xfrm>
            <a:off x="354842" y="1021029"/>
            <a:ext cx="5905436" cy="1020217"/>
          </a:xfrm>
          <a:prstGeom prst="roundRect">
            <a:avLst>
              <a:gd name="adj" fmla="val 7261"/>
            </a:avLst>
          </a:prstGeom>
          <a:noFill/>
          <a:ln w="25400" cap="flat" cmpd="sng" algn="ctr">
            <a:solidFill>
              <a:sysClr val="window" lastClr="FFFFFF">
                <a:lumMod val="85000"/>
              </a:sysClr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0" name="CaixaDeTexto 16">
            <a:extLst>
              <a:ext uri="{FF2B5EF4-FFF2-40B4-BE49-F238E27FC236}">
                <a16:creationId xmlns="" xmlns:a16="http://schemas.microsoft.com/office/drawing/2014/main" id="{0CA3086F-3F01-452E-AB96-182EC2790B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3328" y="826430"/>
            <a:ext cx="1590563" cy="369332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8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/>
                <a:ea typeface="Verdana" panose="020B0604030504040204" pitchFamily="34" charset="0"/>
                <a:cs typeface="Verdana" panose="020B0604030504040204" pitchFamily="34" charset="0"/>
              </a:rPr>
              <a:t>Oportunidade</a:t>
            </a:r>
          </a:p>
        </p:txBody>
      </p:sp>
      <p:sp>
        <p:nvSpPr>
          <p:cNvPr id="81" name="CaixaDeTexto 80">
            <a:extLst>
              <a:ext uri="{FF2B5EF4-FFF2-40B4-BE49-F238E27FC236}">
                <a16:creationId xmlns="" xmlns:a16="http://schemas.microsoft.com/office/drawing/2014/main" id="{BCD521B1-2BF0-477E-92C6-E023B73FD26A}"/>
              </a:ext>
            </a:extLst>
          </p:cNvPr>
          <p:cNvSpPr txBox="1"/>
          <p:nvPr/>
        </p:nvSpPr>
        <p:spPr>
          <a:xfrm>
            <a:off x="462352" y="1413413"/>
            <a:ext cx="606913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/>
              <a:t> Cruzar dados de reclamações e perfil de clientes que cancelam para gerar mailing de clientes com propensão ao cancelamento. </a:t>
            </a:r>
          </a:p>
          <a:p>
            <a:endParaRPr lang="pt-BR" sz="1400" dirty="0"/>
          </a:p>
        </p:txBody>
      </p:sp>
      <p:grpSp>
        <p:nvGrpSpPr>
          <p:cNvPr id="3" name="Agrupar 2">
            <a:extLst>
              <a:ext uri="{FF2B5EF4-FFF2-40B4-BE49-F238E27FC236}">
                <a16:creationId xmlns="" xmlns:a16="http://schemas.microsoft.com/office/drawing/2014/main" id="{0913E008-9B89-47B0-84E1-04C7583644F0}"/>
              </a:ext>
            </a:extLst>
          </p:cNvPr>
          <p:cNvGrpSpPr/>
          <p:nvPr/>
        </p:nvGrpSpPr>
        <p:grpSpPr>
          <a:xfrm>
            <a:off x="1249623" y="2411367"/>
            <a:ext cx="10080209" cy="4310955"/>
            <a:chOff x="1220069" y="2533564"/>
            <a:chExt cx="10080209" cy="4310955"/>
          </a:xfrm>
        </p:grpSpPr>
        <p:sp>
          <p:nvSpPr>
            <p:cNvPr id="82" name="Retângulo 81">
              <a:extLst>
                <a:ext uri="{FF2B5EF4-FFF2-40B4-BE49-F238E27FC236}">
                  <a16:creationId xmlns="" xmlns:a16="http://schemas.microsoft.com/office/drawing/2014/main" id="{6E428D89-A9B2-4582-B909-52F81379C22C}"/>
                </a:ext>
              </a:extLst>
            </p:cNvPr>
            <p:cNvSpPr/>
            <p:nvPr/>
          </p:nvSpPr>
          <p:spPr>
            <a:xfrm rot="5400000">
              <a:off x="-23552" y="4371220"/>
              <a:ext cx="3619049" cy="1045727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 w="9525" cap="flat" cmpd="sng" algn="ctr">
              <a:noFill/>
              <a:prstDash val="sysDot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3" name="Retângulo 82">
              <a:extLst>
                <a:ext uri="{FF2B5EF4-FFF2-40B4-BE49-F238E27FC236}">
                  <a16:creationId xmlns="" xmlns:a16="http://schemas.microsoft.com/office/drawing/2014/main" id="{77EB5AE0-49E4-40D1-98F8-FC054852D1A2}"/>
                </a:ext>
              </a:extLst>
            </p:cNvPr>
            <p:cNvSpPr/>
            <p:nvPr/>
          </p:nvSpPr>
          <p:spPr>
            <a:xfrm>
              <a:off x="1220069" y="4017835"/>
              <a:ext cx="1163946" cy="2616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100" b="1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</a:rPr>
                <a:t>ESTRATEGIA</a:t>
              </a:r>
            </a:p>
          </p:txBody>
        </p:sp>
        <p:sp>
          <p:nvSpPr>
            <p:cNvPr id="85" name="Retângulo 84">
              <a:extLst>
                <a:ext uri="{FF2B5EF4-FFF2-40B4-BE49-F238E27FC236}">
                  <a16:creationId xmlns="" xmlns:a16="http://schemas.microsoft.com/office/drawing/2014/main" id="{4B7E1647-10D0-47C6-BB46-E121542A37D4}"/>
                </a:ext>
              </a:extLst>
            </p:cNvPr>
            <p:cNvSpPr/>
            <p:nvPr/>
          </p:nvSpPr>
          <p:spPr>
            <a:xfrm>
              <a:off x="1220069" y="4804422"/>
              <a:ext cx="1163946" cy="2616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100" b="1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</a:rPr>
                <a:t>MODELO</a:t>
              </a:r>
            </a:p>
          </p:txBody>
        </p:sp>
        <p:sp>
          <p:nvSpPr>
            <p:cNvPr id="87" name="Retângulo 86">
              <a:extLst>
                <a:ext uri="{FF2B5EF4-FFF2-40B4-BE49-F238E27FC236}">
                  <a16:creationId xmlns="" xmlns:a16="http://schemas.microsoft.com/office/drawing/2014/main" id="{4B77FB44-764D-4B6D-A09F-7419B4162CA1}"/>
                </a:ext>
              </a:extLst>
            </p:cNvPr>
            <p:cNvSpPr/>
            <p:nvPr/>
          </p:nvSpPr>
          <p:spPr>
            <a:xfrm>
              <a:off x="1220069" y="5854377"/>
              <a:ext cx="1163946" cy="2616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100" b="1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</a:rPr>
                <a:t>APOSTAS </a:t>
              </a:r>
            </a:p>
          </p:txBody>
        </p:sp>
        <p:sp>
          <p:nvSpPr>
            <p:cNvPr id="90" name="Retângulo 89">
              <a:extLst>
                <a:ext uri="{FF2B5EF4-FFF2-40B4-BE49-F238E27FC236}">
                  <a16:creationId xmlns="" xmlns:a16="http://schemas.microsoft.com/office/drawing/2014/main" id="{CA3CBAF4-867C-4DDA-9680-6A33D49F6B86}"/>
                </a:ext>
              </a:extLst>
            </p:cNvPr>
            <p:cNvSpPr/>
            <p:nvPr/>
          </p:nvSpPr>
          <p:spPr>
            <a:xfrm>
              <a:off x="1279178" y="3362932"/>
              <a:ext cx="1045728" cy="2616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100" b="1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</a:rPr>
                <a:t>CÉLULAS</a:t>
              </a:r>
            </a:p>
          </p:txBody>
        </p:sp>
        <p:sp>
          <p:nvSpPr>
            <p:cNvPr id="92" name="CaixaDeTexto 91">
              <a:extLst>
                <a:ext uri="{FF2B5EF4-FFF2-40B4-BE49-F238E27FC236}">
                  <a16:creationId xmlns="" xmlns:a16="http://schemas.microsoft.com/office/drawing/2014/main" id="{F6B23D06-FA61-4E9C-A5CF-848B766FD62F}"/>
                </a:ext>
              </a:extLst>
            </p:cNvPr>
            <p:cNvSpPr txBox="1"/>
            <p:nvPr/>
          </p:nvSpPr>
          <p:spPr>
            <a:xfrm>
              <a:off x="1220070" y="2533564"/>
              <a:ext cx="10080208" cy="388016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pt-BR"/>
              </a:defPPr>
              <a:lvl1pPr marR="0" lvl="0" indent="0" algn="ctr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b="1" i="0" u="none" strike="noStrike" cap="none" spc="0" normalizeH="0" baseline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Calibri" panose="020F0502020204030204"/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pt-BR" dirty="0">
                  <a:solidFill>
                    <a:schemeClr val="tx1"/>
                  </a:solidFill>
                </a:rPr>
                <a:t>Funil de oportunidades com a inserção dos canais de abordagem</a:t>
              </a:r>
            </a:p>
          </p:txBody>
        </p:sp>
        <p:sp>
          <p:nvSpPr>
            <p:cNvPr id="94" name="CaixaDeTexto 177">
              <a:extLst>
                <a:ext uri="{FF2B5EF4-FFF2-40B4-BE49-F238E27FC236}">
                  <a16:creationId xmlns="" xmlns:a16="http://schemas.microsoft.com/office/drawing/2014/main" id="{B19BD2D3-49C7-4E92-B6BC-96F50C1FF0F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63446" y="3014807"/>
              <a:ext cx="1341619" cy="420425"/>
            </a:xfrm>
            <a:prstGeom prst="rect">
              <a:avLst/>
            </a:prstGeom>
            <a:solidFill>
              <a:srgbClr val="6DC5FE">
                <a:lumMod val="50000"/>
              </a:srgbClr>
            </a:solidFill>
          </p:spPr>
          <p:txBody>
            <a:bodyPr wrap="square" rtlCol="0" anchor="ctr" anchorCtr="0">
              <a:noAutofit/>
            </a:bodyPr>
            <a:lstStyle>
              <a:defPPr>
                <a:defRPr lang="pt-BR"/>
              </a:defPPr>
              <a:lvl1pPr marR="0" indent="0" algn="ctr" fontAlgn="auto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900" b="1" i="0" u="none" strike="noStrike" cap="none" spc="0" normalizeH="0" baseline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lt"/>
                  <a:ea typeface="+mj-ea"/>
                  <a:cs typeface="+mj-cs"/>
                </a:defRPr>
              </a:lvl1pPr>
            </a:lstStyle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900" b="1" i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/>
                  <a:ea typeface="+mj-ea"/>
                  <a:cs typeface="+mj-cs"/>
                </a:rPr>
                <a:t>REVERSÃO </a:t>
              </a:r>
              <a:r>
                <a:rPr lang="pt-BR" kern="0" dirty="0">
                  <a:solidFill>
                    <a:schemeClr val="tx1"/>
                  </a:solidFill>
                  <a:latin typeface="Calibri"/>
                </a:rPr>
                <a:t>CLIENTE</a:t>
              </a:r>
            </a:p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pt-BR" kern="0" dirty="0">
                  <a:solidFill>
                    <a:schemeClr val="tx1"/>
                  </a:solidFill>
                  <a:latin typeface="Calibri"/>
                </a:rPr>
                <a:t>PESSOA FISICA</a:t>
              </a:r>
              <a:endParaRPr kumimoji="0" lang="pt-BR" sz="9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/>
              </a:endParaRPr>
            </a:p>
          </p:txBody>
        </p:sp>
        <p:sp>
          <p:nvSpPr>
            <p:cNvPr id="95" name="CaixaDeTexto 177">
              <a:extLst>
                <a:ext uri="{FF2B5EF4-FFF2-40B4-BE49-F238E27FC236}">
                  <a16:creationId xmlns="" xmlns:a16="http://schemas.microsoft.com/office/drawing/2014/main" id="{69361D24-FD69-4270-9675-64B3F4CF6C5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32069" y="3014948"/>
              <a:ext cx="1341619" cy="420425"/>
            </a:xfrm>
            <a:prstGeom prst="rect">
              <a:avLst/>
            </a:prstGeom>
            <a:solidFill>
              <a:srgbClr val="6DC5FE">
                <a:lumMod val="75000"/>
              </a:srgbClr>
            </a:solidFill>
          </p:spPr>
          <p:txBody>
            <a:bodyPr wrap="square" rtlCol="0" anchor="ctr" anchorCtr="0">
              <a:noAutofit/>
            </a:bodyPr>
            <a:lstStyle>
              <a:defPPr>
                <a:defRPr lang="pt-BR"/>
              </a:defPPr>
              <a:lvl1pPr marR="0" indent="0" algn="ctr" fontAlgn="auto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900" b="1" i="0" u="none" strike="noStrike" cap="none" spc="0" normalizeH="0" baseline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lt"/>
                  <a:ea typeface="+mj-ea"/>
                  <a:cs typeface="+mj-cs"/>
                </a:defRPr>
              </a:lvl1pPr>
            </a:lstStyle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900" b="1" i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/>
                  <a:ea typeface="+mj-ea"/>
                  <a:cs typeface="+mj-cs"/>
                </a:rPr>
                <a:t>REVERSÃO CLIENTE</a:t>
              </a:r>
            </a:p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900" b="1" i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/>
                  <a:ea typeface="+mj-ea"/>
                  <a:cs typeface="+mj-cs"/>
                </a:rPr>
                <a:t>EMPRESARIAL</a:t>
              </a:r>
            </a:p>
          </p:txBody>
        </p:sp>
        <p:sp>
          <p:nvSpPr>
            <p:cNvPr id="96" name="Retângulo 95">
              <a:extLst>
                <a:ext uri="{FF2B5EF4-FFF2-40B4-BE49-F238E27FC236}">
                  <a16:creationId xmlns="" xmlns:a16="http://schemas.microsoft.com/office/drawing/2014/main" id="{D15F8B41-1752-46D6-8E96-6E47067C78D9}"/>
                </a:ext>
              </a:extLst>
            </p:cNvPr>
            <p:cNvSpPr/>
            <p:nvPr/>
          </p:nvSpPr>
          <p:spPr>
            <a:xfrm>
              <a:off x="2351876" y="3536986"/>
              <a:ext cx="8577690" cy="365116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b="1" dirty="0">
                  <a:solidFill>
                    <a:schemeClr val="tx1"/>
                  </a:solidFill>
                  <a:latin typeface="Calibri" panose="020F0502020204030204"/>
                </a:rPr>
                <a:t>RÉGUA DE ACIONAMENTO DIGITAL</a:t>
              </a:r>
            </a:p>
          </p:txBody>
        </p:sp>
        <p:sp>
          <p:nvSpPr>
            <p:cNvPr id="97" name="Trapezoid 10">
              <a:extLst>
                <a:ext uri="{FF2B5EF4-FFF2-40B4-BE49-F238E27FC236}">
                  <a16:creationId xmlns="" xmlns:a16="http://schemas.microsoft.com/office/drawing/2014/main" id="{B765DCA0-A6AA-4CE8-A686-5308FCEB83E2}"/>
                </a:ext>
              </a:extLst>
            </p:cNvPr>
            <p:cNvSpPr/>
            <p:nvPr/>
          </p:nvSpPr>
          <p:spPr>
            <a:xfrm>
              <a:off x="3273509" y="4021231"/>
              <a:ext cx="6471923" cy="453906"/>
            </a:xfrm>
            <a:prstGeom prst="trapezoid">
              <a:avLst/>
            </a:prstGeom>
            <a:solidFill>
              <a:srgbClr val="E3DED1">
                <a:lumMod val="90000"/>
              </a:srgbClr>
            </a:solidFill>
            <a:ln w="9525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endParaRPr>
            </a:p>
          </p:txBody>
        </p:sp>
        <p:sp>
          <p:nvSpPr>
            <p:cNvPr id="98" name="TextBox 72">
              <a:extLst>
                <a:ext uri="{FF2B5EF4-FFF2-40B4-BE49-F238E27FC236}">
                  <a16:creationId xmlns="" xmlns:a16="http://schemas.microsoft.com/office/drawing/2014/main" id="{BD4D1414-6650-4A4A-B317-588458A48BDA}"/>
                </a:ext>
              </a:extLst>
            </p:cNvPr>
            <p:cNvSpPr txBox="1"/>
            <p:nvPr/>
          </p:nvSpPr>
          <p:spPr>
            <a:xfrm>
              <a:off x="5865067" y="4523362"/>
              <a:ext cx="1047082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pt-BR" sz="1100" kern="0" dirty="0"/>
                <a:t>SMS / E-MAIL</a:t>
              </a:r>
              <a:endParaRPr kumimoji="0" lang="pt-BR" sz="11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endParaRPr>
            </a:p>
          </p:txBody>
        </p:sp>
        <p:sp>
          <p:nvSpPr>
            <p:cNvPr id="99" name="TextBox 55">
              <a:extLst>
                <a:ext uri="{FF2B5EF4-FFF2-40B4-BE49-F238E27FC236}">
                  <a16:creationId xmlns="" xmlns:a16="http://schemas.microsoft.com/office/drawing/2014/main" id="{581C7B78-A71A-4E33-874C-7CE78C6AF414}"/>
                </a:ext>
              </a:extLst>
            </p:cNvPr>
            <p:cNvSpPr txBox="1"/>
            <p:nvPr/>
          </p:nvSpPr>
          <p:spPr>
            <a:xfrm>
              <a:off x="8049842" y="4534271"/>
              <a:ext cx="1324402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1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</a:rPr>
                <a:t> AGENTE DIGITAL</a:t>
              </a:r>
            </a:p>
          </p:txBody>
        </p:sp>
        <p:sp>
          <p:nvSpPr>
            <p:cNvPr id="100" name="Seta: para a Direita 99">
              <a:extLst>
                <a:ext uri="{FF2B5EF4-FFF2-40B4-BE49-F238E27FC236}">
                  <a16:creationId xmlns="" xmlns:a16="http://schemas.microsoft.com/office/drawing/2014/main" id="{95E6AE8E-6049-465D-889C-C267881882C4}"/>
                </a:ext>
              </a:extLst>
            </p:cNvPr>
            <p:cNvSpPr/>
            <p:nvPr/>
          </p:nvSpPr>
          <p:spPr>
            <a:xfrm>
              <a:off x="5073867" y="4065588"/>
              <a:ext cx="251072" cy="282859"/>
            </a:xfrm>
            <a:prstGeom prst="rightArrow">
              <a:avLst/>
            </a:prstGeom>
            <a:solidFill>
              <a:srgbClr val="3FABF4">
                <a:lumMod val="50000"/>
              </a:srgbClr>
            </a:solidFill>
            <a:ln w="9525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03" name="Retângulo 102">
              <a:extLst>
                <a:ext uri="{FF2B5EF4-FFF2-40B4-BE49-F238E27FC236}">
                  <a16:creationId xmlns="" xmlns:a16="http://schemas.microsoft.com/office/drawing/2014/main" id="{69F651C0-164C-4CF0-88F6-7917B0CD30B6}"/>
                </a:ext>
              </a:extLst>
            </p:cNvPr>
            <p:cNvSpPr/>
            <p:nvPr/>
          </p:nvSpPr>
          <p:spPr>
            <a:xfrm>
              <a:off x="5524804" y="5206155"/>
              <a:ext cx="1796924" cy="127727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228600" marR="0" lvl="0" indent="-22860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pt-BR" sz="1100" b="1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</a:rPr>
                <a:t>ENCAMINHAR OFERTA </a:t>
              </a:r>
              <a:r>
                <a:rPr lang="pt-BR" sz="1100" b="1" kern="0" dirty="0"/>
                <a:t>EM AMBOS CANAIS </a:t>
              </a:r>
              <a:r>
                <a:rPr kumimoji="0" lang="pt-BR" sz="1100" b="1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</a:rPr>
                <a:t>COM POSSIBILIDADE DE DECISÃO E REATIVAÇÃO ON LINE </a:t>
              </a:r>
            </a:p>
          </p:txBody>
        </p:sp>
        <p:sp>
          <p:nvSpPr>
            <p:cNvPr id="104" name="Retângulo 103">
              <a:extLst>
                <a:ext uri="{FF2B5EF4-FFF2-40B4-BE49-F238E27FC236}">
                  <a16:creationId xmlns="" xmlns:a16="http://schemas.microsoft.com/office/drawing/2014/main" id="{E16C6F32-DEC9-4A4A-9C2E-99C7BA6579F8}"/>
                </a:ext>
              </a:extLst>
            </p:cNvPr>
            <p:cNvSpPr/>
            <p:nvPr/>
          </p:nvSpPr>
          <p:spPr>
            <a:xfrm>
              <a:off x="7791526" y="5206155"/>
              <a:ext cx="1872449" cy="60016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171450" marR="0" lvl="0" indent="-17145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pt-BR" sz="1100" b="1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</a:rPr>
                <a:t>IDENTIFICAR DECISOR</a:t>
              </a:r>
            </a:p>
            <a:p>
              <a:pPr marL="171450" marR="0" lvl="0" indent="-17145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pt-BR" sz="1100" b="1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</a:rPr>
                <a:t>APRESENTAR OFERTA PRÉVIA DIFERENCIADA</a:t>
              </a:r>
            </a:p>
          </p:txBody>
        </p:sp>
        <p:pic>
          <p:nvPicPr>
            <p:cNvPr id="110" name="Imagem 109">
              <a:extLst>
                <a:ext uri="{FF2B5EF4-FFF2-40B4-BE49-F238E27FC236}">
                  <a16:creationId xmlns="" xmlns:a16="http://schemas.microsoft.com/office/drawing/2014/main" id="{E075C077-3439-447E-8F25-1CC4A9BAC2F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21105465" flipH="1">
              <a:off x="6717118" y="3894817"/>
              <a:ext cx="1401092" cy="342734"/>
            </a:xfrm>
            <a:prstGeom prst="rect">
              <a:avLst/>
            </a:prstGeom>
          </p:spPr>
        </p:pic>
        <p:sp>
          <p:nvSpPr>
            <p:cNvPr id="114" name="TextBox 72">
              <a:extLst>
                <a:ext uri="{FF2B5EF4-FFF2-40B4-BE49-F238E27FC236}">
                  <a16:creationId xmlns="" xmlns:a16="http://schemas.microsoft.com/office/drawing/2014/main" id="{E5952EF3-EDAE-4208-B5BB-9975C6B49F8D}"/>
                </a:ext>
              </a:extLst>
            </p:cNvPr>
            <p:cNvSpPr txBox="1"/>
            <p:nvPr/>
          </p:nvSpPr>
          <p:spPr>
            <a:xfrm>
              <a:off x="3613718" y="4525021"/>
              <a:ext cx="1252316" cy="6001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pt-BR" sz="1100" kern="0" dirty="0"/>
                <a:t>TRATAMENTO E ENRIQUECIMENTO DE MAILING</a:t>
              </a:r>
              <a:endParaRPr kumimoji="0" lang="pt-BR" sz="11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endParaRPr>
            </a:p>
          </p:txBody>
        </p:sp>
        <p:sp>
          <p:nvSpPr>
            <p:cNvPr id="115" name="Elipse 114">
              <a:extLst>
                <a:ext uri="{FF2B5EF4-FFF2-40B4-BE49-F238E27FC236}">
                  <a16:creationId xmlns="" xmlns:a16="http://schemas.microsoft.com/office/drawing/2014/main" id="{E369A062-C5E3-4EF3-9834-A69140B6866A}"/>
                </a:ext>
              </a:extLst>
            </p:cNvPr>
            <p:cNvSpPr/>
            <p:nvPr/>
          </p:nvSpPr>
          <p:spPr>
            <a:xfrm>
              <a:off x="3784859" y="3928661"/>
              <a:ext cx="639097" cy="575613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chemeClr val="tx1"/>
                </a:solidFill>
              </a:endParaRPr>
            </a:p>
          </p:txBody>
        </p:sp>
        <p:sp>
          <p:nvSpPr>
            <p:cNvPr id="116" name="Retângulo 115">
              <a:extLst>
                <a:ext uri="{FF2B5EF4-FFF2-40B4-BE49-F238E27FC236}">
                  <a16:creationId xmlns="" xmlns:a16="http://schemas.microsoft.com/office/drawing/2014/main" id="{AAF54CD8-5724-4D20-8AB0-A6A155B2B5B8}"/>
                </a:ext>
              </a:extLst>
            </p:cNvPr>
            <p:cNvSpPr/>
            <p:nvPr/>
          </p:nvSpPr>
          <p:spPr>
            <a:xfrm>
              <a:off x="3438137" y="5229750"/>
              <a:ext cx="1757673" cy="60016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171450" marR="0" lvl="0" indent="-17145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lang="pt-BR" sz="1100" b="1" kern="0" dirty="0"/>
                <a:t>LIMPEZA DE BASE</a:t>
              </a:r>
            </a:p>
            <a:p>
              <a:pPr marL="171450" marR="0" lvl="0" indent="-17145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pt-BR" sz="1100" b="1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</a:rPr>
                <a:t>ENRIQUECIMENTO DE BASE</a:t>
              </a:r>
            </a:p>
          </p:txBody>
        </p:sp>
        <p:sp>
          <p:nvSpPr>
            <p:cNvPr id="117" name="Elipse 116">
              <a:extLst>
                <a:ext uri="{FF2B5EF4-FFF2-40B4-BE49-F238E27FC236}">
                  <a16:creationId xmlns="" xmlns:a16="http://schemas.microsoft.com/office/drawing/2014/main" id="{BC9730FF-2A01-4452-A2BF-D400875688CE}"/>
                </a:ext>
              </a:extLst>
            </p:cNvPr>
            <p:cNvSpPr/>
            <p:nvPr/>
          </p:nvSpPr>
          <p:spPr>
            <a:xfrm>
              <a:off x="5949068" y="3935306"/>
              <a:ext cx="639097" cy="575613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chemeClr val="tx1"/>
                </a:solidFill>
              </a:endParaRPr>
            </a:p>
          </p:txBody>
        </p:sp>
        <p:sp>
          <p:nvSpPr>
            <p:cNvPr id="118" name="Elipse 117">
              <a:extLst>
                <a:ext uri="{FF2B5EF4-FFF2-40B4-BE49-F238E27FC236}">
                  <a16:creationId xmlns="" xmlns:a16="http://schemas.microsoft.com/office/drawing/2014/main" id="{A1C003F2-1F14-48B3-9688-E010FC0DAC5D}"/>
                </a:ext>
              </a:extLst>
            </p:cNvPr>
            <p:cNvSpPr/>
            <p:nvPr/>
          </p:nvSpPr>
          <p:spPr>
            <a:xfrm>
              <a:off x="8367882" y="3915345"/>
              <a:ext cx="639097" cy="575613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chemeClr val="tx1"/>
                </a:solidFill>
              </a:endParaRPr>
            </a:p>
          </p:txBody>
        </p:sp>
        <p:pic>
          <p:nvPicPr>
            <p:cNvPr id="120" name="Imagen 314" descr="iconos-02-Blanco-39.png">
              <a:extLst>
                <a:ext uri="{FF2B5EF4-FFF2-40B4-BE49-F238E27FC236}">
                  <a16:creationId xmlns="" xmlns:a16="http://schemas.microsoft.com/office/drawing/2014/main" id="{6DCB2D91-8BFE-410E-8B0A-FE40C08060F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06665" y="3974724"/>
              <a:ext cx="528511" cy="4702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21" name="Imagen 217" descr="iconos-01-Blanco-35.png">
              <a:extLst>
                <a:ext uri="{FF2B5EF4-FFF2-40B4-BE49-F238E27FC236}">
                  <a16:creationId xmlns="" xmlns:a16="http://schemas.microsoft.com/office/drawing/2014/main" id="{9AAEFC29-6E39-43B9-A34C-3E3499E1283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63503" y="3994744"/>
              <a:ext cx="460381" cy="4104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28" name="Imagen 244" descr="iconos-02-Blanco-71.png">
              <a:extLst>
                <a:ext uri="{FF2B5EF4-FFF2-40B4-BE49-F238E27FC236}">
                  <a16:creationId xmlns="" xmlns:a16="http://schemas.microsoft.com/office/drawing/2014/main" id="{8898069E-9204-4DBF-93FD-2F5378E2C31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459623" y="3992888"/>
              <a:ext cx="455613" cy="4048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30" name="Retângulo 129">
              <a:extLst>
                <a:ext uri="{FF2B5EF4-FFF2-40B4-BE49-F238E27FC236}">
                  <a16:creationId xmlns="" xmlns:a16="http://schemas.microsoft.com/office/drawing/2014/main" id="{62456A6C-18C1-4587-BEE3-89F46ADDCF4B}"/>
                </a:ext>
              </a:extLst>
            </p:cNvPr>
            <p:cNvSpPr/>
            <p:nvPr/>
          </p:nvSpPr>
          <p:spPr>
            <a:xfrm>
              <a:off x="5865067" y="6259744"/>
              <a:ext cx="1414467" cy="58477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pt-BR" sz="800" b="1" kern="0" dirty="0"/>
                <a:t> NÃO CONVERTIDOS SERÃO DIRECIONADOS PARA PRÓXIMA ETAPA DA RÉGUA </a:t>
              </a:r>
              <a:endParaRPr lang="pt-BR" sz="800" dirty="0"/>
            </a:p>
          </p:txBody>
        </p:sp>
      </p:grpSp>
      <p:sp>
        <p:nvSpPr>
          <p:cNvPr id="132" name="CaixaDeTexto 131">
            <a:extLst>
              <a:ext uri="{FF2B5EF4-FFF2-40B4-BE49-F238E27FC236}">
                <a16:creationId xmlns="" xmlns:a16="http://schemas.microsoft.com/office/drawing/2014/main" id="{F64E9F7E-EDB0-4ACF-A1C8-52A055EBB9BF}"/>
              </a:ext>
            </a:extLst>
          </p:cNvPr>
          <p:cNvSpPr txBox="1"/>
          <p:nvPr/>
        </p:nvSpPr>
        <p:spPr>
          <a:xfrm>
            <a:off x="624270" y="6273348"/>
            <a:ext cx="3883435" cy="477054"/>
          </a:xfrm>
          <a:prstGeom prst="rect">
            <a:avLst/>
          </a:prstGeom>
          <a:solidFill>
            <a:srgbClr val="92D050"/>
          </a:solidFill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5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Fase 2: </a:t>
            </a:r>
            <a:r>
              <a:rPr kumimoji="0" lang="pt-BR" sz="25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Retenção/Blindagem</a:t>
            </a:r>
          </a:p>
        </p:txBody>
      </p:sp>
      <p:cxnSp>
        <p:nvCxnSpPr>
          <p:cNvPr id="39" name="Conector reto 38">
            <a:extLst>
              <a:ext uri="{FF2B5EF4-FFF2-40B4-BE49-F238E27FC236}">
                <a16:creationId xmlns="" xmlns:a16="http://schemas.microsoft.com/office/drawing/2014/main" id="{D119581C-4DE7-4E38-ACED-1B32DD9B18B7}"/>
              </a:ext>
            </a:extLst>
          </p:cNvPr>
          <p:cNvCxnSpPr>
            <a:cxnSpLocks/>
          </p:cNvCxnSpPr>
          <p:nvPr/>
        </p:nvCxnSpPr>
        <p:spPr>
          <a:xfrm>
            <a:off x="427232" y="644291"/>
            <a:ext cx="11094208" cy="0"/>
          </a:xfrm>
          <a:prstGeom prst="line">
            <a:avLst/>
          </a:prstGeom>
          <a:solidFill>
            <a:srgbClr val="FF6600">
              <a:alpha val="42000"/>
            </a:srgbClr>
          </a:solidFill>
          <a:ln w="57150">
            <a:solidFill>
              <a:schemeClr val="accent5">
                <a:lumMod val="50000"/>
                <a:alpha val="42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</p:spTree>
    <p:extLst>
      <p:ext uri="{BB962C8B-B14F-4D97-AF65-F5344CB8AC3E}">
        <p14:creationId xmlns:p14="http://schemas.microsoft.com/office/powerpoint/2010/main" val="25266183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Oval 14">
            <a:extLst>
              <a:ext uri="{FF2B5EF4-FFF2-40B4-BE49-F238E27FC236}">
                <a16:creationId xmlns="" xmlns:a16="http://schemas.microsoft.com/office/drawing/2014/main" id="{09440D31-60E2-4D29-8D68-2460A63CC719}"/>
              </a:ext>
            </a:extLst>
          </p:cNvPr>
          <p:cNvSpPr/>
          <p:nvPr/>
        </p:nvSpPr>
        <p:spPr>
          <a:xfrm rot="20956176">
            <a:off x="-700419" y="-33825"/>
            <a:ext cx="1133938" cy="1133938"/>
          </a:xfrm>
          <a:prstGeom prst="ellipse">
            <a:avLst/>
          </a:prstGeom>
          <a:solidFill>
            <a:schemeClr val="accent5">
              <a:lumMod val="50000"/>
              <a:alpha val="4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prstClr val="white"/>
              </a:solidFill>
            </a:endParaRPr>
          </a:p>
        </p:txBody>
      </p:sp>
      <p:sp>
        <p:nvSpPr>
          <p:cNvPr id="86" name="CaixaDeTexto 85">
            <a:extLst>
              <a:ext uri="{FF2B5EF4-FFF2-40B4-BE49-F238E27FC236}">
                <a16:creationId xmlns="" xmlns:a16="http://schemas.microsoft.com/office/drawing/2014/main" id="{7E0E572F-A3E8-41E1-9018-9526F763BE93}"/>
              </a:ext>
            </a:extLst>
          </p:cNvPr>
          <p:cNvSpPr txBox="1"/>
          <p:nvPr/>
        </p:nvSpPr>
        <p:spPr>
          <a:xfrm>
            <a:off x="511317" y="167641"/>
            <a:ext cx="74310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Rounded MT Bold" panose="020F0704030504030204" pitchFamily="34" charset="0"/>
                <a:ea typeface="+mn-ea"/>
                <a:cs typeface="+mn-cs"/>
              </a:rPr>
              <a:t>ANALYTICS</a:t>
            </a:r>
          </a:p>
        </p:txBody>
      </p:sp>
      <p:grpSp>
        <p:nvGrpSpPr>
          <p:cNvPr id="31" name="Agrupar 30">
            <a:extLst>
              <a:ext uri="{FF2B5EF4-FFF2-40B4-BE49-F238E27FC236}">
                <a16:creationId xmlns="" xmlns:a16="http://schemas.microsoft.com/office/drawing/2014/main" id="{5C7F76D1-E103-49BB-8075-B19EBC8D9418}"/>
              </a:ext>
            </a:extLst>
          </p:cNvPr>
          <p:cNvGrpSpPr/>
          <p:nvPr/>
        </p:nvGrpSpPr>
        <p:grpSpPr>
          <a:xfrm>
            <a:off x="1477163" y="1100906"/>
            <a:ext cx="8753000" cy="4656188"/>
            <a:chOff x="287469" y="990959"/>
            <a:chExt cx="8753000" cy="4656188"/>
          </a:xfrm>
        </p:grpSpPr>
        <p:sp>
          <p:nvSpPr>
            <p:cNvPr id="32" name="Seta para a direita 9">
              <a:extLst>
                <a:ext uri="{FF2B5EF4-FFF2-40B4-BE49-F238E27FC236}">
                  <a16:creationId xmlns="" xmlns:a16="http://schemas.microsoft.com/office/drawing/2014/main" id="{E7321B10-37E2-4B37-AD1E-FB5A19D567F4}"/>
                </a:ext>
              </a:extLst>
            </p:cNvPr>
            <p:cNvSpPr/>
            <p:nvPr/>
          </p:nvSpPr>
          <p:spPr>
            <a:xfrm>
              <a:off x="1042861" y="3288775"/>
              <a:ext cx="357313" cy="277748"/>
            </a:xfrm>
            <a:prstGeom prst="rightArrow">
              <a:avLst/>
            </a:prstGeom>
            <a:solidFill>
              <a:schemeClr val="bg1">
                <a:alpha val="50196"/>
              </a:schemeClr>
            </a:solidFill>
            <a:ln w="9525" cap="flat" cmpd="sng" algn="ctr">
              <a:noFill/>
              <a:prstDash val="solid"/>
            </a:ln>
            <a:effectLst/>
          </p:spPr>
          <p:txBody>
            <a:bodyPr rtlCol="0" anchor="ctr"/>
            <a:lstStyle>
              <a:defPPr>
                <a:defRPr lang="pt-B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115671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518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grpSp>
          <p:nvGrpSpPr>
            <p:cNvPr id="33" name="Agrupar 32">
              <a:extLst>
                <a:ext uri="{FF2B5EF4-FFF2-40B4-BE49-F238E27FC236}">
                  <a16:creationId xmlns="" xmlns:a16="http://schemas.microsoft.com/office/drawing/2014/main" id="{AA267E6B-BF0E-499D-A478-FEEB7D9D8A97}"/>
                </a:ext>
              </a:extLst>
            </p:cNvPr>
            <p:cNvGrpSpPr/>
            <p:nvPr/>
          </p:nvGrpSpPr>
          <p:grpSpPr>
            <a:xfrm>
              <a:off x="287469" y="2992386"/>
              <a:ext cx="703423" cy="703118"/>
              <a:chOff x="2334709" y="2355477"/>
              <a:chExt cx="785539" cy="787144"/>
            </a:xfrm>
          </p:grpSpPr>
          <p:pic>
            <p:nvPicPr>
              <p:cNvPr id="116" name="Picture 3">
                <a:extLst>
                  <a:ext uri="{FF2B5EF4-FFF2-40B4-BE49-F238E27FC236}">
                    <a16:creationId xmlns="" xmlns:a16="http://schemas.microsoft.com/office/drawing/2014/main" id="{BDDB0A85-75A1-4100-BF20-D5A5DB5AA83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duotone>
                  <a:prstClr val="black"/>
                  <a:schemeClr val="tx2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456308" y="2519379"/>
                <a:ext cx="461964" cy="46196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grpSp>
            <p:nvGrpSpPr>
              <p:cNvPr id="117" name="Grupo 29">
                <a:extLst>
                  <a:ext uri="{FF2B5EF4-FFF2-40B4-BE49-F238E27FC236}">
                    <a16:creationId xmlns="" xmlns:a16="http://schemas.microsoft.com/office/drawing/2014/main" id="{F7BCAE61-5921-4F4D-B071-18BC1054ADFC}"/>
                  </a:ext>
                </a:extLst>
              </p:cNvPr>
              <p:cNvGrpSpPr/>
              <p:nvPr/>
            </p:nvGrpSpPr>
            <p:grpSpPr>
              <a:xfrm>
                <a:off x="2334709" y="2355477"/>
                <a:ext cx="120349" cy="120351"/>
                <a:chOff x="1982296" y="1466660"/>
                <a:chExt cx="307371" cy="307371"/>
              </a:xfrm>
            </p:grpSpPr>
            <p:sp>
              <p:nvSpPr>
                <p:cNvPr id="127" name="Retângulo de cantos arredondados 30">
                  <a:extLst>
                    <a:ext uri="{FF2B5EF4-FFF2-40B4-BE49-F238E27FC236}">
                      <a16:creationId xmlns="" xmlns:a16="http://schemas.microsoft.com/office/drawing/2014/main" id="{AB1E342F-078B-413E-8998-91742C13D5E2}"/>
                    </a:ext>
                  </a:extLst>
                </p:cNvPr>
                <p:cNvSpPr/>
                <p:nvPr/>
              </p:nvSpPr>
              <p:spPr>
                <a:xfrm>
                  <a:off x="2102647" y="1466660"/>
                  <a:ext cx="66672" cy="307371"/>
                </a:xfrm>
                <a:prstGeom prst="roundRect">
                  <a:avLst/>
                </a:prstGeom>
                <a:solidFill>
                  <a:srgbClr val="6E7073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>
                  <a:defPPr>
                    <a:defRPr lang="pt-BR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115671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2277" b="0" i="0" u="none" strike="noStrike" kern="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28" name="Retângulo de cantos arredondados 31">
                  <a:extLst>
                    <a:ext uri="{FF2B5EF4-FFF2-40B4-BE49-F238E27FC236}">
                      <a16:creationId xmlns="" xmlns:a16="http://schemas.microsoft.com/office/drawing/2014/main" id="{921A8153-52CA-4E37-8370-95602065D567}"/>
                    </a:ext>
                  </a:extLst>
                </p:cNvPr>
                <p:cNvSpPr/>
                <p:nvPr/>
              </p:nvSpPr>
              <p:spPr>
                <a:xfrm rot="5400000">
                  <a:off x="2102646" y="1466661"/>
                  <a:ext cx="66672" cy="307371"/>
                </a:xfrm>
                <a:prstGeom prst="roundRect">
                  <a:avLst/>
                </a:prstGeom>
                <a:solidFill>
                  <a:srgbClr val="6E7073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>
                  <a:defPPr>
                    <a:defRPr lang="pt-BR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115671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2277" b="0" i="0" u="none" strike="noStrike" kern="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18" name="Grupo 32">
                <a:extLst>
                  <a:ext uri="{FF2B5EF4-FFF2-40B4-BE49-F238E27FC236}">
                    <a16:creationId xmlns="" xmlns:a16="http://schemas.microsoft.com/office/drawing/2014/main" id="{01405F85-C59D-4B4A-9344-20EBAC0B1DD4}"/>
                  </a:ext>
                </a:extLst>
              </p:cNvPr>
              <p:cNvGrpSpPr/>
              <p:nvPr/>
            </p:nvGrpSpPr>
            <p:grpSpPr>
              <a:xfrm>
                <a:off x="2999899" y="2355477"/>
                <a:ext cx="120349" cy="120351"/>
                <a:chOff x="1982296" y="1466660"/>
                <a:chExt cx="307371" cy="307371"/>
              </a:xfrm>
            </p:grpSpPr>
            <p:sp>
              <p:nvSpPr>
                <p:cNvPr id="125" name="Retângulo de cantos arredondados 33">
                  <a:extLst>
                    <a:ext uri="{FF2B5EF4-FFF2-40B4-BE49-F238E27FC236}">
                      <a16:creationId xmlns="" xmlns:a16="http://schemas.microsoft.com/office/drawing/2014/main" id="{86B271A1-C295-49C3-8F85-24BDDD21A8B6}"/>
                    </a:ext>
                  </a:extLst>
                </p:cNvPr>
                <p:cNvSpPr/>
                <p:nvPr/>
              </p:nvSpPr>
              <p:spPr>
                <a:xfrm>
                  <a:off x="2102647" y="1466660"/>
                  <a:ext cx="66672" cy="307371"/>
                </a:xfrm>
                <a:prstGeom prst="roundRect">
                  <a:avLst/>
                </a:prstGeom>
                <a:solidFill>
                  <a:srgbClr val="6E7073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>
                  <a:defPPr>
                    <a:defRPr lang="pt-BR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115671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2277" b="0" i="0" u="none" strike="noStrike" kern="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26" name="Retângulo de cantos arredondados 34">
                  <a:extLst>
                    <a:ext uri="{FF2B5EF4-FFF2-40B4-BE49-F238E27FC236}">
                      <a16:creationId xmlns="" xmlns:a16="http://schemas.microsoft.com/office/drawing/2014/main" id="{4C827D0B-BA8E-46E6-96B7-B46CCBAE96ED}"/>
                    </a:ext>
                  </a:extLst>
                </p:cNvPr>
                <p:cNvSpPr/>
                <p:nvPr/>
              </p:nvSpPr>
              <p:spPr>
                <a:xfrm rot="5400000">
                  <a:off x="2102646" y="1466661"/>
                  <a:ext cx="66672" cy="307371"/>
                </a:xfrm>
                <a:prstGeom prst="roundRect">
                  <a:avLst/>
                </a:prstGeom>
                <a:solidFill>
                  <a:srgbClr val="6E7073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>
                  <a:defPPr>
                    <a:defRPr lang="pt-BR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115671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2277" b="0" i="0" u="none" strike="noStrike" kern="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19" name="Grupo 35">
                <a:extLst>
                  <a:ext uri="{FF2B5EF4-FFF2-40B4-BE49-F238E27FC236}">
                    <a16:creationId xmlns="" xmlns:a16="http://schemas.microsoft.com/office/drawing/2014/main" id="{A7BC3A2B-63B1-4642-AE13-B4624D703A2C}"/>
                  </a:ext>
                </a:extLst>
              </p:cNvPr>
              <p:cNvGrpSpPr/>
              <p:nvPr/>
            </p:nvGrpSpPr>
            <p:grpSpPr>
              <a:xfrm>
                <a:off x="2999898" y="3022270"/>
                <a:ext cx="120349" cy="120351"/>
                <a:chOff x="1982296" y="1466660"/>
                <a:chExt cx="307371" cy="307371"/>
              </a:xfrm>
            </p:grpSpPr>
            <p:sp>
              <p:nvSpPr>
                <p:cNvPr id="123" name="Retângulo de cantos arredondados 36">
                  <a:extLst>
                    <a:ext uri="{FF2B5EF4-FFF2-40B4-BE49-F238E27FC236}">
                      <a16:creationId xmlns="" xmlns:a16="http://schemas.microsoft.com/office/drawing/2014/main" id="{FE339262-5F4A-4D9C-9A38-5E424BB3278D}"/>
                    </a:ext>
                  </a:extLst>
                </p:cNvPr>
                <p:cNvSpPr/>
                <p:nvPr/>
              </p:nvSpPr>
              <p:spPr>
                <a:xfrm>
                  <a:off x="2102647" y="1466660"/>
                  <a:ext cx="66672" cy="307371"/>
                </a:xfrm>
                <a:prstGeom prst="roundRect">
                  <a:avLst/>
                </a:prstGeom>
                <a:solidFill>
                  <a:srgbClr val="6E7073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>
                  <a:defPPr>
                    <a:defRPr lang="pt-BR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115671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2277" b="0" i="0" u="none" strike="noStrike" kern="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24" name="Retângulo de cantos arredondados 37">
                  <a:extLst>
                    <a:ext uri="{FF2B5EF4-FFF2-40B4-BE49-F238E27FC236}">
                      <a16:creationId xmlns="" xmlns:a16="http://schemas.microsoft.com/office/drawing/2014/main" id="{BA8095AD-3F44-475B-8E67-5CFCDE8C3169}"/>
                    </a:ext>
                  </a:extLst>
                </p:cNvPr>
                <p:cNvSpPr/>
                <p:nvPr/>
              </p:nvSpPr>
              <p:spPr>
                <a:xfrm rot="5400000">
                  <a:off x="2102646" y="1466661"/>
                  <a:ext cx="66672" cy="307371"/>
                </a:xfrm>
                <a:prstGeom prst="roundRect">
                  <a:avLst/>
                </a:prstGeom>
                <a:solidFill>
                  <a:srgbClr val="6E7073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>
                  <a:defPPr>
                    <a:defRPr lang="pt-BR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115671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2277" b="0" i="0" u="none" strike="noStrike" kern="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20" name="Grupo 38">
                <a:extLst>
                  <a:ext uri="{FF2B5EF4-FFF2-40B4-BE49-F238E27FC236}">
                    <a16:creationId xmlns="" xmlns:a16="http://schemas.microsoft.com/office/drawing/2014/main" id="{D7D16056-815D-4C46-8120-4CE387C2A748}"/>
                  </a:ext>
                </a:extLst>
              </p:cNvPr>
              <p:cNvGrpSpPr/>
              <p:nvPr/>
            </p:nvGrpSpPr>
            <p:grpSpPr>
              <a:xfrm>
                <a:off x="2334709" y="3022270"/>
                <a:ext cx="120349" cy="120351"/>
                <a:chOff x="1982296" y="1466660"/>
                <a:chExt cx="307371" cy="307371"/>
              </a:xfrm>
            </p:grpSpPr>
            <p:sp>
              <p:nvSpPr>
                <p:cNvPr id="121" name="Retângulo de cantos arredondados 39">
                  <a:extLst>
                    <a:ext uri="{FF2B5EF4-FFF2-40B4-BE49-F238E27FC236}">
                      <a16:creationId xmlns="" xmlns:a16="http://schemas.microsoft.com/office/drawing/2014/main" id="{59E90561-D46D-4707-B38E-B280ED240CD6}"/>
                    </a:ext>
                  </a:extLst>
                </p:cNvPr>
                <p:cNvSpPr/>
                <p:nvPr/>
              </p:nvSpPr>
              <p:spPr>
                <a:xfrm>
                  <a:off x="2102647" y="1466660"/>
                  <a:ext cx="66672" cy="307371"/>
                </a:xfrm>
                <a:prstGeom prst="roundRect">
                  <a:avLst/>
                </a:prstGeom>
                <a:solidFill>
                  <a:srgbClr val="6E7073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>
                  <a:defPPr>
                    <a:defRPr lang="pt-BR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115671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2277" b="0" i="0" u="none" strike="noStrike" kern="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22" name="Retângulo de cantos arredondados 40">
                  <a:extLst>
                    <a:ext uri="{FF2B5EF4-FFF2-40B4-BE49-F238E27FC236}">
                      <a16:creationId xmlns="" xmlns:a16="http://schemas.microsoft.com/office/drawing/2014/main" id="{153360C0-77C0-4F8F-8F97-C1B74FE1EB12}"/>
                    </a:ext>
                  </a:extLst>
                </p:cNvPr>
                <p:cNvSpPr/>
                <p:nvPr/>
              </p:nvSpPr>
              <p:spPr>
                <a:xfrm rot="5400000">
                  <a:off x="2102646" y="1466661"/>
                  <a:ext cx="66672" cy="307371"/>
                </a:xfrm>
                <a:prstGeom prst="roundRect">
                  <a:avLst/>
                </a:prstGeom>
                <a:solidFill>
                  <a:srgbClr val="6E7073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>
                  <a:defPPr>
                    <a:defRPr lang="pt-BR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115671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2277" b="0" i="0" u="none" strike="noStrike" kern="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57" name="Agrupar 56">
              <a:extLst>
                <a:ext uri="{FF2B5EF4-FFF2-40B4-BE49-F238E27FC236}">
                  <a16:creationId xmlns="" xmlns:a16="http://schemas.microsoft.com/office/drawing/2014/main" id="{F2A969AA-37D0-4E3B-BFBD-E4E8C741C665}"/>
                </a:ext>
              </a:extLst>
            </p:cNvPr>
            <p:cNvGrpSpPr/>
            <p:nvPr/>
          </p:nvGrpSpPr>
          <p:grpSpPr>
            <a:xfrm>
              <a:off x="1234850" y="990959"/>
              <a:ext cx="4150845" cy="4358811"/>
              <a:chOff x="1503828" y="831732"/>
              <a:chExt cx="4562352" cy="4358811"/>
            </a:xfrm>
          </p:grpSpPr>
          <p:grpSp>
            <p:nvGrpSpPr>
              <p:cNvPr id="99" name="Agrupar 98">
                <a:extLst>
                  <a:ext uri="{FF2B5EF4-FFF2-40B4-BE49-F238E27FC236}">
                    <a16:creationId xmlns="" xmlns:a16="http://schemas.microsoft.com/office/drawing/2014/main" id="{70AA311F-2071-4D1F-9E85-B0619FED1936}"/>
                  </a:ext>
                </a:extLst>
              </p:cNvPr>
              <p:cNvGrpSpPr/>
              <p:nvPr/>
            </p:nvGrpSpPr>
            <p:grpSpPr>
              <a:xfrm>
                <a:off x="1566397" y="831732"/>
                <a:ext cx="4448674" cy="2001427"/>
                <a:chOff x="577847" y="790017"/>
                <a:chExt cx="4448674" cy="2001427"/>
              </a:xfrm>
            </p:grpSpPr>
            <p:sp>
              <p:nvSpPr>
                <p:cNvPr id="109" name="Retângulo 108">
                  <a:extLst>
                    <a:ext uri="{FF2B5EF4-FFF2-40B4-BE49-F238E27FC236}">
                      <a16:creationId xmlns="" xmlns:a16="http://schemas.microsoft.com/office/drawing/2014/main" id="{25EC27F8-B6D5-45E7-832B-6D04C18AD186}"/>
                    </a:ext>
                  </a:extLst>
                </p:cNvPr>
                <p:cNvSpPr/>
                <p:nvPr/>
              </p:nvSpPr>
              <p:spPr>
                <a:xfrm>
                  <a:off x="577847" y="790017"/>
                  <a:ext cx="4448674" cy="573517"/>
                </a:xfrm>
                <a:prstGeom prst="rect">
                  <a:avLst/>
                </a:prstGeom>
                <a:solidFill>
                  <a:schemeClr val="accent3">
                    <a:lumMod val="60000"/>
                    <a:lumOff val="40000"/>
                  </a:scheme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>
                  <a:defPPr>
                    <a:defRPr lang="pt-BR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1156716" rtl="0" eaLnBrk="1" fontAlgn="auto" latinLnBrk="0" hangingPunct="1">
                    <a:lnSpc>
                      <a:spcPct val="8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pt-BR" sz="1800" b="1" i="0" u="none" strike="noStrike" kern="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latin typeface="Calibri"/>
                      <a:ea typeface="+mn-ea"/>
                      <a:cs typeface="+mn-cs"/>
                    </a:rPr>
                    <a:t>Inteligência e estratégia de</a:t>
                  </a:r>
                </a:p>
                <a:p>
                  <a:pPr marL="0" marR="0" lvl="0" indent="0" algn="ctr" defTabSz="1156716" rtl="0" eaLnBrk="1" fontAlgn="auto" latinLnBrk="0" hangingPunct="1">
                    <a:lnSpc>
                      <a:spcPct val="8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pt-BR" sz="1800" b="1" i="0" u="none" strike="noStrike" kern="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latin typeface="Calibri"/>
                      <a:ea typeface="+mn-ea"/>
                      <a:cs typeface="+mn-cs"/>
                    </a:rPr>
                    <a:t>Ativação e Retenção</a:t>
                  </a:r>
                </a:p>
              </p:txBody>
            </p:sp>
            <p:sp>
              <p:nvSpPr>
                <p:cNvPr id="110" name="Retângulo 109">
                  <a:extLst>
                    <a:ext uri="{FF2B5EF4-FFF2-40B4-BE49-F238E27FC236}">
                      <a16:creationId xmlns="" xmlns:a16="http://schemas.microsoft.com/office/drawing/2014/main" id="{FE0879B1-9DD0-498B-B8C9-FE37ED57049D}"/>
                    </a:ext>
                  </a:extLst>
                </p:cNvPr>
                <p:cNvSpPr/>
                <p:nvPr/>
              </p:nvSpPr>
              <p:spPr>
                <a:xfrm>
                  <a:off x="577847" y="2384052"/>
                  <a:ext cx="4448673" cy="407392"/>
                </a:xfrm>
                <a:prstGeom prst="rect">
                  <a:avLst/>
                </a:prstGeom>
                <a:solidFill>
                  <a:srgbClr val="626466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>
                  <a:defPPr>
                    <a:defRPr lang="pt-BR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1" indent="0" algn="ctr" defTabSz="115671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pt-BR" sz="1400" b="0" i="0" u="none" strike="noStrike" kern="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latin typeface="Calibri"/>
                      <a:ea typeface="+mn-ea"/>
                      <a:cs typeface="+mn-cs"/>
                    </a:rPr>
                    <a:t>ESTRATÉGIA MULTICANAL</a:t>
                  </a:r>
                </a:p>
              </p:txBody>
            </p:sp>
            <p:sp>
              <p:nvSpPr>
                <p:cNvPr id="111" name="Retângulo 110">
                  <a:extLst>
                    <a:ext uri="{FF2B5EF4-FFF2-40B4-BE49-F238E27FC236}">
                      <a16:creationId xmlns="" xmlns:a16="http://schemas.microsoft.com/office/drawing/2014/main" id="{17737434-9B86-4257-ACD9-48B8F3C8A863}"/>
                    </a:ext>
                  </a:extLst>
                </p:cNvPr>
                <p:cNvSpPr/>
                <p:nvPr/>
              </p:nvSpPr>
              <p:spPr>
                <a:xfrm>
                  <a:off x="2100654" y="1721610"/>
                  <a:ext cx="1649581" cy="278253"/>
                </a:xfrm>
                <a:prstGeom prst="rect">
                  <a:avLst/>
                </a:prstGeom>
                <a:solidFill>
                  <a:srgbClr val="929497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>
                  <a:defPPr>
                    <a:defRPr lang="pt-BR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115671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pt-BR" sz="1300" b="0" i="0" u="none" strike="noStrike" kern="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latin typeface="Calibri"/>
                      <a:ea typeface="+mn-ea"/>
                      <a:cs typeface="+mn-cs"/>
                    </a:rPr>
                    <a:t>ENRIQUECIMENTO</a:t>
                  </a:r>
                </a:p>
              </p:txBody>
            </p:sp>
            <p:sp>
              <p:nvSpPr>
                <p:cNvPr id="112" name="Retângulo 111">
                  <a:extLst>
                    <a:ext uri="{FF2B5EF4-FFF2-40B4-BE49-F238E27FC236}">
                      <a16:creationId xmlns="" xmlns:a16="http://schemas.microsoft.com/office/drawing/2014/main" id="{8811B1AE-1EE0-47E3-8620-418AF25CD5FA}"/>
                    </a:ext>
                  </a:extLst>
                </p:cNvPr>
                <p:cNvSpPr/>
                <p:nvPr/>
              </p:nvSpPr>
              <p:spPr>
                <a:xfrm>
                  <a:off x="2100655" y="1399778"/>
                  <a:ext cx="1649581" cy="281864"/>
                </a:xfrm>
                <a:prstGeom prst="rect">
                  <a:avLst/>
                </a:prstGeom>
                <a:solidFill>
                  <a:srgbClr val="929497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>
                  <a:defPPr>
                    <a:defRPr lang="pt-BR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115671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pt-BR" sz="1300" b="0" i="0" u="none" strike="noStrike" kern="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latin typeface="Calibri"/>
                      <a:ea typeface="+mn-ea"/>
                      <a:cs typeface="+mn-cs"/>
                    </a:rPr>
                    <a:t>ANALYTICS</a:t>
                  </a:r>
                </a:p>
              </p:txBody>
            </p:sp>
            <p:sp>
              <p:nvSpPr>
                <p:cNvPr id="113" name="Retângulo 112">
                  <a:extLst>
                    <a:ext uri="{FF2B5EF4-FFF2-40B4-BE49-F238E27FC236}">
                      <a16:creationId xmlns="" xmlns:a16="http://schemas.microsoft.com/office/drawing/2014/main" id="{D43789C3-E8AE-4EA0-9BDF-A4FF32D99068}"/>
                    </a:ext>
                  </a:extLst>
                </p:cNvPr>
                <p:cNvSpPr/>
                <p:nvPr/>
              </p:nvSpPr>
              <p:spPr>
                <a:xfrm>
                  <a:off x="577847" y="1404066"/>
                  <a:ext cx="1482308" cy="931125"/>
                </a:xfrm>
                <a:prstGeom prst="rect">
                  <a:avLst/>
                </a:prstGeom>
                <a:solidFill>
                  <a:srgbClr val="929497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>
                  <a:defPPr>
                    <a:defRPr lang="pt-BR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115671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pt-BR" sz="1300" b="0" i="0" u="none" strike="noStrike" kern="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latin typeface="Calibri"/>
                      <a:ea typeface="+mn-ea"/>
                      <a:cs typeface="+mn-cs"/>
                    </a:rPr>
                    <a:t>MONITOR MIDIAS SOCIAIS</a:t>
                  </a:r>
                </a:p>
                <a:p>
                  <a:pPr marL="0" marR="0" lvl="0" indent="0" algn="ctr" defTabSz="115671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pt-BR" sz="1300" b="0" i="0" u="none" strike="noStrike" kern="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latin typeface="Calibri"/>
                      <a:ea typeface="+mn-ea"/>
                      <a:cs typeface="+mn-cs"/>
                    </a:rPr>
                    <a:t>KEEPCON</a:t>
                  </a:r>
                </a:p>
              </p:txBody>
            </p:sp>
            <p:sp>
              <p:nvSpPr>
                <p:cNvPr id="114" name="Retângulo 113">
                  <a:extLst>
                    <a:ext uri="{FF2B5EF4-FFF2-40B4-BE49-F238E27FC236}">
                      <a16:creationId xmlns="" xmlns:a16="http://schemas.microsoft.com/office/drawing/2014/main" id="{68862D8D-FD4D-46EC-9064-106863B3E285}"/>
                    </a:ext>
                  </a:extLst>
                </p:cNvPr>
                <p:cNvSpPr/>
                <p:nvPr/>
              </p:nvSpPr>
              <p:spPr>
                <a:xfrm>
                  <a:off x="3790734" y="1397713"/>
                  <a:ext cx="1235786" cy="937478"/>
                </a:xfrm>
                <a:prstGeom prst="rect">
                  <a:avLst/>
                </a:prstGeom>
                <a:solidFill>
                  <a:srgbClr val="929497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>
                  <a:defPPr>
                    <a:defRPr lang="pt-BR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115671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pt-BR" sz="1300" b="0" i="0" u="none" strike="noStrike" kern="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latin typeface="Calibri"/>
                      <a:ea typeface="+mn-ea"/>
                      <a:cs typeface="+mn-cs"/>
                    </a:rPr>
                    <a:t>GESTÃO </a:t>
                  </a:r>
                </a:p>
                <a:p>
                  <a:pPr marL="0" marR="0" lvl="0" indent="0" algn="ctr" defTabSz="115671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pt-BR" sz="1300" b="0" i="0" u="none" strike="noStrike" kern="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latin typeface="Calibri"/>
                      <a:ea typeface="+mn-ea"/>
                      <a:cs typeface="+mn-cs"/>
                    </a:rPr>
                    <a:t>RÉGUA RETENÇÃO</a:t>
                  </a:r>
                </a:p>
              </p:txBody>
            </p:sp>
            <p:sp>
              <p:nvSpPr>
                <p:cNvPr id="115" name="Retângulo 114">
                  <a:extLst>
                    <a:ext uri="{FF2B5EF4-FFF2-40B4-BE49-F238E27FC236}">
                      <a16:creationId xmlns="" xmlns:a16="http://schemas.microsoft.com/office/drawing/2014/main" id="{7CA4120F-53F7-468D-AFF6-445C91694A2D}"/>
                    </a:ext>
                  </a:extLst>
                </p:cNvPr>
                <p:cNvSpPr/>
                <p:nvPr/>
              </p:nvSpPr>
              <p:spPr>
                <a:xfrm>
                  <a:off x="2100654" y="2043658"/>
                  <a:ext cx="1649581" cy="278253"/>
                </a:xfrm>
                <a:prstGeom prst="rect">
                  <a:avLst/>
                </a:prstGeom>
                <a:solidFill>
                  <a:srgbClr val="929497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>
                  <a:defPPr>
                    <a:defRPr lang="pt-BR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115671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pt-BR" sz="1300" b="0" i="0" u="none" strike="noStrike" kern="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latin typeface="Calibri"/>
                      <a:ea typeface="+mn-ea"/>
                      <a:cs typeface="+mn-cs"/>
                    </a:rPr>
                    <a:t>SEGMENTAÇÃO</a:t>
                  </a:r>
                </a:p>
              </p:txBody>
            </p:sp>
          </p:grpSp>
          <p:grpSp>
            <p:nvGrpSpPr>
              <p:cNvPr id="100" name="Agrupar 99">
                <a:extLst>
                  <a:ext uri="{FF2B5EF4-FFF2-40B4-BE49-F238E27FC236}">
                    <a16:creationId xmlns="" xmlns:a16="http://schemas.microsoft.com/office/drawing/2014/main" id="{17A0913C-A377-4D44-8A9F-3D2316D0952A}"/>
                  </a:ext>
                </a:extLst>
              </p:cNvPr>
              <p:cNvGrpSpPr/>
              <p:nvPr/>
            </p:nvGrpSpPr>
            <p:grpSpPr>
              <a:xfrm>
                <a:off x="1503828" y="3052118"/>
                <a:ext cx="4562352" cy="2138425"/>
                <a:chOff x="1503828" y="3052118"/>
                <a:chExt cx="4562352" cy="2138425"/>
              </a:xfrm>
            </p:grpSpPr>
            <p:sp>
              <p:nvSpPr>
                <p:cNvPr id="101" name="Retângulo de cantos arredondados 3">
                  <a:extLst>
                    <a:ext uri="{FF2B5EF4-FFF2-40B4-BE49-F238E27FC236}">
                      <a16:creationId xmlns="" xmlns:a16="http://schemas.microsoft.com/office/drawing/2014/main" id="{7512B497-5976-4A70-A135-3090462E2E54}"/>
                    </a:ext>
                  </a:extLst>
                </p:cNvPr>
                <p:cNvSpPr/>
                <p:nvPr/>
              </p:nvSpPr>
              <p:spPr>
                <a:xfrm>
                  <a:off x="1807822" y="3052118"/>
                  <a:ext cx="3965824" cy="396918"/>
                </a:xfrm>
                <a:prstGeom prst="roundRect">
                  <a:avLst/>
                </a:prstGeom>
                <a:solidFill>
                  <a:srgbClr val="F4750C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>
                  <a:defPPr>
                    <a:defRPr lang="pt-BR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115671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pt-BR" sz="1800" b="1" i="0" u="none" strike="noStrike" kern="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latin typeface="Calibri"/>
                      <a:ea typeface="+mn-ea"/>
                      <a:cs typeface="+mn-cs"/>
                    </a:rPr>
                    <a:t>Plataforma </a:t>
                  </a:r>
                </a:p>
              </p:txBody>
            </p:sp>
            <p:grpSp>
              <p:nvGrpSpPr>
                <p:cNvPr id="102" name="Agrupar 101">
                  <a:extLst>
                    <a:ext uri="{FF2B5EF4-FFF2-40B4-BE49-F238E27FC236}">
                      <a16:creationId xmlns="" xmlns:a16="http://schemas.microsoft.com/office/drawing/2014/main" id="{BC580E13-D61A-481F-A6DF-C020813AC590}"/>
                    </a:ext>
                  </a:extLst>
                </p:cNvPr>
                <p:cNvGrpSpPr/>
                <p:nvPr/>
              </p:nvGrpSpPr>
              <p:grpSpPr>
                <a:xfrm>
                  <a:off x="1503828" y="3579489"/>
                  <a:ext cx="4562352" cy="1611054"/>
                  <a:chOff x="1356756" y="3719946"/>
                  <a:chExt cx="4562352" cy="1611054"/>
                </a:xfrm>
              </p:grpSpPr>
              <p:sp>
                <p:nvSpPr>
                  <p:cNvPr id="103" name="Retângulo 102">
                    <a:extLst>
                      <a:ext uri="{FF2B5EF4-FFF2-40B4-BE49-F238E27FC236}">
                        <a16:creationId xmlns="" xmlns:a16="http://schemas.microsoft.com/office/drawing/2014/main" id="{BA8B5797-AA91-401B-941C-0AE2BA6E0692}"/>
                      </a:ext>
                    </a:extLst>
                  </p:cNvPr>
                  <p:cNvSpPr/>
                  <p:nvPr/>
                </p:nvSpPr>
                <p:spPr>
                  <a:xfrm>
                    <a:off x="1356756" y="4959821"/>
                    <a:ext cx="4544042" cy="371179"/>
                  </a:xfrm>
                  <a:prstGeom prst="rect">
                    <a:avLst/>
                  </a:prstGeom>
                  <a:solidFill>
                    <a:schemeClr val="accent3">
                      <a:lumMod val="60000"/>
                      <a:lumOff val="40000"/>
                    </a:schemeClr>
                  </a:solidFill>
                  <a:ln w="9525" cap="flat" cmpd="sng" algn="ctr">
                    <a:noFill/>
                    <a:prstDash val="solid"/>
                  </a:ln>
                  <a:effectLst/>
                </p:spPr>
                <p:txBody>
                  <a:bodyPr rtlCol="0" anchor="ctr"/>
                  <a:lstStyle>
                    <a:defPPr>
                      <a:defRPr lang="pt-BR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marL="0" marR="0" lvl="0" indent="0" algn="ctr" defTabSz="1156716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pt-BR" sz="1400" b="1" i="0" u="none" strike="noStrike" kern="0" cap="none" spc="0" normalizeH="0" baseline="0" noProof="0" dirty="0">
                        <a:ln>
                          <a:noFill/>
                        </a:ln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rPr>
                      <a:t>INTEGRAÇÃO</a:t>
                    </a:r>
                  </a:p>
                </p:txBody>
              </p:sp>
              <p:sp>
                <p:nvSpPr>
                  <p:cNvPr id="104" name="Retângulo 103">
                    <a:extLst>
                      <a:ext uri="{FF2B5EF4-FFF2-40B4-BE49-F238E27FC236}">
                        <a16:creationId xmlns="" xmlns:a16="http://schemas.microsoft.com/office/drawing/2014/main" id="{4DF1F67F-5A5B-4671-96A4-3A94B663AE19}"/>
                      </a:ext>
                    </a:extLst>
                  </p:cNvPr>
                  <p:cNvSpPr/>
                  <p:nvPr/>
                </p:nvSpPr>
                <p:spPr>
                  <a:xfrm>
                    <a:off x="1356756" y="4598802"/>
                    <a:ext cx="4544041" cy="305827"/>
                  </a:xfrm>
                  <a:prstGeom prst="rect">
                    <a:avLst/>
                  </a:prstGeom>
                  <a:solidFill>
                    <a:srgbClr val="626466"/>
                  </a:solidFill>
                  <a:ln w="9525" cap="flat" cmpd="sng" algn="ctr">
                    <a:noFill/>
                    <a:prstDash val="solid"/>
                  </a:ln>
                  <a:effectLst/>
                </p:spPr>
                <p:txBody>
                  <a:bodyPr rtlCol="0" anchor="ctr"/>
                  <a:lstStyle>
                    <a:defPPr>
                      <a:defRPr lang="pt-BR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marL="0" marR="0" lvl="0" indent="0" algn="ctr" defTabSz="1156716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pt-BR" sz="1400" b="1" i="0" u="none" strike="noStrike" kern="0" cap="none" spc="0" normalizeH="0" baseline="0" noProof="0" dirty="0">
                        <a:ln>
                          <a:noFill/>
                        </a:ln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rPr>
                      <a:t>AUTOMAÇÃO</a:t>
                    </a:r>
                  </a:p>
                </p:txBody>
              </p:sp>
              <p:sp>
                <p:nvSpPr>
                  <p:cNvPr id="105" name="Triângulo isósceles 104">
                    <a:extLst>
                      <a:ext uri="{FF2B5EF4-FFF2-40B4-BE49-F238E27FC236}">
                        <a16:creationId xmlns="" xmlns:a16="http://schemas.microsoft.com/office/drawing/2014/main" id="{FC711EFF-90D5-4091-BB92-BB7B13A9C20F}"/>
                      </a:ext>
                    </a:extLst>
                  </p:cNvPr>
                  <p:cNvSpPr/>
                  <p:nvPr/>
                </p:nvSpPr>
                <p:spPr>
                  <a:xfrm>
                    <a:off x="1411527" y="3719946"/>
                    <a:ext cx="4507581" cy="419435"/>
                  </a:xfrm>
                  <a:prstGeom prst="triangle">
                    <a:avLst/>
                  </a:prstGeom>
                  <a:solidFill>
                    <a:schemeClr val="bg1">
                      <a:alpha val="20000"/>
                    </a:schemeClr>
                  </a:solidFill>
                  <a:ln w="9525" cap="flat" cmpd="sng" algn="ctr">
                    <a:noFill/>
                    <a:prstDash val="solid"/>
                  </a:ln>
                  <a:effectLst/>
                </p:spPr>
                <p:txBody>
                  <a:bodyPr rtlCol="0" anchor="ctr"/>
                  <a:lstStyle>
                    <a:defPPr>
                      <a:defRPr lang="pt-BR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marL="0" marR="0" lvl="0" indent="0" algn="ctr" defTabSz="1156716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pt-BR" sz="1518" b="0" i="0" u="none" strike="noStrike" kern="0" cap="none" spc="0" normalizeH="0" baseline="0" noProof="0">
                      <a:ln>
                        <a:noFill/>
                      </a:ln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06" name="Retângulo 105">
                    <a:extLst>
                      <a:ext uri="{FF2B5EF4-FFF2-40B4-BE49-F238E27FC236}">
                        <a16:creationId xmlns="" xmlns:a16="http://schemas.microsoft.com/office/drawing/2014/main" id="{09AF472D-A615-4658-9BC5-C045820EFBFE}"/>
                      </a:ext>
                    </a:extLst>
                  </p:cNvPr>
                  <p:cNvSpPr/>
                  <p:nvPr/>
                </p:nvSpPr>
                <p:spPr>
                  <a:xfrm>
                    <a:off x="1359354" y="4228519"/>
                    <a:ext cx="1527065" cy="306079"/>
                  </a:xfrm>
                  <a:prstGeom prst="rect">
                    <a:avLst/>
                  </a:prstGeom>
                  <a:solidFill>
                    <a:srgbClr val="929497"/>
                  </a:solidFill>
                  <a:ln w="9525" cap="flat" cmpd="sng" algn="ctr">
                    <a:noFill/>
                    <a:prstDash val="solid"/>
                  </a:ln>
                  <a:effectLst/>
                </p:spPr>
                <p:txBody>
                  <a:bodyPr rtlCol="0" anchor="ctr"/>
                  <a:lstStyle>
                    <a:defPPr>
                      <a:defRPr lang="pt-BR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marL="0" marR="0" lvl="0" indent="0" algn="ctr" defTabSz="1156716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pt-BR" sz="1400" b="0" i="0" u="none" strike="noStrike" kern="0" cap="none" spc="0" normalizeH="0" baseline="0" noProof="0" dirty="0">
                        <a:ln>
                          <a:noFill/>
                        </a:ln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rPr>
                      <a:t>CRM</a:t>
                    </a:r>
                  </a:p>
                </p:txBody>
              </p:sp>
              <p:sp>
                <p:nvSpPr>
                  <p:cNvPr id="107" name="Retângulo 106">
                    <a:extLst>
                      <a:ext uri="{FF2B5EF4-FFF2-40B4-BE49-F238E27FC236}">
                        <a16:creationId xmlns="" xmlns:a16="http://schemas.microsoft.com/office/drawing/2014/main" id="{F185FEEE-4C38-4768-9CC2-7D0BE2FF6B49}"/>
                      </a:ext>
                    </a:extLst>
                  </p:cNvPr>
                  <p:cNvSpPr/>
                  <p:nvPr/>
                </p:nvSpPr>
                <p:spPr>
                  <a:xfrm>
                    <a:off x="2930487" y="4230055"/>
                    <a:ext cx="1405637" cy="305826"/>
                  </a:xfrm>
                  <a:prstGeom prst="rect">
                    <a:avLst/>
                  </a:prstGeom>
                  <a:solidFill>
                    <a:srgbClr val="929497"/>
                  </a:solidFill>
                  <a:ln w="9525" cap="flat" cmpd="sng" algn="ctr">
                    <a:noFill/>
                    <a:prstDash val="solid"/>
                  </a:ln>
                  <a:effectLst/>
                </p:spPr>
                <p:txBody>
                  <a:bodyPr rtlCol="0" anchor="ctr"/>
                  <a:lstStyle>
                    <a:defPPr>
                      <a:defRPr lang="pt-BR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marL="0" marR="0" lvl="0" indent="0" algn="ctr" defTabSz="1156716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pt-BR" sz="1400" b="0" i="0" u="none" strike="noStrike" kern="0" cap="none" spc="0" normalizeH="0" baseline="0" noProof="0" dirty="0">
                        <a:ln>
                          <a:noFill/>
                        </a:ln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rPr>
                      <a:t>FRONT END</a:t>
                    </a:r>
                  </a:p>
                </p:txBody>
              </p:sp>
              <p:sp>
                <p:nvSpPr>
                  <p:cNvPr id="108" name="Retângulo 107">
                    <a:extLst>
                      <a:ext uri="{FF2B5EF4-FFF2-40B4-BE49-F238E27FC236}">
                        <a16:creationId xmlns="" xmlns:a16="http://schemas.microsoft.com/office/drawing/2014/main" id="{3F54AE1F-2F08-406C-A5C4-5FEAB3A0846F}"/>
                      </a:ext>
                    </a:extLst>
                  </p:cNvPr>
                  <p:cNvSpPr/>
                  <p:nvPr/>
                </p:nvSpPr>
                <p:spPr>
                  <a:xfrm>
                    <a:off x="4373732" y="4227372"/>
                    <a:ext cx="1527065" cy="306079"/>
                  </a:xfrm>
                  <a:prstGeom prst="rect">
                    <a:avLst/>
                  </a:prstGeom>
                  <a:solidFill>
                    <a:srgbClr val="929497"/>
                  </a:solidFill>
                  <a:ln w="9525" cap="flat" cmpd="sng" algn="ctr">
                    <a:noFill/>
                    <a:prstDash val="solid"/>
                  </a:ln>
                  <a:effectLst/>
                </p:spPr>
                <p:txBody>
                  <a:bodyPr rtlCol="0" anchor="ctr"/>
                  <a:lstStyle>
                    <a:defPPr>
                      <a:defRPr lang="pt-BR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marL="0" marR="0" lvl="0" indent="0" algn="ctr" defTabSz="1156716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pt-BR" sz="1400" b="0" i="0" u="none" strike="noStrike" kern="0" cap="none" spc="0" normalizeH="0" baseline="0" noProof="0" dirty="0">
                        <a:ln>
                          <a:noFill/>
                        </a:ln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rPr>
                      <a:t>DASHBOARDS</a:t>
                    </a:r>
                  </a:p>
                </p:txBody>
              </p:sp>
            </p:grpSp>
          </p:grpSp>
        </p:grpSp>
        <p:sp>
          <p:nvSpPr>
            <p:cNvPr id="58" name="Seta para a direita 9">
              <a:extLst>
                <a:ext uri="{FF2B5EF4-FFF2-40B4-BE49-F238E27FC236}">
                  <a16:creationId xmlns="" xmlns:a16="http://schemas.microsoft.com/office/drawing/2014/main" id="{3DCD8CFF-4309-4F8F-B3DE-9289382C7686}"/>
                </a:ext>
              </a:extLst>
            </p:cNvPr>
            <p:cNvSpPr/>
            <p:nvPr/>
          </p:nvSpPr>
          <p:spPr>
            <a:xfrm>
              <a:off x="5397683" y="2878019"/>
              <a:ext cx="436957" cy="931786"/>
            </a:xfrm>
            <a:prstGeom prst="rightArrow">
              <a:avLst/>
            </a:prstGeom>
            <a:solidFill>
              <a:schemeClr val="bg1">
                <a:lumMod val="95000"/>
                <a:lumOff val="5000"/>
              </a:schemeClr>
            </a:solidFill>
            <a:ln w="9525" cap="flat" cmpd="sng" algn="ctr">
              <a:noFill/>
              <a:prstDash val="solid"/>
            </a:ln>
            <a:effectLst/>
          </p:spPr>
          <p:txBody>
            <a:bodyPr rtlCol="0" anchor="ctr"/>
            <a:lstStyle>
              <a:defPPr>
                <a:defRPr lang="pt-B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115671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518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grpSp>
          <p:nvGrpSpPr>
            <p:cNvPr id="59" name="Agrupar 58">
              <a:extLst>
                <a:ext uri="{FF2B5EF4-FFF2-40B4-BE49-F238E27FC236}">
                  <a16:creationId xmlns="" xmlns:a16="http://schemas.microsoft.com/office/drawing/2014/main" id="{CF102674-06A2-42E6-8792-2219DF2FD94C}"/>
                </a:ext>
              </a:extLst>
            </p:cNvPr>
            <p:cNvGrpSpPr/>
            <p:nvPr/>
          </p:nvGrpSpPr>
          <p:grpSpPr>
            <a:xfrm>
              <a:off x="8369889" y="3034479"/>
              <a:ext cx="670580" cy="792728"/>
              <a:chOff x="9011302" y="2355477"/>
              <a:chExt cx="785539" cy="787144"/>
            </a:xfrm>
          </p:grpSpPr>
          <p:pic>
            <p:nvPicPr>
              <p:cNvPr id="85" name="Picture 5">
                <a:extLst>
                  <a:ext uri="{FF2B5EF4-FFF2-40B4-BE49-F238E27FC236}">
                    <a16:creationId xmlns="" xmlns:a16="http://schemas.microsoft.com/office/drawing/2014/main" id="{66FB907F-6FB6-4BE8-ABEE-EF5E0AFA4DA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duotone>
                  <a:prstClr val="black"/>
                  <a:schemeClr val="tx2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9217157" y="2510404"/>
                <a:ext cx="511865" cy="51186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grpSp>
            <p:nvGrpSpPr>
              <p:cNvPr id="87" name="Grupo 50">
                <a:extLst>
                  <a:ext uri="{FF2B5EF4-FFF2-40B4-BE49-F238E27FC236}">
                    <a16:creationId xmlns="" xmlns:a16="http://schemas.microsoft.com/office/drawing/2014/main" id="{F09912D1-0BBC-489A-8959-6D2F060FD420}"/>
                  </a:ext>
                </a:extLst>
              </p:cNvPr>
              <p:cNvGrpSpPr/>
              <p:nvPr/>
            </p:nvGrpSpPr>
            <p:grpSpPr>
              <a:xfrm>
                <a:off x="9011302" y="2355477"/>
                <a:ext cx="120349" cy="120351"/>
                <a:chOff x="1982296" y="1466660"/>
                <a:chExt cx="307371" cy="307371"/>
              </a:xfrm>
            </p:grpSpPr>
            <p:sp>
              <p:nvSpPr>
                <p:cNvPr id="97" name="Retângulo de cantos arredondados 51">
                  <a:extLst>
                    <a:ext uri="{FF2B5EF4-FFF2-40B4-BE49-F238E27FC236}">
                      <a16:creationId xmlns="" xmlns:a16="http://schemas.microsoft.com/office/drawing/2014/main" id="{2527227C-EF25-4598-BB2A-B588F87A565A}"/>
                    </a:ext>
                  </a:extLst>
                </p:cNvPr>
                <p:cNvSpPr/>
                <p:nvPr/>
              </p:nvSpPr>
              <p:spPr>
                <a:xfrm>
                  <a:off x="2102647" y="1466660"/>
                  <a:ext cx="66672" cy="307371"/>
                </a:xfrm>
                <a:prstGeom prst="roundRect">
                  <a:avLst/>
                </a:prstGeom>
                <a:solidFill>
                  <a:srgbClr val="6E7073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>
                  <a:defPPr>
                    <a:defRPr lang="pt-BR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115671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2277" b="0" i="0" u="none" strike="noStrike" kern="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98" name="Retângulo de cantos arredondados 52">
                  <a:extLst>
                    <a:ext uri="{FF2B5EF4-FFF2-40B4-BE49-F238E27FC236}">
                      <a16:creationId xmlns="" xmlns:a16="http://schemas.microsoft.com/office/drawing/2014/main" id="{82C58E9B-F453-423D-9E7A-29DF86FEC049}"/>
                    </a:ext>
                  </a:extLst>
                </p:cNvPr>
                <p:cNvSpPr/>
                <p:nvPr/>
              </p:nvSpPr>
              <p:spPr>
                <a:xfrm rot="5400000">
                  <a:off x="2102646" y="1466661"/>
                  <a:ext cx="66672" cy="307371"/>
                </a:xfrm>
                <a:prstGeom prst="roundRect">
                  <a:avLst/>
                </a:prstGeom>
                <a:solidFill>
                  <a:srgbClr val="6E7073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>
                  <a:defPPr>
                    <a:defRPr lang="pt-BR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115671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2277" b="0" i="0" u="none" strike="noStrike" kern="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88" name="Grupo 53">
                <a:extLst>
                  <a:ext uri="{FF2B5EF4-FFF2-40B4-BE49-F238E27FC236}">
                    <a16:creationId xmlns="" xmlns:a16="http://schemas.microsoft.com/office/drawing/2014/main" id="{11FA1001-5DEF-40AB-8B3F-325185550E3B}"/>
                  </a:ext>
                </a:extLst>
              </p:cNvPr>
              <p:cNvGrpSpPr/>
              <p:nvPr/>
            </p:nvGrpSpPr>
            <p:grpSpPr>
              <a:xfrm>
                <a:off x="9676492" y="2355477"/>
                <a:ext cx="120349" cy="120351"/>
                <a:chOff x="1982296" y="1466660"/>
                <a:chExt cx="307371" cy="307371"/>
              </a:xfrm>
            </p:grpSpPr>
            <p:sp>
              <p:nvSpPr>
                <p:cNvPr id="95" name="Retângulo de cantos arredondados 54">
                  <a:extLst>
                    <a:ext uri="{FF2B5EF4-FFF2-40B4-BE49-F238E27FC236}">
                      <a16:creationId xmlns="" xmlns:a16="http://schemas.microsoft.com/office/drawing/2014/main" id="{C00C2CC9-8131-4BFA-8E68-01262FF10BBC}"/>
                    </a:ext>
                  </a:extLst>
                </p:cNvPr>
                <p:cNvSpPr/>
                <p:nvPr/>
              </p:nvSpPr>
              <p:spPr>
                <a:xfrm>
                  <a:off x="2102647" y="1466660"/>
                  <a:ext cx="66672" cy="307371"/>
                </a:xfrm>
                <a:prstGeom prst="roundRect">
                  <a:avLst/>
                </a:prstGeom>
                <a:solidFill>
                  <a:srgbClr val="6E7073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>
                  <a:defPPr>
                    <a:defRPr lang="pt-BR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115671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2277" b="0" i="0" u="none" strike="noStrike" kern="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96" name="Retângulo de cantos arredondados 55">
                  <a:extLst>
                    <a:ext uri="{FF2B5EF4-FFF2-40B4-BE49-F238E27FC236}">
                      <a16:creationId xmlns="" xmlns:a16="http://schemas.microsoft.com/office/drawing/2014/main" id="{7D82D711-C679-4DF9-881A-9EC5B29B7A45}"/>
                    </a:ext>
                  </a:extLst>
                </p:cNvPr>
                <p:cNvSpPr/>
                <p:nvPr/>
              </p:nvSpPr>
              <p:spPr>
                <a:xfrm rot="5400000">
                  <a:off x="2102646" y="1466661"/>
                  <a:ext cx="66672" cy="307371"/>
                </a:xfrm>
                <a:prstGeom prst="roundRect">
                  <a:avLst/>
                </a:prstGeom>
                <a:solidFill>
                  <a:srgbClr val="6E7073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>
                  <a:defPPr>
                    <a:defRPr lang="pt-BR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115671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2277" b="0" i="0" u="none" strike="noStrike" kern="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89" name="Grupo 56">
                <a:extLst>
                  <a:ext uri="{FF2B5EF4-FFF2-40B4-BE49-F238E27FC236}">
                    <a16:creationId xmlns="" xmlns:a16="http://schemas.microsoft.com/office/drawing/2014/main" id="{7866EFC6-1A52-4983-91CA-2C13BA770BE2}"/>
                  </a:ext>
                </a:extLst>
              </p:cNvPr>
              <p:cNvGrpSpPr/>
              <p:nvPr/>
            </p:nvGrpSpPr>
            <p:grpSpPr>
              <a:xfrm>
                <a:off x="9676491" y="3022270"/>
                <a:ext cx="120349" cy="120351"/>
                <a:chOff x="1982296" y="1466660"/>
                <a:chExt cx="307371" cy="307371"/>
              </a:xfrm>
            </p:grpSpPr>
            <p:sp>
              <p:nvSpPr>
                <p:cNvPr id="93" name="Retângulo de cantos arredondados 57">
                  <a:extLst>
                    <a:ext uri="{FF2B5EF4-FFF2-40B4-BE49-F238E27FC236}">
                      <a16:creationId xmlns="" xmlns:a16="http://schemas.microsoft.com/office/drawing/2014/main" id="{EF7069BB-3482-458E-906A-F7A0687C8FE9}"/>
                    </a:ext>
                  </a:extLst>
                </p:cNvPr>
                <p:cNvSpPr/>
                <p:nvPr/>
              </p:nvSpPr>
              <p:spPr>
                <a:xfrm>
                  <a:off x="2102647" y="1466660"/>
                  <a:ext cx="66672" cy="307371"/>
                </a:xfrm>
                <a:prstGeom prst="roundRect">
                  <a:avLst/>
                </a:prstGeom>
                <a:solidFill>
                  <a:srgbClr val="6E7073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>
                  <a:defPPr>
                    <a:defRPr lang="pt-BR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115671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2277" b="0" i="0" u="none" strike="noStrike" kern="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94" name="Retângulo de cantos arredondados 58">
                  <a:extLst>
                    <a:ext uri="{FF2B5EF4-FFF2-40B4-BE49-F238E27FC236}">
                      <a16:creationId xmlns="" xmlns:a16="http://schemas.microsoft.com/office/drawing/2014/main" id="{156FED28-64E1-4782-A521-80D2DA86F24E}"/>
                    </a:ext>
                  </a:extLst>
                </p:cNvPr>
                <p:cNvSpPr/>
                <p:nvPr/>
              </p:nvSpPr>
              <p:spPr>
                <a:xfrm rot="5400000">
                  <a:off x="2102646" y="1466661"/>
                  <a:ext cx="66672" cy="307371"/>
                </a:xfrm>
                <a:prstGeom prst="roundRect">
                  <a:avLst/>
                </a:prstGeom>
                <a:solidFill>
                  <a:srgbClr val="6E7073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>
                  <a:defPPr>
                    <a:defRPr lang="pt-BR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115671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2277" b="0" i="0" u="none" strike="noStrike" kern="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90" name="Grupo 59">
                <a:extLst>
                  <a:ext uri="{FF2B5EF4-FFF2-40B4-BE49-F238E27FC236}">
                    <a16:creationId xmlns="" xmlns:a16="http://schemas.microsoft.com/office/drawing/2014/main" id="{AFB29B0A-BE4C-4682-A3B7-96620566C0C1}"/>
                  </a:ext>
                </a:extLst>
              </p:cNvPr>
              <p:cNvGrpSpPr/>
              <p:nvPr/>
            </p:nvGrpSpPr>
            <p:grpSpPr>
              <a:xfrm>
                <a:off x="9011302" y="3022270"/>
                <a:ext cx="120349" cy="120351"/>
                <a:chOff x="1982296" y="1466660"/>
                <a:chExt cx="307371" cy="307371"/>
              </a:xfrm>
            </p:grpSpPr>
            <p:sp>
              <p:nvSpPr>
                <p:cNvPr id="91" name="Retângulo de cantos arredondados 60">
                  <a:extLst>
                    <a:ext uri="{FF2B5EF4-FFF2-40B4-BE49-F238E27FC236}">
                      <a16:creationId xmlns="" xmlns:a16="http://schemas.microsoft.com/office/drawing/2014/main" id="{AAEBE417-AAFB-4F18-A15E-2065E28BA629}"/>
                    </a:ext>
                  </a:extLst>
                </p:cNvPr>
                <p:cNvSpPr/>
                <p:nvPr/>
              </p:nvSpPr>
              <p:spPr>
                <a:xfrm>
                  <a:off x="2102647" y="1466660"/>
                  <a:ext cx="66672" cy="307371"/>
                </a:xfrm>
                <a:prstGeom prst="roundRect">
                  <a:avLst/>
                </a:prstGeom>
                <a:solidFill>
                  <a:srgbClr val="6E7073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>
                  <a:defPPr>
                    <a:defRPr lang="pt-BR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115671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2277" b="0" i="0" u="none" strike="noStrike" kern="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92" name="Retângulo de cantos arredondados 61">
                  <a:extLst>
                    <a:ext uri="{FF2B5EF4-FFF2-40B4-BE49-F238E27FC236}">
                      <a16:creationId xmlns="" xmlns:a16="http://schemas.microsoft.com/office/drawing/2014/main" id="{91C5AB4A-DB35-4B00-869B-87DF4BF4903C}"/>
                    </a:ext>
                  </a:extLst>
                </p:cNvPr>
                <p:cNvSpPr/>
                <p:nvPr/>
              </p:nvSpPr>
              <p:spPr>
                <a:xfrm rot="5400000">
                  <a:off x="2102646" y="1466661"/>
                  <a:ext cx="66672" cy="307371"/>
                </a:xfrm>
                <a:prstGeom prst="roundRect">
                  <a:avLst/>
                </a:prstGeom>
                <a:solidFill>
                  <a:srgbClr val="6E7073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>
                  <a:defPPr>
                    <a:defRPr lang="pt-BR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115671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2277" b="0" i="0" u="none" strike="noStrike" kern="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60" name="Agrupar 59">
              <a:extLst>
                <a:ext uri="{FF2B5EF4-FFF2-40B4-BE49-F238E27FC236}">
                  <a16:creationId xmlns="" xmlns:a16="http://schemas.microsoft.com/office/drawing/2014/main" id="{5BEA2919-8EED-4545-B06C-1C2F816712AD}"/>
                </a:ext>
              </a:extLst>
            </p:cNvPr>
            <p:cNvGrpSpPr/>
            <p:nvPr/>
          </p:nvGrpSpPr>
          <p:grpSpPr>
            <a:xfrm>
              <a:off x="5820086" y="1133092"/>
              <a:ext cx="2429939" cy="4514055"/>
              <a:chOff x="6030907" y="741646"/>
              <a:chExt cx="3179185" cy="5190998"/>
            </a:xfrm>
          </p:grpSpPr>
          <p:sp>
            <p:nvSpPr>
              <p:cNvPr id="62" name="Retângulo 61">
                <a:extLst>
                  <a:ext uri="{FF2B5EF4-FFF2-40B4-BE49-F238E27FC236}">
                    <a16:creationId xmlns="" xmlns:a16="http://schemas.microsoft.com/office/drawing/2014/main" id="{75C55EB2-9726-406A-BE29-2DA8FA58B57B}"/>
                  </a:ext>
                </a:extLst>
              </p:cNvPr>
              <p:cNvSpPr/>
              <p:nvPr/>
            </p:nvSpPr>
            <p:spPr>
              <a:xfrm>
                <a:off x="6147634" y="1862941"/>
                <a:ext cx="676719" cy="688913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rtlCol="0" anchor="ctr"/>
              <a:lstStyle>
                <a:defPPr>
                  <a:defRPr lang="pt-BR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115671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2277" b="0" i="0" u="none" strike="noStrike" kern="0" cap="none" spc="0" normalizeH="0" baseline="0" noProof="0">
                  <a:ln>
                    <a:noFill/>
                  </a:ln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63" name="Retângulo 62">
                <a:extLst>
                  <a:ext uri="{FF2B5EF4-FFF2-40B4-BE49-F238E27FC236}">
                    <a16:creationId xmlns="" xmlns:a16="http://schemas.microsoft.com/office/drawing/2014/main" id="{DEDB5836-C3A7-499C-9DAB-B4DC8D6DFC56}"/>
                  </a:ext>
                </a:extLst>
              </p:cNvPr>
              <p:cNvSpPr/>
              <p:nvPr/>
            </p:nvSpPr>
            <p:spPr>
              <a:xfrm>
                <a:off x="6147637" y="1158265"/>
                <a:ext cx="676719" cy="688913"/>
              </a:xfrm>
              <a:prstGeom prst="rect">
                <a:avLst/>
              </a:prstGeom>
              <a:solidFill>
                <a:srgbClr val="6E7073"/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rtlCol="0" anchor="ctr"/>
              <a:lstStyle>
                <a:defPPr>
                  <a:defRPr lang="pt-BR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115671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2277" b="0" i="0" u="none" strike="noStrike" kern="0" cap="none" spc="0" normalizeH="0" baseline="0" noProof="0">
                  <a:ln>
                    <a:noFill/>
                  </a:ln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64" name="Retângulo 63">
                <a:extLst>
                  <a:ext uri="{FF2B5EF4-FFF2-40B4-BE49-F238E27FC236}">
                    <a16:creationId xmlns="" xmlns:a16="http://schemas.microsoft.com/office/drawing/2014/main" id="{22E28A55-2F2D-40D0-97E9-C7CC964CF8CE}"/>
                  </a:ext>
                </a:extLst>
              </p:cNvPr>
              <p:cNvSpPr/>
              <p:nvPr/>
            </p:nvSpPr>
            <p:spPr>
              <a:xfrm>
                <a:off x="7501073" y="1147248"/>
                <a:ext cx="676719" cy="688913"/>
              </a:xfrm>
              <a:prstGeom prst="rect">
                <a:avLst/>
              </a:prstGeom>
              <a:solidFill>
                <a:srgbClr val="6E7073"/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rtlCol="0" anchor="ctr"/>
              <a:lstStyle>
                <a:defPPr>
                  <a:defRPr lang="pt-BR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115671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2277" b="0" i="0" u="none" strike="noStrike" kern="0" cap="none" spc="0" normalizeH="0" baseline="0" noProof="0">
                  <a:ln>
                    <a:noFill/>
                  </a:ln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65" name="Retângulo 64">
                <a:extLst>
                  <a:ext uri="{FF2B5EF4-FFF2-40B4-BE49-F238E27FC236}">
                    <a16:creationId xmlns="" xmlns:a16="http://schemas.microsoft.com/office/drawing/2014/main" id="{F4FF6D59-F13E-47A8-96B5-0B04548A8CB1}"/>
                  </a:ext>
                </a:extLst>
              </p:cNvPr>
              <p:cNvSpPr/>
              <p:nvPr/>
            </p:nvSpPr>
            <p:spPr>
              <a:xfrm>
                <a:off x="6824354" y="1836158"/>
                <a:ext cx="676719" cy="715694"/>
              </a:xfrm>
              <a:prstGeom prst="rect">
                <a:avLst/>
              </a:prstGeom>
              <a:solidFill>
                <a:srgbClr val="6E7073"/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rtlCol="0" anchor="ctr"/>
              <a:lstStyle>
                <a:defPPr>
                  <a:defRPr lang="pt-BR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115671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2277" b="0" i="0" u="none" strike="noStrike" kern="0" cap="none" spc="0" normalizeH="0" baseline="0" noProof="0">
                  <a:ln>
                    <a:noFill/>
                  </a:ln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66" name="Retângulo 65">
                <a:extLst>
                  <a:ext uri="{FF2B5EF4-FFF2-40B4-BE49-F238E27FC236}">
                    <a16:creationId xmlns="" xmlns:a16="http://schemas.microsoft.com/office/drawing/2014/main" id="{90E7CDE0-97D3-4C6D-8B22-48E7613573CB}"/>
                  </a:ext>
                </a:extLst>
              </p:cNvPr>
              <p:cNvSpPr/>
              <p:nvPr/>
            </p:nvSpPr>
            <p:spPr>
              <a:xfrm>
                <a:off x="8177790" y="1836157"/>
                <a:ext cx="676719" cy="715695"/>
              </a:xfrm>
              <a:prstGeom prst="rect">
                <a:avLst/>
              </a:prstGeom>
              <a:solidFill>
                <a:srgbClr val="6E7073"/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rtlCol="0" anchor="ctr"/>
              <a:lstStyle>
                <a:defPPr>
                  <a:defRPr lang="pt-BR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115671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2277" b="0" i="0" u="none" strike="noStrike" kern="0" cap="none" spc="0" normalizeH="0" baseline="0" noProof="0">
                  <a:ln>
                    <a:noFill/>
                  </a:ln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67" name="Retângulo 66">
                <a:extLst>
                  <a:ext uri="{FF2B5EF4-FFF2-40B4-BE49-F238E27FC236}">
                    <a16:creationId xmlns="" xmlns:a16="http://schemas.microsoft.com/office/drawing/2014/main" id="{99732811-9529-4C39-B3A4-D4AB63A86EB2}"/>
                  </a:ext>
                </a:extLst>
              </p:cNvPr>
              <p:cNvSpPr/>
              <p:nvPr/>
            </p:nvSpPr>
            <p:spPr>
              <a:xfrm>
                <a:off x="6824353" y="1147248"/>
                <a:ext cx="676719" cy="688913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rtlCol="0" anchor="ctr"/>
              <a:lstStyle>
                <a:defPPr>
                  <a:defRPr lang="pt-BR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115671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2277" b="0" i="0" u="none" strike="noStrike" kern="0" cap="none" spc="0" normalizeH="0" baseline="0" noProof="0">
                  <a:ln>
                    <a:noFill/>
                  </a:ln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68" name="Retângulo 67">
                <a:extLst>
                  <a:ext uri="{FF2B5EF4-FFF2-40B4-BE49-F238E27FC236}">
                    <a16:creationId xmlns="" xmlns:a16="http://schemas.microsoft.com/office/drawing/2014/main" id="{5A474AEC-5754-4543-83F1-BE9827FC1286}"/>
                  </a:ext>
                </a:extLst>
              </p:cNvPr>
              <p:cNvSpPr/>
              <p:nvPr/>
            </p:nvSpPr>
            <p:spPr>
              <a:xfrm>
                <a:off x="8177789" y="1147248"/>
                <a:ext cx="676719" cy="688913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rtlCol="0" anchor="ctr"/>
              <a:lstStyle>
                <a:defPPr>
                  <a:defRPr lang="pt-BR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115671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2277" b="0" i="0" u="none" strike="noStrike" kern="0" cap="none" spc="0" normalizeH="0" baseline="0" noProof="0">
                  <a:ln>
                    <a:noFill/>
                  </a:ln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69" name="Retângulo 68">
                <a:extLst>
                  <a:ext uri="{FF2B5EF4-FFF2-40B4-BE49-F238E27FC236}">
                    <a16:creationId xmlns="" xmlns:a16="http://schemas.microsoft.com/office/drawing/2014/main" id="{E888D93C-F625-4132-8D8C-8F24A39A3244}"/>
                  </a:ext>
                </a:extLst>
              </p:cNvPr>
              <p:cNvSpPr/>
              <p:nvPr/>
            </p:nvSpPr>
            <p:spPr>
              <a:xfrm>
                <a:off x="7501072" y="1836158"/>
                <a:ext cx="676719" cy="715694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rtlCol="0" anchor="ctr"/>
              <a:lstStyle>
                <a:defPPr>
                  <a:defRPr lang="pt-BR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115671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2277" b="0" i="0" u="none" strike="noStrike" kern="0" cap="none" spc="0" normalizeH="0" baseline="0" noProof="0">
                  <a:ln>
                    <a:noFill/>
                  </a:ln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70" name="Retângulo 69">
                <a:extLst>
                  <a:ext uri="{FF2B5EF4-FFF2-40B4-BE49-F238E27FC236}">
                    <a16:creationId xmlns="" xmlns:a16="http://schemas.microsoft.com/office/drawing/2014/main" id="{00A895B5-14CD-4DE2-B26F-76E8250F33B2}"/>
                  </a:ext>
                </a:extLst>
              </p:cNvPr>
              <p:cNvSpPr/>
              <p:nvPr/>
            </p:nvSpPr>
            <p:spPr>
              <a:xfrm>
                <a:off x="6091509" y="2628878"/>
                <a:ext cx="2774544" cy="332712"/>
              </a:xfrm>
              <a:prstGeom prst="rect">
                <a:avLst/>
              </a:prstGeom>
              <a:solidFill>
                <a:srgbClr val="F47A1F"/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rtlCol="0" anchor="ctr"/>
              <a:lstStyle>
                <a:defPPr>
                  <a:defRPr lang="pt-BR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115671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pt-BR" sz="1265" b="1" i="0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VOZ</a:t>
                </a:r>
              </a:p>
            </p:txBody>
          </p:sp>
          <p:sp>
            <p:nvSpPr>
              <p:cNvPr id="71" name="CaixaDeTexto 221">
                <a:extLst>
                  <a:ext uri="{FF2B5EF4-FFF2-40B4-BE49-F238E27FC236}">
                    <a16:creationId xmlns="" xmlns:a16="http://schemas.microsoft.com/office/drawing/2014/main" id="{1B75ABE8-9DD7-4774-9B4C-C1EA3C5325D6}"/>
                  </a:ext>
                </a:extLst>
              </p:cNvPr>
              <p:cNvSpPr txBox="1"/>
              <p:nvPr/>
            </p:nvSpPr>
            <p:spPr>
              <a:xfrm>
                <a:off x="6030907" y="3024117"/>
                <a:ext cx="3078192" cy="6016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pt-BR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216884" marR="0" lvl="0" indent="-216884" algn="l" defTabSz="115671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FABF4">
                      <a:lumMod val="75000"/>
                    </a:srgbClr>
                  </a:buClr>
                  <a:buSzPct val="150000"/>
                  <a:buFont typeface="Calibri" panose="020F0502020204030204" pitchFamily="34" charset="0"/>
                  <a:buChar char="•"/>
                  <a:tabLst/>
                  <a:defRPr/>
                </a:pPr>
                <a:r>
                  <a:rPr kumimoji="0" lang="pt-BR" sz="1400" b="0" i="0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DISCADOR PREDITIVO</a:t>
                </a:r>
              </a:p>
              <a:p>
                <a:pPr marL="216884" marR="0" lvl="0" indent="-216884" algn="l" defTabSz="115671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FABF4">
                      <a:lumMod val="75000"/>
                    </a:srgbClr>
                  </a:buClr>
                  <a:buSzPct val="150000"/>
                  <a:buFont typeface="Calibri" panose="020F0502020204030204" pitchFamily="34" charset="0"/>
                  <a:buChar char="•"/>
                  <a:tabLst/>
                  <a:defRPr/>
                </a:pPr>
                <a:r>
                  <a:rPr kumimoji="0" lang="pt-BR" sz="1400" b="0" i="0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AGENTE DIGITAL IN/OUT</a:t>
                </a:r>
              </a:p>
            </p:txBody>
          </p:sp>
          <p:sp>
            <p:nvSpPr>
              <p:cNvPr id="72" name="CaixaDeTexto 222">
                <a:extLst>
                  <a:ext uri="{FF2B5EF4-FFF2-40B4-BE49-F238E27FC236}">
                    <a16:creationId xmlns="" xmlns:a16="http://schemas.microsoft.com/office/drawing/2014/main" id="{2F86C66A-B6F9-4085-881B-72733231CF65}"/>
                  </a:ext>
                </a:extLst>
              </p:cNvPr>
              <p:cNvSpPr txBox="1"/>
              <p:nvPr/>
            </p:nvSpPr>
            <p:spPr>
              <a:xfrm>
                <a:off x="6091509" y="4092199"/>
                <a:ext cx="3118583" cy="18404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pt-BR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216884" marR="0" lvl="0" indent="-216884" algn="l" defTabSz="115671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FABF4">
                      <a:lumMod val="75000"/>
                    </a:srgbClr>
                  </a:buClr>
                  <a:buSzPct val="150000"/>
                  <a:buFont typeface="Calibri" panose="020F0502020204030204" pitchFamily="34" charset="0"/>
                  <a:buChar char="•"/>
                  <a:tabLst/>
                  <a:defRPr/>
                </a:pPr>
                <a:r>
                  <a:rPr kumimoji="0" lang="pt-BR" sz="1400" b="0" i="0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PORTAL WEB</a:t>
                </a:r>
              </a:p>
              <a:p>
                <a:pPr marL="216884" marR="0" lvl="0" indent="-216884" algn="l" defTabSz="115671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FABF4">
                      <a:lumMod val="75000"/>
                    </a:srgbClr>
                  </a:buClr>
                  <a:buSzPct val="150000"/>
                  <a:buFont typeface="Calibri" panose="020F0502020204030204" pitchFamily="34" charset="0"/>
                  <a:buChar char="•"/>
                  <a:tabLst/>
                  <a:defRPr/>
                </a:pPr>
                <a:r>
                  <a:rPr kumimoji="0" lang="pt-BR" sz="1400" b="0" i="0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CHAT BOT</a:t>
                </a:r>
              </a:p>
              <a:p>
                <a:pPr marL="216884" marR="0" lvl="0" indent="-216884" algn="l" defTabSz="115671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FABF4">
                      <a:lumMod val="75000"/>
                    </a:srgbClr>
                  </a:buClr>
                  <a:buSzPct val="150000"/>
                  <a:buFont typeface="Calibri" panose="020F0502020204030204" pitchFamily="34" charset="0"/>
                  <a:buChar char="•"/>
                  <a:tabLst/>
                  <a:defRPr/>
                </a:pPr>
                <a:r>
                  <a:rPr kumimoji="0" lang="pt-BR" sz="1400" b="0" i="0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APP BOT</a:t>
                </a:r>
              </a:p>
              <a:p>
                <a:pPr marL="216884" marR="0" lvl="0" indent="-216884" algn="l" defTabSz="115671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FABF4">
                      <a:lumMod val="75000"/>
                    </a:srgbClr>
                  </a:buClr>
                  <a:buSzPct val="150000"/>
                  <a:buFont typeface="Calibri" panose="020F0502020204030204" pitchFamily="34" charset="0"/>
                  <a:buChar char="•"/>
                  <a:tabLst/>
                  <a:defRPr/>
                </a:pPr>
                <a:r>
                  <a:rPr kumimoji="0" lang="pt-BR" sz="1400" b="0" i="0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SMS BOT</a:t>
                </a:r>
              </a:p>
              <a:p>
                <a:pPr marL="216884" marR="0" lvl="0" indent="-216884" algn="l" defTabSz="115671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FABF4">
                      <a:lumMod val="75000"/>
                    </a:srgbClr>
                  </a:buClr>
                  <a:buSzPct val="150000"/>
                  <a:buFont typeface="Calibri" panose="020F0502020204030204" pitchFamily="34" charset="0"/>
                  <a:buChar char="•"/>
                  <a:tabLst/>
                  <a:defRPr/>
                </a:pPr>
                <a:r>
                  <a:rPr kumimoji="0" lang="pt-BR" sz="1400" b="0" i="0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EMAIL</a:t>
                </a:r>
              </a:p>
              <a:p>
                <a:pPr marL="216884" marR="0" lvl="0" indent="-216884" algn="l" defTabSz="115671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FABF4">
                      <a:lumMod val="75000"/>
                    </a:srgbClr>
                  </a:buClr>
                  <a:buSzPct val="150000"/>
                  <a:buFont typeface="Calibri" panose="020F0502020204030204" pitchFamily="34" charset="0"/>
                  <a:buChar char="•"/>
                  <a:tabLst/>
                  <a:defRPr/>
                </a:pPr>
                <a:r>
                  <a:rPr kumimoji="0" lang="pt-BR" sz="1400" b="0" i="0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FRONT END MULTICANAL</a:t>
                </a:r>
              </a:p>
              <a:p>
                <a:pPr marL="0" marR="0" lvl="0" indent="0" algn="l" defTabSz="115671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FABF4">
                      <a:lumMod val="75000"/>
                    </a:srgbClr>
                  </a:buClr>
                  <a:buSzPct val="150000"/>
                  <a:buFontTx/>
                  <a:buNone/>
                  <a:tabLst/>
                  <a:defRPr/>
                </a:pPr>
                <a:endParaRPr kumimoji="0" lang="pt-BR" sz="1400" b="1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3" name="CaixaDeTexto 223">
                <a:extLst>
                  <a:ext uri="{FF2B5EF4-FFF2-40B4-BE49-F238E27FC236}">
                    <a16:creationId xmlns="" xmlns:a16="http://schemas.microsoft.com/office/drawing/2014/main" id="{310E0048-40A2-4D19-828A-3453A61D29F2}"/>
                  </a:ext>
                </a:extLst>
              </p:cNvPr>
              <p:cNvSpPr txBox="1"/>
              <p:nvPr/>
            </p:nvSpPr>
            <p:spPr>
              <a:xfrm>
                <a:off x="6094250" y="741646"/>
                <a:ext cx="2701707" cy="424718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>
                <a:defPPr>
                  <a:defRPr lang="pt-BR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115671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pt-BR" sz="1800" b="1" i="0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MULTICANALIDADE</a:t>
                </a:r>
              </a:p>
            </p:txBody>
          </p:sp>
          <p:pic>
            <p:nvPicPr>
              <p:cNvPr id="74" name="Picture 9">
                <a:extLst>
                  <a:ext uri="{FF2B5EF4-FFF2-40B4-BE49-F238E27FC236}">
                    <a16:creationId xmlns="" xmlns:a16="http://schemas.microsoft.com/office/drawing/2014/main" id="{7D042826-70FE-48E6-91FB-13C3D15B3BF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674260">
                <a:off x="8276513" y="1971995"/>
                <a:ext cx="442590" cy="45791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pic>
            <p:nvPicPr>
              <p:cNvPr id="75" name="Picture 11">
                <a:extLst>
                  <a:ext uri="{FF2B5EF4-FFF2-40B4-BE49-F238E27FC236}">
                    <a16:creationId xmlns="" xmlns:a16="http://schemas.microsoft.com/office/drawing/2014/main" id="{E31AB174-52FD-4F47-9D56-C43378B032A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972377" y="1302495"/>
                <a:ext cx="415110" cy="45970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pic>
            <p:nvPicPr>
              <p:cNvPr id="76" name="Picture 13">
                <a:extLst>
                  <a:ext uri="{FF2B5EF4-FFF2-40B4-BE49-F238E27FC236}">
                    <a16:creationId xmlns="" xmlns:a16="http://schemas.microsoft.com/office/drawing/2014/main" id="{E78C3C75-5DBB-4E69-8742-AB5B91511F2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218372" y="1283607"/>
                <a:ext cx="535246" cy="46039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pic>
            <p:nvPicPr>
              <p:cNvPr id="77" name="Picture 15">
                <a:extLst>
                  <a:ext uri="{FF2B5EF4-FFF2-40B4-BE49-F238E27FC236}">
                    <a16:creationId xmlns="" xmlns:a16="http://schemas.microsoft.com/office/drawing/2014/main" id="{62ADE78F-CAFB-432A-ACB4-F6FC0F9A482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611047" y="1980978"/>
                <a:ext cx="534897" cy="42996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sp>
            <p:nvSpPr>
              <p:cNvPr id="78" name="CaixaDeTexto 228">
                <a:extLst>
                  <a:ext uri="{FF2B5EF4-FFF2-40B4-BE49-F238E27FC236}">
                    <a16:creationId xmlns="" xmlns:a16="http://schemas.microsoft.com/office/drawing/2014/main" id="{A4D7D20E-777F-45D5-8B25-16ABD897D1DA}"/>
                  </a:ext>
                </a:extLst>
              </p:cNvPr>
              <p:cNvSpPr txBox="1"/>
              <p:nvPr/>
            </p:nvSpPr>
            <p:spPr>
              <a:xfrm>
                <a:off x="6091509" y="1901332"/>
                <a:ext cx="732844" cy="553903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>
                <a:defPPr>
                  <a:defRPr lang="pt-BR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115671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pt-BR" sz="2530" b="0" i="0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@</a:t>
                </a:r>
              </a:p>
            </p:txBody>
          </p:sp>
          <p:pic>
            <p:nvPicPr>
              <p:cNvPr id="79" name="Imagem 78">
                <a:extLst>
                  <a:ext uri="{FF2B5EF4-FFF2-40B4-BE49-F238E27FC236}">
                    <a16:creationId xmlns="" xmlns:a16="http://schemas.microsoft.com/office/drawing/2014/main" id="{FF69C49D-E6C4-4853-BA09-1323ECFA428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664156" y="1264137"/>
                <a:ext cx="360264" cy="486744"/>
              </a:xfrm>
              <a:prstGeom prst="rect">
                <a:avLst/>
              </a:prstGeom>
            </p:spPr>
          </p:pic>
          <p:pic>
            <p:nvPicPr>
              <p:cNvPr id="80" name="Imagem 79">
                <a:extLst>
                  <a:ext uri="{FF2B5EF4-FFF2-40B4-BE49-F238E27FC236}">
                    <a16:creationId xmlns="" xmlns:a16="http://schemas.microsoft.com/office/drawing/2014/main" id="{F3881D2D-E458-49BA-AE34-35A90D1FCAE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235223" y="1228132"/>
                <a:ext cx="551429" cy="546653"/>
              </a:xfrm>
              <a:prstGeom prst="rect">
                <a:avLst/>
              </a:prstGeom>
            </p:spPr>
          </p:pic>
          <p:pic>
            <p:nvPicPr>
              <p:cNvPr id="81" name="Imagem 80">
                <a:extLst>
                  <a:ext uri="{FF2B5EF4-FFF2-40B4-BE49-F238E27FC236}">
                    <a16:creationId xmlns="" xmlns:a16="http://schemas.microsoft.com/office/drawing/2014/main" id="{A63BF7A7-0C3B-477F-B57A-2A1F07502A8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914327" y="1938861"/>
                <a:ext cx="514666" cy="524185"/>
              </a:xfrm>
              <a:prstGeom prst="rect">
                <a:avLst/>
              </a:prstGeom>
            </p:spPr>
          </p:pic>
          <p:sp>
            <p:nvSpPr>
              <p:cNvPr id="83" name="Retângulo 82">
                <a:extLst>
                  <a:ext uri="{FF2B5EF4-FFF2-40B4-BE49-F238E27FC236}">
                    <a16:creationId xmlns="" xmlns:a16="http://schemas.microsoft.com/office/drawing/2014/main" id="{94FAEE8F-D0A8-410F-936C-B3EBD8928008}"/>
                  </a:ext>
                </a:extLst>
              </p:cNvPr>
              <p:cNvSpPr/>
              <p:nvPr/>
            </p:nvSpPr>
            <p:spPr>
              <a:xfrm>
                <a:off x="6124590" y="3653412"/>
                <a:ext cx="2774544" cy="332712"/>
              </a:xfrm>
              <a:prstGeom prst="rect">
                <a:avLst/>
              </a:prstGeom>
              <a:solidFill>
                <a:srgbClr val="F47A1F"/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rtlCol="0" anchor="ctr"/>
              <a:lstStyle>
                <a:defPPr>
                  <a:defRPr lang="pt-BR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115671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pt-BR" sz="1265" b="1" i="0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TEXTO</a:t>
                </a:r>
              </a:p>
            </p:txBody>
          </p:sp>
        </p:grpSp>
        <p:sp>
          <p:nvSpPr>
            <p:cNvPr id="61" name="Seta para a direita 9">
              <a:extLst>
                <a:ext uri="{FF2B5EF4-FFF2-40B4-BE49-F238E27FC236}">
                  <a16:creationId xmlns="" xmlns:a16="http://schemas.microsoft.com/office/drawing/2014/main" id="{FE3D669E-EABF-42E1-8572-E81BFEEC9648}"/>
                </a:ext>
              </a:extLst>
            </p:cNvPr>
            <p:cNvSpPr/>
            <p:nvPr/>
          </p:nvSpPr>
          <p:spPr>
            <a:xfrm>
              <a:off x="8142744" y="3301550"/>
              <a:ext cx="357313" cy="277748"/>
            </a:xfrm>
            <a:prstGeom prst="rightArrow">
              <a:avLst/>
            </a:prstGeom>
            <a:solidFill>
              <a:schemeClr val="bg1">
                <a:alpha val="50196"/>
              </a:schemeClr>
            </a:solidFill>
            <a:ln w="9525" cap="flat" cmpd="sng" algn="ctr">
              <a:noFill/>
              <a:prstDash val="solid"/>
            </a:ln>
            <a:effectLst/>
          </p:spPr>
          <p:txBody>
            <a:bodyPr rtlCol="0" anchor="ctr"/>
            <a:lstStyle>
              <a:defPPr>
                <a:defRPr lang="pt-B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115671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518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2" name="CaixaDeTexto 1">
            <a:extLst>
              <a:ext uri="{FF2B5EF4-FFF2-40B4-BE49-F238E27FC236}">
                <a16:creationId xmlns="" xmlns:a16="http://schemas.microsoft.com/office/drawing/2014/main" id="{125C1B38-6E7A-457F-81E4-49290AE53415}"/>
              </a:ext>
            </a:extLst>
          </p:cNvPr>
          <p:cNvSpPr txBox="1"/>
          <p:nvPr/>
        </p:nvSpPr>
        <p:spPr>
          <a:xfrm>
            <a:off x="7179397" y="6117628"/>
            <a:ext cx="3883435" cy="477054"/>
          </a:xfrm>
          <a:prstGeom prst="rect">
            <a:avLst/>
          </a:prstGeom>
          <a:solidFill>
            <a:srgbClr val="92D050"/>
          </a:solidFill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5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Fase 2: </a:t>
            </a:r>
            <a:r>
              <a:rPr kumimoji="0" lang="pt-BR" sz="25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Retenção/Blindagem</a:t>
            </a:r>
          </a:p>
        </p:txBody>
      </p:sp>
      <p:sp>
        <p:nvSpPr>
          <p:cNvPr id="129" name="CaixaDeTexto 128">
            <a:extLst>
              <a:ext uri="{FF2B5EF4-FFF2-40B4-BE49-F238E27FC236}">
                <a16:creationId xmlns="" xmlns:a16="http://schemas.microsoft.com/office/drawing/2014/main" id="{713659DA-FC62-4ED7-9E7A-8D8EDB6DDABB}"/>
              </a:ext>
            </a:extLst>
          </p:cNvPr>
          <p:cNvSpPr txBox="1"/>
          <p:nvPr/>
        </p:nvSpPr>
        <p:spPr>
          <a:xfrm>
            <a:off x="1792887" y="6108776"/>
            <a:ext cx="2346861" cy="477054"/>
          </a:xfrm>
          <a:prstGeom prst="rect">
            <a:avLst/>
          </a:prstGeom>
          <a:solidFill>
            <a:schemeClr val="accent1"/>
          </a:solidFill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5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Fase 1: </a:t>
            </a:r>
            <a:r>
              <a:rPr kumimoji="0" lang="pt-BR" sz="25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Ativação </a:t>
            </a:r>
          </a:p>
        </p:txBody>
      </p:sp>
      <p:cxnSp>
        <p:nvCxnSpPr>
          <p:cNvPr id="84" name="Conector reto 83">
            <a:extLst>
              <a:ext uri="{FF2B5EF4-FFF2-40B4-BE49-F238E27FC236}">
                <a16:creationId xmlns="" xmlns:a16="http://schemas.microsoft.com/office/drawing/2014/main" id="{BF81FC9F-54AD-4B79-892E-4F3D9EA28495}"/>
              </a:ext>
            </a:extLst>
          </p:cNvPr>
          <p:cNvCxnSpPr>
            <a:cxnSpLocks/>
          </p:cNvCxnSpPr>
          <p:nvPr/>
        </p:nvCxnSpPr>
        <p:spPr>
          <a:xfrm>
            <a:off x="427232" y="644291"/>
            <a:ext cx="11094208" cy="0"/>
          </a:xfrm>
          <a:prstGeom prst="line">
            <a:avLst/>
          </a:prstGeom>
          <a:solidFill>
            <a:srgbClr val="FF6600">
              <a:alpha val="42000"/>
            </a:srgbClr>
          </a:solidFill>
          <a:ln w="57150">
            <a:solidFill>
              <a:schemeClr val="accent5">
                <a:lumMod val="50000"/>
                <a:alpha val="42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</p:spTree>
    <p:extLst>
      <p:ext uri="{BB962C8B-B14F-4D97-AF65-F5344CB8AC3E}">
        <p14:creationId xmlns:p14="http://schemas.microsoft.com/office/powerpoint/2010/main" val="12058565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14">
            <a:extLst>
              <a:ext uri="{FF2B5EF4-FFF2-40B4-BE49-F238E27FC236}">
                <a16:creationId xmlns="" xmlns:a16="http://schemas.microsoft.com/office/drawing/2014/main" id="{360FBCF4-B73A-4949-A121-8FE9C64F12FB}"/>
              </a:ext>
            </a:extLst>
          </p:cNvPr>
          <p:cNvSpPr/>
          <p:nvPr/>
        </p:nvSpPr>
        <p:spPr>
          <a:xfrm rot="20956176">
            <a:off x="-700419" y="-33825"/>
            <a:ext cx="1133938" cy="1133938"/>
          </a:xfrm>
          <a:prstGeom prst="ellipse">
            <a:avLst/>
          </a:prstGeom>
          <a:solidFill>
            <a:schemeClr val="accent5">
              <a:lumMod val="50000"/>
              <a:alpha val="4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117" name="CaixaDeTexto 116">
            <a:extLst>
              <a:ext uri="{FF2B5EF4-FFF2-40B4-BE49-F238E27FC236}">
                <a16:creationId xmlns="" xmlns:a16="http://schemas.microsoft.com/office/drawing/2014/main" id="{B030F568-FA64-4385-8036-158743849ED6}"/>
              </a:ext>
            </a:extLst>
          </p:cNvPr>
          <p:cNvSpPr txBox="1"/>
          <p:nvPr/>
        </p:nvSpPr>
        <p:spPr>
          <a:xfrm>
            <a:off x="511317" y="167641"/>
            <a:ext cx="74310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>
                <a:latin typeface="Arial Rounded MT Bold" panose="020F0704030504030204" pitchFamily="34" charset="0"/>
              </a:rPr>
              <a:t>GERENCIAMENTO DE PROCESSO</a:t>
            </a:r>
            <a:endParaRPr kumimoji="0" lang="pt-BR" sz="18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 Rounded MT Bold" panose="020F0704030504030204" pitchFamily="34" charset="0"/>
            </a:endParaRPr>
          </a:p>
        </p:txBody>
      </p:sp>
      <p:grpSp>
        <p:nvGrpSpPr>
          <p:cNvPr id="3" name="Agrupar 2">
            <a:extLst>
              <a:ext uri="{FF2B5EF4-FFF2-40B4-BE49-F238E27FC236}">
                <a16:creationId xmlns="" xmlns:a16="http://schemas.microsoft.com/office/drawing/2014/main" id="{D18CCBF8-EB9D-4C53-9E28-E883C3BE555A}"/>
              </a:ext>
            </a:extLst>
          </p:cNvPr>
          <p:cNvGrpSpPr/>
          <p:nvPr/>
        </p:nvGrpSpPr>
        <p:grpSpPr>
          <a:xfrm>
            <a:off x="627134" y="1017576"/>
            <a:ext cx="10693248" cy="5393631"/>
            <a:chOff x="116146" y="1152046"/>
            <a:chExt cx="10693248" cy="5393631"/>
          </a:xfrm>
        </p:grpSpPr>
        <p:sp>
          <p:nvSpPr>
            <p:cNvPr id="127" name="Retângulo 126">
              <a:extLst>
                <a:ext uri="{FF2B5EF4-FFF2-40B4-BE49-F238E27FC236}">
                  <a16:creationId xmlns="" xmlns:a16="http://schemas.microsoft.com/office/drawing/2014/main" id="{B2E01B37-8FBC-419A-AE57-92090F7875B2}"/>
                </a:ext>
              </a:extLst>
            </p:cNvPr>
            <p:cNvSpPr/>
            <p:nvPr/>
          </p:nvSpPr>
          <p:spPr>
            <a:xfrm>
              <a:off x="8208012" y="1480084"/>
              <a:ext cx="2601382" cy="5052801"/>
            </a:xfrm>
            <a:prstGeom prst="rect">
              <a:avLst/>
            </a:prstGeom>
            <a:noFill/>
            <a:ln w="6350">
              <a:solidFill>
                <a:schemeClr val="bg1">
                  <a:lumMod val="75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5" name="Retângulo 124">
              <a:extLst>
                <a:ext uri="{FF2B5EF4-FFF2-40B4-BE49-F238E27FC236}">
                  <a16:creationId xmlns="" xmlns:a16="http://schemas.microsoft.com/office/drawing/2014/main" id="{1F6AC20E-DEC2-4189-B775-11295C924F7A}"/>
                </a:ext>
              </a:extLst>
            </p:cNvPr>
            <p:cNvSpPr/>
            <p:nvPr/>
          </p:nvSpPr>
          <p:spPr>
            <a:xfrm>
              <a:off x="5485677" y="1480084"/>
              <a:ext cx="2601382" cy="5052801"/>
            </a:xfrm>
            <a:prstGeom prst="rect">
              <a:avLst/>
            </a:prstGeom>
            <a:noFill/>
            <a:ln w="6350">
              <a:solidFill>
                <a:schemeClr val="bg1">
                  <a:lumMod val="75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2" name="Agrupar 1">
              <a:extLst>
                <a:ext uri="{FF2B5EF4-FFF2-40B4-BE49-F238E27FC236}">
                  <a16:creationId xmlns="" xmlns:a16="http://schemas.microsoft.com/office/drawing/2014/main" id="{800E9BF9-C767-43DA-AF55-FC1E08B24DB1}"/>
                </a:ext>
              </a:extLst>
            </p:cNvPr>
            <p:cNvGrpSpPr/>
            <p:nvPr/>
          </p:nvGrpSpPr>
          <p:grpSpPr>
            <a:xfrm>
              <a:off x="116146" y="1152046"/>
              <a:ext cx="10386007" cy="5393631"/>
              <a:chOff x="116146" y="1152046"/>
              <a:chExt cx="10386007" cy="5393631"/>
            </a:xfrm>
          </p:grpSpPr>
          <p:sp>
            <p:nvSpPr>
              <p:cNvPr id="68" name="Retângulo 67">
                <a:extLst>
                  <a:ext uri="{FF2B5EF4-FFF2-40B4-BE49-F238E27FC236}">
                    <a16:creationId xmlns="" xmlns:a16="http://schemas.microsoft.com/office/drawing/2014/main" id="{E131178F-1A2D-4633-B558-808658EF02D9}"/>
                  </a:ext>
                </a:extLst>
              </p:cNvPr>
              <p:cNvSpPr/>
              <p:nvPr/>
            </p:nvSpPr>
            <p:spPr>
              <a:xfrm>
                <a:off x="116146" y="1492876"/>
                <a:ext cx="5234443" cy="5052801"/>
              </a:xfrm>
              <a:prstGeom prst="rect">
                <a:avLst/>
              </a:prstGeom>
              <a:noFill/>
              <a:ln w="6350">
                <a:solidFill>
                  <a:schemeClr val="bg1">
                    <a:lumMod val="7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9" name="Retângulo Arredondado 71">
                <a:extLst>
                  <a:ext uri="{FF2B5EF4-FFF2-40B4-BE49-F238E27FC236}">
                    <a16:creationId xmlns="" xmlns:a16="http://schemas.microsoft.com/office/drawing/2014/main" id="{31990FF7-A638-4E25-9CED-AADC9B48F2F6}"/>
                  </a:ext>
                </a:extLst>
              </p:cNvPr>
              <p:cNvSpPr/>
              <p:nvPr/>
            </p:nvSpPr>
            <p:spPr>
              <a:xfrm>
                <a:off x="3276571" y="2956988"/>
                <a:ext cx="1317089" cy="1254148"/>
              </a:xfrm>
              <a:prstGeom prst="roundRect">
                <a:avLst/>
              </a:prstGeom>
              <a:noFill/>
              <a:ln w="12700" cap="flat" cmpd="sng" algn="ctr">
                <a:solidFill>
                  <a:srgbClr val="0E4582"/>
                </a:solidFill>
                <a:prstDash val="dash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18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70" name="Retângulo 69">
                <a:extLst>
                  <a:ext uri="{FF2B5EF4-FFF2-40B4-BE49-F238E27FC236}">
                    <a16:creationId xmlns="" xmlns:a16="http://schemas.microsoft.com/office/drawing/2014/main" id="{075DCC48-5318-4878-AC62-5FD7C1D79B8E}"/>
                  </a:ext>
                </a:extLst>
              </p:cNvPr>
              <p:cNvSpPr/>
              <p:nvPr/>
            </p:nvSpPr>
            <p:spPr>
              <a:xfrm>
                <a:off x="3186923" y="3087231"/>
                <a:ext cx="1448094" cy="101566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>
                  <a:spcBef>
                    <a:spcPct val="0"/>
                  </a:spcBef>
                  <a:defRPr/>
                </a:pPr>
                <a:r>
                  <a:rPr lang="pt-BR" sz="1200" kern="0" dirty="0">
                    <a:latin typeface="Calibri"/>
                  </a:rPr>
                  <a:t>Determina propensão de comportamento com geração de análises preditivas</a:t>
                </a:r>
              </a:p>
            </p:txBody>
          </p:sp>
          <p:pic>
            <p:nvPicPr>
              <p:cNvPr id="75" name="Imagem 74">
                <a:extLst>
                  <a:ext uri="{FF2B5EF4-FFF2-40B4-BE49-F238E27FC236}">
                    <a16:creationId xmlns="" xmlns:a16="http://schemas.microsoft.com/office/drawing/2014/main" id="{8A701177-D7B7-4AFB-BEAE-C9F0A9A4D4D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 flipH="1">
                <a:off x="500409" y="3607545"/>
                <a:ext cx="669359" cy="481449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 w="28575">
                <a:solidFill>
                  <a:schemeClr val="accent5">
                    <a:lumMod val="20000"/>
                    <a:lumOff val="80000"/>
                  </a:schemeClr>
                </a:solidFill>
              </a:ln>
            </p:spPr>
          </p:pic>
          <p:sp>
            <p:nvSpPr>
              <p:cNvPr id="77" name="CaixaDeTexto 76">
                <a:extLst>
                  <a:ext uri="{FF2B5EF4-FFF2-40B4-BE49-F238E27FC236}">
                    <a16:creationId xmlns="" xmlns:a16="http://schemas.microsoft.com/office/drawing/2014/main" id="{094EE30D-50EF-47A7-B5D1-3FDF0054F0B8}"/>
                  </a:ext>
                </a:extLst>
              </p:cNvPr>
              <p:cNvSpPr txBox="1"/>
              <p:nvPr/>
            </p:nvSpPr>
            <p:spPr>
              <a:xfrm>
                <a:off x="1099984" y="5307560"/>
                <a:ext cx="3079086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100" b="1" dirty="0"/>
                  <a:t>Monitoramento marca + menções relevantes</a:t>
                </a:r>
              </a:p>
            </p:txBody>
          </p:sp>
          <p:pic>
            <p:nvPicPr>
              <p:cNvPr id="78" name="Picture 2" descr="Resultado de imagem para perfil">
                <a:extLst>
                  <a:ext uri="{FF2B5EF4-FFF2-40B4-BE49-F238E27FC236}">
                    <a16:creationId xmlns="" xmlns:a16="http://schemas.microsoft.com/office/drawing/2014/main" id="{1B028F40-4499-4723-A72E-59524FB4D6A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8199" t="2123" r="27658" b="3430"/>
              <a:stretch/>
            </p:blipFill>
            <p:spPr bwMode="auto">
              <a:xfrm>
                <a:off x="485470" y="2688523"/>
                <a:ext cx="684299" cy="661369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 w="28575">
                <a:solidFill>
                  <a:schemeClr val="accent5">
                    <a:lumMod val="20000"/>
                    <a:lumOff val="80000"/>
                  </a:schemeClr>
                </a:solidFill>
              </a:ln>
            </p:spPr>
          </p:pic>
          <p:sp>
            <p:nvSpPr>
              <p:cNvPr id="79" name="Retângulo 78">
                <a:extLst>
                  <a:ext uri="{FF2B5EF4-FFF2-40B4-BE49-F238E27FC236}">
                    <a16:creationId xmlns="" xmlns:a16="http://schemas.microsoft.com/office/drawing/2014/main" id="{C5B1CAA1-6810-45B2-8F65-186E266EFD77}"/>
                  </a:ext>
                </a:extLst>
              </p:cNvPr>
              <p:cNvSpPr/>
              <p:nvPr/>
            </p:nvSpPr>
            <p:spPr>
              <a:xfrm>
                <a:off x="1142624" y="2709201"/>
                <a:ext cx="1289225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pt-BR" sz="1400" b="1" dirty="0"/>
                  <a:t>Análise Perfil Social</a:t>
                </a:r>
                <a:endParaRPr lang="pt-BR" sz="1400" dirty="0"/>
              </a:p>
            </p:txBody>
          </p:sp>
          <p:sp>
            <p:nvSpPr>
              <p:cNvPr id="80" name="Retângulo 79">
                <a:extLst>
                  <a:ext uri="{FF2B5EF4-FFF2-40B4-BE49-F238E27FC236}">
                    <a16:creationId xmlns="" xmlns:a16="http://schemas.microsoft.com/office/drawing/2014/main" id="{C49FDD18-BC39-4D58-9CB9-1EDE1778F30B}"/>
                  </a:ext>
                </a:extLst>
              </p:cNvPr>
              <p:cNvSpPr/>
              <p:nvPr/>
            </p:nvSpPr>
            <p:spPr>
              <a:xfrm>
                <a:off x="1269596" y="3529535"/>
                <a:ext cx="115516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pt-BR" sz="1400" b="1" dirty="0"/>
                  <a:t>Motor semântico </a:t>
                </a:r>
                <a:endParaRPr lang="pt-BR" sz="1400" dirty="0"/>
              </a:p>
            </p:txBody>
          </p:sp>
          <p:sp>
            <p:nvSpPr>
              <p:cNvPr id="81" name="Retângulo 80">
                <a:extLst>
                  <a:ext uri="{FF2B5EF4-FFF2-40B4-BE49-F238E27FC236}">
                    <a16:creationId xmlns="" xmlns:a16="http://schemas.microsoft.com/office/drawing/2014/main" id="{5FD84F6E-726B-4B1E-B252-ABDABFBB4E07}"/>
                  </a:ext>
                </a:extLst>
              </p:cNvPr>
              <p:cNvSpPr/>
              <p:nvPr/>
            </p:nvSpPr>
            <p:spPr>
              <a:xfrm>
                <a:off x="2417427" y="3186475"/>
                <a:ext cx="636713" cy="70788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pt-BR" sz="4000" b="1" dirty="0"/>
                  <a:t>+ </a:t>
                </a:r>
                <a:endParaRPr lang="pt-BR" sz="4000" dirty="0"/>
              </a:p>
            </p:txBody>
          </p:sp>
          <p:sp>
            <p:nvSpPr>
              <p:cNvPr id="84" name="CaixaDeTexto 83">
                <a:extLst>
                  <a:ext uri="{FF2B5EF4-FFF2-40B4-BE49-F238E27FC236}">
                    <a16:creationId xmlns="" xmlns:a16="http://schemas.microsoft.com/office/drawing/2014/main" id="{F58A8C19-A289-46B9-98DF-093895578321}"/>
                  </a:ext>
                </a:extLst>
              </p:cNvPr>
              <p:cNvSpPr txBox="1"/>
              <p:nvPr/>
            </p:nvSpPr>
            <p:spPr>
              <a:xfrm>
                <a:off x="391637" y="4744313"/>
                <a:ext cx="298992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sz="1400" b="1" dirty="0"/>
                  <a:t>Captura + incremento de dados</a:t>
                </a:r>
              </a:p>
            </p:txBody>
          </p:sp>
          <p:sp>
            <p:nvSpPr>
              <p:cNvPr id="85" name="CaixaDeTexto 84">
                <a:extLst>
                  <a:ext uri="{FF2B5EF4-FFF2-40B4-BE49-F238E27FC236}">
                    <a16:creationId xmlns="" xmlns:a16="http://schemas.microsoft.com/office/drawing/2014/main" id="{CCBDE988-7F3C-4590-A1C9-22C8ADBA337C}"/>
                  </a:ext>
                </a:extLst>
              </p:cNvPr>
              <p:cNvSpPr txBox="1"/>
              <p:nvPr/>
            </p:nvSpPr>
            <p:spPr>
              <a:xfrm>
                <a:off x="3220207" y="4744313"/>
                <a:ext cx="1608133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sz="1400" b="1" dirty="0"/>
                  <a:t>Base de clientes</a:t>
                </a:r>
              </a:p>
            </p:txBody>
          </p:sp>
          <p:sp>
            <p:nvSpPr>
              <p:cNvPr id="87" name="Retângulo: Cantos Arredondados 86">
                <a:extLst>
                  <a:ext uri="{FF2B5EF4-FFF2-40B4-BE49-F238E27FC236}">
                    <a16:creationId xmlns="" xmlns:a16="http://schemas.microsoft.com/office/drawing/2014/main" id="{D983C797-EF4A-42A4-8E4E-61E96CC2E1CE}"/>
                  </a:ext>
                </a:extLst>
              </p:cNvPr>
              <p:cNvSpPr/>
              <p:nvPr/>
            </p:nvSpPr>
            <p:spPr>
              <a:xfrm>
                <a:off x="288764" y="2376107"/>
                <a:ext cx="4656356" cy="2801852"/>
              </a:xfrm>
              <a:prstGeom prst="roundRect">
                <a:avLst/>
              </a:prstGeom>
              <a:noFill/>
              <a:ln w="285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1400" dirty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90" name="Agrupar 89">
                <a:extLst>
                  <a:ext uri="{FF2B5EF4-FFF2-40B4-BE49-F238E27FC236}">
                    <a16:creationId xmlns="" xmlns:a16="http://schemas.microsoft.com/office/drawing/2014/main" id="{9BF8F112-1739-4F01-A9A3-8B180BE8F12E}"/>
                  </a:ext>
                </a:extLst>
              </p:cNvPr>
              <p:cNvGrpSpPr/>
              <p:nvPr/>
            </p:nvGrpSpPr>
            <p:grpSpPr>
              <a:xfrm>
                <a:off x="2397248" y="1152046"/>
                <a:ext cx="638741" cy="638741"/>
                <a:chOff x="2451170" y="1973879"/>
                <a:chExt cx="638741" cy="638741"/>
              </a:xfrm>
            </p:grpSpPr>
            <p:sp>
              <p:nvSpPr>
                <p:cNvPr id="92" name="Elipse 91">
                  <a:extLst>
                    <a:ext uri="{FF2B5EF4-FFF2-40B4-BE49-F238E27FC236}">
                      <a16:creationId xmlns="" xmlns:a16="http://schemas.microsoft.com/office/drawing/2014/main" id="{C70BB892-68E3-42A5-9613-7176F70690EB}"/>
                    </a:ext>
                  </a:extLst>
                </p:cNvPr>
                <p:cNvSpPr/>
                <p:nvPr/>
              </p:nvSpPr>
              <p:spPr>
                <a:xfrm>
                  <a:off x="2451170" y="1973879"/>
                  <a:ext cx="638741" cy="638741"/>
                </a:xfrm>
                <a:prstGeom prst="ellipse">
                  <a:avLst/>
                </a:prstGeom>
                <a:solidFill>
                  <a:srgbClr val="F47A1F"/>
                </a:solidFill>
                <a:ln w="5715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200" b="0" i="0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95" name="Rectangle 7">
                  <a:extLst>
                    <a:ext uri="{FF2B5EF4-FFF2-40B4-BE49-F238E27FC236}">
                      <a16:creationId xmlns="" xmlns:a16="http://schemas.microsoft.com/office/drawing/2014/main" id="{B7B3E008-2849-4824-A30E-A7CC918DE9B2}"/>
                    </a:ext>
                  </a:extLst>
                </p:cNvPr>
                <p:cNvSpPr/>
                <p:nvPr/>
              </p:nvSpPr>
              <p:spPr>
                <a:xfrm>
                  <a:off x="2523842" y="2057056"/>
                  <a:ext cx="493394" cy="546625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8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pt-BR" sz="3600" b="1" i="0" u="none" strike="noStrike" kern="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latin typeface="Calibri"/>
                      <a:ea typeface="+mn-ea"/>
                      <a:cs typeface="+mn-cs"/>
                    </a:rPr>
                    <a:t>1</a:t>
                  </a:r>
                </a:p>
              </p:txBody>
            </p:sp>
          </p:grpSp>
          <p:sp>
            <p:nvSpPr>
              <p:cNvPr id="97" name="Rectangle 7">
                <a:extLst>
                  <a:ext uri="{FF2B5EF4-FFF2-40B4-BE49-F238E27FC236}">
                    <a16:creationId xmlns="" xmlns:a16="http://schemas.microsoft.com/office/drawing/2014/main" id="{897CCD70-8F48-4AFC-9E88-A4A1DBE9048E}"/>
                  </a:ext>
                </a:extLst>
              </p:cNvPr>
              <p:cNvSpPr/>
              <p:nvPr/>
            </p:nvSpPr>
            <p:spPr>
              <a:xfrm>
                <a:off x="1946726" y="1929689"/>
                <a:ext cx="1539782" cy="26468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R="0" lvl="0" indent="0" algn="ctr" fontAlgn="auto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pt-BR" sz="1400" b="1" dirty="0"/>
                  <a:t>INTELIGÊNCIA</a:t>
                </a:r>
              </a:p>
            </p:txBody>
          </p:sp>
          <p:grpSp>
            <p:nvGrpSpPr>
              <p:cNvPr id="98" name="Agrupar 97">
                <a:extLst>
                  <a:ext uri="{FF2B5EF4-FFF2-40B4-BE49-F238E27FC236}">
                    <a16:creationId xmlns="" xmlns:a16="http://schemas.microsoft.com/office/drawing/2014/main" id="{23486B6C-2062-4B44-BDA5-93303399F3EA}"/>
                  </a:ext>
                </a:extLst>
              </p:cNvPr>
              <p:cNvGrpSpPr/>
              <p:nvPr/>
            </p:nvGrpSpPr>
            <p:grpSpPr>
              <a:xfrm>
                <a:off x="6339255" y="1159646"/>
                <a:ext cx="638741" cy="638741"/>
                <a:chOff x="2209124" y="1973879"/>
                <a:chExt cx="638741" cy="638741"/>
              </a:xfrm>
            </p:grpSpPr>
            <p:sp>
              <p:nvSpPr>
                <p:cNvPr id="99" name="Elipse 98">
                  <a:extLst>
                    <a:ext uri="{FF2B5EF4-FFF2-40B4-BE49-F238E27FC236}">
                      <a16:creationId xmlns="" xmlns:a16="http://schemas.microsoft.com/office/drawing/2014/main" id="{D860D3AF-4C02-4693-879C-C44459121E39}"/>
                    </a:ext>
                  </a:extLst>
                </p:cNvPr>
                <p:cNvSpPr/>
                <p:nvPr/>
              </p:nvSpPr>
              <p:spPr>
                <a:xfrm>
                  <a:off x="2209124" y="1973879"/>
                  <a:ext cx="638741" cy="638741"/>
                </a:xfrm>
                <a:prstGeom prst="ellipse">
                  <a:avLst/>
                </a:prstGeom>
                <a:solidFill>
                  <a:srgbClr val="F47A1F"/>
                </a:solidFill>
                <a:ln w="5715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200" b="0" i="0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00" name="Rectangle 7">
                  <a:extLst>
                    <a:ext uri="{FF2B5EF4-FFF2-40B4-BE49-F238E27FC236}">
                      <a16:creationId xmlns="" xmlns:a16="http://schemas.microsoft.com/office/drawing/2014/main" id="{4D5389C5-4FAD-42BC-9BDC-E7C15C33C33C}"/>
                    </a:ext>
                  </a:extLst>
                </p:cNvPr>
                <p:cNvSpPr/>
                <p:nvPr/>
              </p:nvSpPr>
              <p:spPr>
                <a:xfrm>
                  <a:off x="2281796" y="2057056"/>
                  <a:ext cx="493394" cy="546625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8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pt-BR" sz="3600" b="1" i="0" u="none" strike="noStrike" kern="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latin typeface="Calibri"/>
                      <a:ea typeface="+mn-ea"/>
                      <a:cs typeface="+mn-cs"/>
                    </a:rPr>
                    <a:t>2</a:t>
                  </a:r>
                </a:p>
              </p:txBody>
            </p:sp>
          </p:grpSp>
          <p:sp>
            <p:nvSpPr>
              <p:cNvPr id="103" name="Rectangle 7">
                <a:extLst>
                  <a:ext uri="{FF2B5EF4-FFF2-40B4-BE49-F238E27FC236}">
                    <a16:creationId xmlns="" xmlns:a16="http://schemas.microsoft.com/office/drawing/2014/main" id="{AF197F66-DE6E-4727-8B65-D1A0413EECD3}"/>
                  </a:ext>
                </a:extLst>
              </p:cNvPr>
              <p:cNvSpPr/>
              <p:nvPr/>
            </p:nvSpPr>
            <p:spPr>
              <a:xfrm>
                <a:off x="6014012" y="1937787"/>
                <a:ext cx="1289224" cy="43704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>
                  <a:lnSpc>
                    <a:spcPct val="80000"/>
                  </a:lnSpc>
                  <a:defRPr/>
                </a:pPr>
                <a:r>
                  <a:rPr lang="pt-BR" sz="1400" b="1" dirty="0"/>
                  <a:t>ABORDAGEM</a:t>
                </a:r>
              </a:p>
            </p:txBody>
          </p:sp>
          <p:grpSp>
            <p:nvGrpSpPr>
              <p:cNvPr id="104" name="Agrupar 103">
                <a:extLst>
                  <a:ext uri="{FF2B5EF4-FFF2-40B4-BE49-F238E27FC236}">
                    <a16:creationId xmlns="" xmlns:a16="http://schemas.microsoft.com/office/drawing/2014/main" id="{FCC051C1-F6DA-4ED7-A56B-7B603D22DDF0}"/>
                  </a:ext>
                </a:extLst>
              </p:cNvPr>
              <p:cNvGrpSpPr/>
              <p:nvPr/>
            </p:nvGrpSpPr>
            <p:grpSpPr>
              <a:xfrm>
                <a:off x="9297608" y="1159646"/>
                <a:ext cx="638741" cy="638741"/>
                <a:chOff x="1832608" y="1973879"/>
                <a:chExt cx="638741" cy="638741"/>
              </a:xfrm>
            </p:grpSpPr>
            <p:sp>
              <p:nvSpPr>
                <p:cNvPr id="105" name="Elipse 104">
                  <a:extLst>
                    <a:ext uri="{FF2B5EF4-FFF2-40B4-BE49-F238E27FC236}">
                      <a16:creationId xmlns="" xmlns:a16="http://schemas.microsoft.com/office/drawing/2014/main" id="{F6E93097-E48F-4FF0-8E8B-5BAEDD4E56FB}"/>
                    </a:ext>
                  </a:extLst>
                </p:cNvPr>
                <p:cNvSpPr/>
                <p:nvPr/>
              </p:nvSpPr>
              <p:spPr>
                <a:xfrm>
                  <a:off x="1832608" y="1973879"/>
                  <a:ext cx="638741" cy="638741"/>
                </a:xfrm>
                <a:prstGeom prst="ellipse">
                  <a:avLst/>
                </a:prstGeom>
                <a:solidFill>
                  <a:srgbClr val="F47A1F"/>
                </a:solidFill>
                <a:ln w="5715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200" b="0" i="0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09" name="Rectangle 7">
                  <a:extLst>
                    <a:ext uri="{FF2B5EF4-FFF2-40B4-BE49-F238E27FC236}">
                      <a16:creationId xmlns="" xmlns:a16="http://schemas.microsoft.com/office/drawing/2014/main" id="{8032E170-CA61-4F0E-8536-CD28051085D7}"/>
                    </a:ext>
                  </a:extLst>
                </p:cNvPr>
                <p:cNvSpPr/>
                <p:nvPr/>
              </p:nvSpPr>
              <p:spPr>
                <a:xfrm>
                  <a:off x="1905280" y="2057056"/>
                  <a:ext cx="493394" cy="546625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8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pt-BR" sz="3600" b="1" i="0" u="none" strike="noStrike" kern="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latin typeface="Calibri"/>
                      <a:ea typeface="+mn-ea"/>
                      <a:cs typeface="+mn-cs"/>
                    </a:rPr>
                    <a:t>2</a:t>
                  </a:r>
                </a:p>
              </p:txBody>
            </p:sp>
          </p:grpSp>
          <p:sp>
            <p:nvSpPr>
              <p:cNvPr id="110" name="Rectangle 7">
                <a:extLst>
                  <a:ext uri="{FF2B5EF4-FFF2-40B4-BE49-F238E27FC236}">
                    <a16:creationId xmlns="" xmlns:a16="http://schemas.microsoft.com/office/drawing/2014/main" id="{67D11D5C-D09D-4071-81E6-68BE2EF4EF12}"/>
                  </a:ext>
                </a:extLst>
              </p:cNvPr>
              <p:cNvSpPr/>
              <p:nvPr/>
            </p:nvSpPr>
            <p:spPr>
              <a:xfrm>
                <a:off x="9050431" y="1950479"/>
                <a:ext cx="1163398" cy="43704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R="0" lvl="0" indent="0" algn="ctr" fontAlgn="auto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pt-BR" sz="1400" b="1" dirty="0"/>
                  <a:t>CONVERSÃO</a:t>
                </a:r>
              </a:p>
            </p:txBody>
          </p:sp>
          <p:pic>
            <p:nvPicPr>
              <p:cNvPr id="111" name="Picture 2" descr="Resultado de imagem para bot icon png">
                <a:extLst>
                  <a:ext uri="{FF2B5EF4-FFF2-40B4-BE49-F238E27FC236}">
                    <a16:creationId xmlns="" xmlns:a16="http://schemas.microsoft.com/office/drawing/2014/main" id="{A6326921-3FC2-4D5A-A736-FE189FDD1F7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292638" y="2709201"/>
                <a:ext cx="787965" cy="713837"/>
              </a:xfrm>
              <a:prstGeom prst="rect">
                <a:avLst/>
              </a:prstGeom>
              <a:solidFill>
                <a:srgbClr val="FFFFFF"/>
              </a:solidFill>
              <a:ln w="28575">
                <a:noFill/>
              </a:ln>
            </p:spPr>
          </p:pic>
          <p:sp>
            <p:nvSpPr>
              <p:cNvPr id="112" name="Retângulo 111">
                <a:extLst>
                  <a:ext uri="{FF2B5EF4-FFF2-40B4-BE49-F238E27FC236}">
                    <a16:creationId xmlns="" xmlns:a16="http://schemas.microsoft.com/office/drawing/2014/main" id="{D4ECE2E0-09FB-4E3E-B39A-C6490FB397C6}"/>
                  </a:ext>
                </a:extLst>
              </p:cNvPr>
              <p:cNvSpPr/>
              <p:nvPr/>
            </p:nvSpPr>
            <p:spPr>
              <a:xfrm>
                <a:off x="3345792" y="2619353"/>
                <a:ext cx="1289225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pt-BR" sz="1400" b="1" dirty="0"/>
                  <a:t>Data Science</a:t>
                </a:r>
                <a:endParaRPr lang="pt-BR" sz="1400" dirty="0"/>
              </a:p>
            </p:txBody>
          </p:sp>
          <p:sp>
            <p:nvSpPr>
              <p:cNvPr id="113" name="Retângulo 112">
                <a:extLst>
                  <a:ext uri="{FF2B5EF4-FFF2-40B4-BE49-F238E27FC236}">
                    <a16:creationId xmlns="" xmlns:a16="http://schemas.microsoft.com/office/drawing/2014/main" id="{06F2979A-1648-45C2-AB75-9787D9ED4B28}"/>
                  </a:ext>
                </a:extLst>
              </p:cNvPr>
              <p:cNvSpPr/>
              <p:nvPr/>
            </p:nvSpPr>
            <p:spPr>
              <a:xfrm>
                <a:off x="5877972" y="3626360"/>
                <a:ext cx="1648985" cy="116955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pt-BR" sz="1400" b="1" dirty="0"/>
                  <a:t>PA DIGITAL</a:t>
                </a:r>
              </a:p>
              <a:p>
                <a:pPr algn="ctr"/>
                <a:endParaRPr lang="pt-BR" sz="1400" b="1" dirty="0"/>
              </a:p>
              <a:p>
                <a:pPr algn="ctr"/>
                <a:endParaRPr lang="pt-BR" sz="1400" b="1" dirty="0"/>
              </a:p>
              <a:p>
                <a:pPr algn="ctr"/>
                <a:r>
                  <a:rPr lang="pt-BR" sz="1400" b="1" dirty="0"/>
                  <a:t>REGUA DE ACIONAMENTO</a:t>
                </a:r>
              </a:p>
            </p:txBody>
          </p:sp>
          <p:sp>
            <p:nvSpPr>
              <p:cNvPr id="114" name="Retângulo 113">
                <a:extLst>
                  <a:ext uri="{FF2B5EF4-FFF2-40B4-BE49-F238E27FC236}">
                    <a16:creationId xmlns="" xmlns:a16="http://schemas.microsoft.com/office/drawing/2014/main" id="{F5D72791-2541-42FC-9F39-AAE33F2E8743}"/>
                  </a:ext>
                </a:extLst>
              </p:cNvPr>
              <p:cNvSpPr/>
              <p:nvPr/>
            </p:nvSpPr>
            <p:spPr>
              <a:xfrm>
                <a:off x="6429430" y="3742821"/>
                <a:ext cx="554960" cy="70788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pt-BR" sz="4000" b="1" dirty="0"/>
                  <a:t>+ </a:t>
                </a:r>
                <a:endParaRPr lang="pt-BR" sz="4000" dirty="0"/>
              </a:p>
            </p:txBody>
          </p:sp>
          <p:pic>
            <p:nvPicPr>
              <p:cNvPr id="115" name="Imagem 114">
                <a:extLst>
                  <a:ext uri="{FF2B5EF4-FFF2-40B4-BE49-F238E27FC236}">
                    <a16:creationId xmlns="" xmlns:a16="http://schemas.microsoft.com/office/drawing/2014/main" id="{269ADDE6-E2B6-445E-8B0F-50B6BE5E8A4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BEBA8EAE-BF5A-486C-A8C5-ECC9F3942E4B}">
                    <a14:imgProps xmlns:a14="http://schemas.microsoft.com/office/drawing/2010/main">
                      <a14:imgLayer r:embed="rId7">
                        <a14:imgEffect>
                          <a14:backgroundRemoval t="5778" b="95556" l="5778" r="97333">
                            <a14:foregroundMark x1="18222" y1="20889" x2="18222" y2="20889"/>
                            <a14:foregroundMark x1="47111" y1="5778" x2="47111" y2="5778"/>
                            <a14:foregroundMark x1="87556" y1="23556" x2="87556" y2="23556"/>
                            <a14:foregroundMark x1="91111" y1="45778" x2="91111" y2="45778"/>
                            <a14:foregroundMark x1="90667" y1="58222" x2="90667" y2="58222"/>
                            <a14:foregroundMark x1="91111" y1="65333" x2="91111" y2="65333"/>
                            <a14:foregroundMark x1="14222" y1="68444" x2="14222" y2="68444"/>
                            <a14:foregroundMark x1="12889" y1="81778" x2="12889" y2="81778"/>
                            <a14:foregroundMark x1="22667" y1="88000" x2="22667" y2="88000"/>
                            <a14:foregroundMark x1="7556" y1="92000" x2="7556" y2="92000"/>
                            <a14:foregroundMark x1="9333" y1="87556" x2="9333" y2="87556"/>
                            <a14:foregroundMark x1="5778" y1="95556" x2="5778" y2="95556"/>
                            <a14:foregroundMark x1="97333" y1="48444" x2="97333" y2="48444"/>
                            <a14:foregroundMark x1="5778" y1="46222" x2="5778" y2="46222"/>
                            <a14:foregroundMark x1="36444" y1="35556" x2="36444" y2="35556"/>
                          </a14:backgroundRemoval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9254726" y="2754290"/>
                <a:ext cx="676794" cy="627557"/>
              </a:xfrm>
              <a:prstGeom prst="rect">
                <a:avLst/>
              </a:prstGeom>
              <a:noFill/>
              <a:ln w="28575">
                <a:noFill/>
              </a:ln>
            </p:spPr>
          </p:pic>
          <p:sp>
            <p:nvSpPr>
              <p:cNvPr id="116" name="Retângulo 115">
                <a:extLst>
                  <a:ext uri="{FF2B5EF4-FFF2-40B4-BE49-F238E27FC236}">
                    <a16:creationId xmlns="" xmlns:a16="http://schemas.microsoft.com/office/drawing/2014/main" id="{12DE341C-D53A-4CF4-A9A5-CA7CA1BA5319}"/>
                  </a:ext>
                </a:extLst>
              </p:cNvPr>
              <p:cNvSpPr/>
              <p:nvPr/>
            </p:nvSpPr>
            <p:spPr>
              <a:xfrm>
                <a:off x="8750595" y="3610083"/>
                <a:ext cx="1751558" cy="13849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pt-BR" sz="1400" b="1" dirty="0"/>
                  <a:t>ACEITE DO LINK </a:t>
                </a:r>
              </a:p>
              <a:p>
                <a:pPr algn="ctr"/>
                <a:endParaRPr lang="pt-BR" sz="1400" b="1" dirty="0"/>
              </a:p>
              <a:p>
                <a:pPr algn="ctr"/>
                <a:endParaRPr lang="pt-BR" sz="1400" b="1" dirty="0"/>
              </a:p>
              <a:p>
                <a:pPr algn="ctr"/>
                <a:r>
                  <a:rPr lang="pt-BR" sz="1400" b="1" dirty="0"/>
                  <a:t>CONTINUIDADE CONTATO VIA WHATSAPP</a:t>
                </a:r>
              </a:p>
            </p:txBody>
          </p:sp>
          <p:sp>
            <p:nvSpPr>
              <p:cNvPr id="118" name="Retângulo 117">
                <a:extLst>
                  <a:ext uri="{FF2B5EF4-FFF2-40B4-BE49-F238E27FC236}">
                    <a16:creationId xmlns="" xmlns:a16="http://schemas.microsoft.com/office/drawing/2014/main" id="{280A5BC3-B435-4DAE-B986-45FC1AA5EA16}"/>
                  </a:ext>
                </a:extLst>
              </p:cNvPr>
              <p:cNvSpPr/>
              <p:nvPr/>
            </p:nvSpPr>
            <p:spPr>
              <a:xfrm>
                <a:off x="9381660" y="3742821"/>
                <a:ext cx="636713" cy="70788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pt-BR" sz="4000" b="1" dirty="0"/>
                  <a:t>+ </a:t>
                </a:r>
                <a:endParaRPr lang="pt-BR" sz="4000" dirty="0"/>
              </a:p>
            </p:txBody>
          </p:sp>
        </p:grpSp>
        <p:sp>
          <p:nvSpPr>
            <p:cNvPr id="121" name="Triângulo isósceles 120">
              <a:extLst>
                <a:ext uri="{FF2B5EF4-FFF2-40B4-BE49-F238E27FC236}">
                  <a16:creationId xmlns="" xmlns:a16="http://schemas.microsoft.com/office/drawing/2014/main" id="{62AEE765-5567-4760-B165-09A8095AE4E0}"/>
                </a:ext>
              </a:extLst>
            </p:cNvPr>
            <p:cNvSpPr/>
            <p:nvPr/>
          </p:nvSpPr>
          <p:spPr>
            <a:xfrm rot="10800000">
              <a:off x="778930" y="4309884"/>
              <a:ext cx="1042517" cy="388675"/>
            </a:xfrm>
            <a:prstGeom prst="triangle">
              <a:avLst>
                <a:gd name="adj" fmla="val 48710"/>
              </a:avLst>
            </a:prstGeom>
            <a:solidFill>
              <a:srgbClr val="293E6B"/>
            </a:solidFill>
            <a:ln>
              <a:solidFill>
                <a:srgbClr val="293E6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>
                <a:solidFill>
                  <a:schemeClr val="tx1"/>
                </a:solidFill>
              </a:endParaRPr>
            </a:p>
          </p:txBody>
        </p:sp>
        <p:sp>
          <p:nvSpPr>
            <p:cNvPr id="122" name="Triângulo isósceles 121">
              <a:extLst>
                <a:ext uri="{FF2B5EF4-FFF2-40B4-BE49-F238E27FC236}">
                  <a16:creationId xmlns="" xmlns:a16="http://schemas.microsoft.com/office/drawing/2014/main" id="{241C66A1-DE4D-4970-8E8E-37B889B930E4}"/>
                </a:ext>
              </a:extLst>
            </p:cNvPr>
            <p:cNvSpPr/>
            <p:nvPr/>
          </p:nvSpPr>
          <p:spPr>
            <a:xfrm rot="10800000">
              <a:off x="3431301" y="4302580"/>
              <a:ext cx="1042517" cy="388675"/>
            </a:xfrm>
            <a:prstGeom prst="triangle">
              <a:avLst>
                <a:gd name="adj" fmla="val 48710"/>
              </a:avLst>
            </a:prstGeom>
            <a:solidFill>
              <a:srgbClr val="293E6B"/>
            </a:solidFill>
            <a:ln>
              <a:solidFill>
                <a:srgbClr val="293E6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>
                <a:solidFill>
                  <a:schemeClr val="tx1"/>
                </a:solidFill>
              </a:endParaRPr>
            </a:p>
          </p:txBody>
        </p:sp>
      </p:grpSp>
      <p:sp>
        <p:nvSpPr>
          <p:cNvPr id="128" name="CaixaDeTexto 127">
            <a:extLst>
              <a:ext uri="{FF2B5EF4-FFF2-40B4-BE49-F238E27FC236}">
                <a16:creationId xmlns="" xmlns:a16="http://schemas.microsoft.com/office/drawing/2014/main" id="{6D4384C3-D730-4C8C-925E-2704BAECEFEF}"/>
              </a:ext>
            </a:extLst>
          </p:cNvPr>
          <p:cNvSpPr txBox="1"/>
          <p:nvPr/>
        </p:nvSpPr>
        <p:spPr>
          <a:xfrm>
            <a:off x="1026044" y="6159888"/>
            <a:ext cx="2346861" cy="477054"/>
          </a:xfrm>
          <a:prstGeom prst="rect">
            <a:avLst/>
          </a:prstGeom>
          <a:solidFill>
            <a:schemeClr val="accent1"/>
          </a:solidFill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5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Fase 1: </a:t>
            </a:r>
            <a:r>
              <a:rPr kumimoji="0" lang="pt-BR" sz="25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Ativação </a:t>
            </a:r>
          </a:p>
        </p:txBody>
      </p:sp>
      <p:cxnSp>
        <p:nvCxnSpPr>
          <p:cNvPr id="43" name="Conector reto 42">
            <a:extLst>
              <a:ext uri="{FF2B5EF4-FFF2-40B4-BE49-F238E27FC236}">
                <a16:creationId xmlns="" xmlns:a16="http://schemas.microsoft.com/office/drawing/2014/main" id="{C2D80600-B3C6-4F24-9FE2-583618A5B3F9}"/>
              </a:ext>
            </a:extLst>
          </p:cNvPr>
          <p:cNvCxnSpPr>
            <a:cxnSpLocks/>
          </p:cNvCxnSpPr>
          <p:nvPr/>
        </p:nvCxnSpPr>
        <p:spPr>
          <a:xfrm>
            <a:off x="427232" y="644291"/>
            <a:ext cx="11094208" cy="0"/>
          </a:xfrm>
          <a:prstGeom prst="line">
            <a:avLst/>
          </a:prstGeom>
          <a:solidFill>
            <a:srgbClr val="FF6600">
              <a:alpha val="42000"/>
            </a:srgbClr>
          </a:solidFill>
          <a:ln w="57150">
            <a:solidFill>
              <a:schemeClr val="accent5">
                <a:lumMod val="50000"/>
                <a:alpha val="42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</p:spTree>
    <p:extLst>
      <p:ext uri="{BB962C8B-B14F-4D97-AF65-F5344CB8AC3E}">
        <p14:creationId xmlns:p14="http://schemas.microsoft.com/office/powerpoint/2010/main" val="32156293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theme/theme1.xml><?xml version="1.0" encoding="utf-8"?>
<a:theme xmlns:a="http://schemas.openxmlformats.org/drawingml/2006/main" name="Fatia">
  <a:themeElements>
    <a:clrScheme name="Fatia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Fatia">
      <a:majorFont>
        <a:latin typeface="Century Gothic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Fatia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Slice" id="{0507925B-6AC9-4358-8E18-C330545D08F8}" vid="{13FEC7C6-62A9-40C4-99D2-581AACACAA2F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1606</TotalTime>
  <Words>1250</Words>
  <Application>Microsoft Office PowerPoint</Application>
  <PresentationFormat>Personalizar</PresentationFormat>
  <Paragraphs>390</Paragraphs>
  <Slides>26</Slides>
  <Notes>7</Notes>
  <HiddenSlides>5</HiddenSlides>
  <MMClips>0</MMClips>
  <ScaleCrop>false</ScaleCrop>
  <HeadingPairs>
    <vt:vector size="6" baseType="variant">
      <vt:variant>
        <vt:lpstr>Tema</vt:lpstr>
      </vt:variant>
      <vt:variant>
        <vt:i4>1</vt:i4>
      </vt:variant>
      <vt:variant>
        <vt:lpstr>Servidores OLE incorporados</vt:lpstr>
      </vt:variant>
      <vt:variant>
        <vt:i4>1</vt:i4>
      </vt:variant>
      <vt:variant>
        <vt:lpstr>Títulos de slides</vt:lpstr>
      </vt:variant>
      <vt:variant>
        <vt:i4>26</vt:i4>
      </vt:variant>
    </vt:vector>
  </HeadingPairs>
  <TitlesOfParts>
    <vt:vector size="28" baseType="lpstr">
      <vt:lpstr>Fatia</vt:lpstr>
      <vt:lpstr>Imagem de Bitmap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epexe</dc:creator>
  <cp:lastModifiedBy>Microsoft</cp:lastModifiedBy>
  <cp:revision>158</cp:revision>
  <dcterms:created xsi:type="dcterms:W3CDTF">2019-01-11T16:53:46Z</dcterms:created>
  <dcterms:modified xsi:type="dcterms:W3CDTF">2019-10-23T22:46:20Z</dcterms:modified>
</cp:coreProperties>
</file>